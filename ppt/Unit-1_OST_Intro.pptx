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1" d="100"/>
          <a:sy n="61" d="100"/>
        </p:scale>
        <p:origin x="8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0E88A-6B06-4001-92BC-3C854B84B9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3CC2778-D073-4C8E-A186-2E5A98F208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8044BA0-19D5-48B9-BF77-DDD843121142}"/>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5" name="Footer Placeholder 4">
            <a:extLst>
              <a:ext uri="{FF2B5EF4-FFF2-40B4-BE49-F238E27FC236}">
                <a16:creationId xmlns:a16="http://schemas.microsoft.com/office/drawing/2014/main" id="{E8FAA4B6-143F-41F7-9882-43DC19528D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09A3F-1DB2-41CC-B91B-002514A124AD}"/>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1819715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C5E3-4FB7-4EE0-ADDA-D065CE5B97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7802EA-5F59-477A-85C0-739173F908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AD2647-FA62-474E-9A0A-4912D63BB1EF}"/>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5" name="Footer Placeholder 4">
            <a:extLst>
              <a:ext uri="{FF2B5EF4-FFF2-40B4-BE49-F238E27FC236}">
                <a16:creationId xmlns:a16="http://schemas.microsoft.com/office/drawing/2014/main" id="{D7F0FFEA-615B-4262-AD33-610A372DB6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6D999A-160D-4E35-9303-C023C912980D}"/>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2747836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274E-A95C-474F-93C6-C9D2BD78C3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86253C-A57C-4442-AC6D-1D97DC2F93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6CFB6C-7BBE-4811-8189-CB2740394E0F}"/>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5" name="Footer Placeholder 4">
            <a:extLst>
              <a:ext uri="{FF2B5EF4-FFF2-40B4-BE49-F238E27FC236}">
                <a16:creationId xmlns:a16="http://schemas.microsoft.com/office/drawing/2014/main" id="{89054F77-98C2-4630-A502-6744F7ADD5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B968C9-EE68-48D1-8E69-16D3A950613E}"/>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3975869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1A0B-87EB-42BD-AD54-9568545233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5F9E9F-71C5-4426-AFC0-F58F0FB4B1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6E90C9-A413-4DD3-B80E-372ACF6224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90BAE0-B57B-49B1-8AF2-71F8D9CE1856}"/>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6" name="Footer Placeholder 5">
            <a:extLst>
              <a:ext uri="{FF2B5EF4-FFF2-40B4-BE49-F238E27FC236}">
                <a16:creationId xmlns:a16="http://schemas.microsoft.com/office/drawing/2014/main" id="{4A8E389D-FE46-407F-A7F8-5C9539ACA2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848A03B-DF65-447A-992C-3383752DCA62}"/>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3744924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5759-319C-4DEB-9F92-77CF8E4E57E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F82C2B-D9E3-4397-B074-CBEE942B8B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7A17E-1DCD-4633-ADA3-42302C03B6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301040F-F828-47CC-9AAC-8450E15095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65096C-B5C3-4EA6-9628-6C6CE3FAC1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EC64D6-A0B4-4DD5-BFE2-6EC1CEA85C34}"/>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8" name="Footer Placeholder 7">
            <a:extLst>
              <a:ext uri="{FF2B5EF4-FFF2-40B4-BE49-F238E27FC236}">
                <a16:creationId xmlns:a16="http://schemas.microsoft.com/office/drawing/2014/main" id="{D3088038-4DD2-4E48-A995-2FCC7E8A94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5AA3D9-FB89-47BD-951D-6D51C85965B5}"/>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1721217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D669-E9A9-41A4-8622-43A30A53A3B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61702E7-5587-440E-BDFD-DB710EE55552}"/>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4" name="Footer Placeholder 3">
            <a:extLst>
              <a:ext uri="{FF2B5EF4-FFF2-40B4-BE49-F238E27FC236}">
                <a16:creationId xmlns:a16="http://schemas.microsoft.com/office/drawing/2014/main" id="{3EE95F29-DCB3-4877-B22E-B4B99E1721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3258608-619F-48BD-9E34-4E4C778A699C}"/>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402858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E67DC-C8D4-4E18-967B-1030AF67CAEA}"/>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3" name="Footer Placeholder 2">
            <a:extLst>
              <a:ext uri="{FF2B5EF4-FFF2-40B4-BE49-F238E27FC236}">
                <a16:creationId xmlns:a16="http://schemas.microsoft.com/office/drawing/2014/main" id="{D1F327F0-0B14-4803-9171-4CC64FD695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1A49D5E-AA3E-4B9F-B05F-DF71E9F61FFC}"/>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138341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C2235-4A17-46D6-9160-DB9D170966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29CEDA-C79B-4A80-A653-33A348E9F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C2F5A7-8F5B-49FB-B300-CDC089384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A263DC-297D-40B6-9BB0-509B3C00AF35}"/>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6" name="Footer Placeholder 5">
            <a:extLst>
              <a:ext uri="{FF2B5EF4-FFF2-40B4-BE49-F238E27FC236}">
                <a16:creationId xmlns:a16="http://schemas.microsoft.com/office/drawing/2014/main" id="{D5FFC998-A22E-4B5B-9D95-6BBC21A0F1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0F9336-BB53-4801-BF3D-2957F77CAA94}"/>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24809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5AF20-81FB-4D0F-A617-E6A872DC72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D09F8B0-8872-41AE-8E3F-A57162785E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DA14A3-F3E6-4532-A9A0-D926901185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45C8A7-2BB7-47A0-AF3E-CE44045B622A}"/>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6" name="Footer Placeholder 5">
            <a:extLst>
              <a:ext uri="{FF2B5EF4-FFF2-40B4-BE49-F238E27FC236}">
                <a16:creationId xmlns:a16="http://schemas.microsoft.com/office/drawing/2014/main" id="{2A8D6629-EC8C-406B-9939-A12893C7CC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4C430D-643F-4417-9E05-73B6B5A9D838}"/>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4055856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B97C6-E0BF-4C54-A08A-C3791AFDFE0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B8FB00-8920-49E9-9349-C41A58F131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195039-F736-4006-A5CD-C862E95CCB35}"/>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5" name="Footer Placeholder 4">
            <a:extLst>
              <a:ext uri="{FF2B5EF4-FFF2-40B4-BE49-F238E27FC236}">
                <a16:creationId xmlns:a16="http://schemas.microsoft.com/office/drawing/2014/main" id="{B939B050-FDBC-4E70-894C-95AA06AB28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772F92-9B00-4C86-AFEF-E2672D72AF84}"/>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2089910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2C6720-C834-4C67-8262-99403BD3B7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A82861-C7A7-4B34-8291-32250EE3F6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AC6B0B-CF79-4CB3-A02B-8E69D0307AA2}"/>
              </a:ext>
            </a:extLst>
          </p:cNvPr>
          <p:cNvSpPr>
            <a:spLocks noGrp="1"/>
          </p:cNvSpPr>
          <p:nvPr>
            <p:ph type="dt" sz="half" idx="10"/>
          </p:nvPr>
        </p:nvSpPr>
        <p:spPr/>
        <p:txBody>
          <a:bodyPr/>
          <a:lstStyle/>
          <a:p>
            <a:fld id="{90A506A7-AB09-425D-9CBB-E61169B68395}" type="datetimeFigureOut">
              <a:rPr lang="en-IN" smtClean="0"/>
              <a:t>24-07-2024</a:t>
            </a:fld>
            <a:endParaRPr lang="en-IN"/>
          </a:p>
        </p:txBody>
      </p:sp>
      <p:sp>
        <p:nvSpPr>
          <p:cNvPr id="5" name="Footer Placeholder 4">
            <a:extLst>
              <a:ext uri="{FF2B5EF4-FFF2-40B4-BE49-F238E27FC236}">
                <a16:creationId xmlns:a16="http://schemas.microsoft.com/office/drawing/2014/main" id="{6B3159C5-16F5-4FAC-840A-FA318F03F7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7EA7AF-F77F-48C7-A8D3-0DBADFD673CB}"/>
              </a:ext>
            </a:extLst>
          </p:cNvPr>
          <p:cNvSpPr>
            <a:spLocks noGrp="1"/>
          </p:cNvSpPr>
          <p:nvPr>
            <p:ph type="sldNum" sz="quarter" idx="12"/>
          </p:nvPr>
        </p:nvSpPr>
        <p:spPr/>
        <p:txBody>
          <a:bodyPr/>
          <a:lstStyle/>
          <a:p>
            <a:fld id="{32C01146-C357-4F01-AB57-0AD8DC247EFC}" type="slidenum">
              <a:rPr lang="en-IN" smtClean="0"/>
              <a:t>‹#›</a:t>
            </a:fld>
            <a:endParaRPr lang="en-IN"/>
          </a:p>
        </p:txBody>
      </p:sp>
    </p:spTree>
    <p:extLst>
      <p:ext uri="{BB962C8B-B14F-4D97-AF65-F5344CB8AC3E}">
        <p14:creationId xmlns:p14="http://schemas.microsoft.com/office/powerpoint/2010/main" val="3627742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4F6CDD-BA64-4211-A0BE-054BFA477F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36EF61-3AD5-4FAE-9EAE-91818F8A59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AE27FA-27C9-4A60-82E9-4F99482813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A506A7-AB09-425D-9CBB-E61169B68395}" type="datetimeFigureOut">
              <a:rPr lang="en-IN" smtClean="0"/>
              <a:t>24-07-2024</a:t>
            </a:fld>
            <a:endParaRPr lang="en-IN"/>
          </a:p>
        </p:txBody>
      </p:sp>
      <p:sp>
        <p:nvSpPr>
          <p:cNvPr id="5" name="Footer Placeholder 4">
            <a:extLst>
              <a:ext uri="{FF2B5EF4-FFF2-40B4-BE49-F238E27FC236}">
                <a16:creationId xmlns:a16="http://schemas.microsoft.com/office/drawing/2014/main" id="{D3927850-B95F-4FC6-A5C6-EA546D2DA6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3EE6EA-FB15-410A-A0E4-8D8EC37DE3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C01146-C357-4F01-AB57-0AD8DC247EFC}" type="slidenum">
              <a:rPr lang="en-IN" smtClean="0"/>
              <a:t>‹#›</a:t>
            </a:fld>
            <a:endParaRPr lang="en-IN"/>
          </a:p>
        </p:txBody>
      </p:sp>
    </p:spTree>
    <p:extLst>
      <p:ext uri="{BB962C8B-B14F-4D97-AF65-F5344CB8AC3E}">
        <p14:creationId xmlns:p14="http://schemas.microsoft.com/office/powerpoint/2010/main" val="17561596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open-source-freeware-and-shareware-software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piceworks.com/tech/devops/articles/application-programming-interfac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43CC2-692C-4D14-BCA9-C0F66078578E}"/>
              </a:ext>
            </a:extLst>
          </p:cNvPr>
          <p:cNvSpPr>
            <a:spLocks noGrp="1"/>
          </p:cNvSpPr>
          <p:nvPr>
            <p:ph type="ctrTitle"/>
          </p:nvPr>
        </p:nvSpPr>
        <p:spPr/>
        <p:txBody>
          <a:bodyPr/>
          <a:lstStyle/>
          <a:p>
            <a:r>
              <a:rPr lang="en-IN" dirty="0"/>
              <a:t>OST</a:t>
            </a:r>
          </a:p>
        </p:txBody>
      </p:sp>
      <p:sp>
        <p:nvSpPr>
          <p:cNvPr id="3" name="Subtitle 2">
            <a:extLst>
              <a:ext uri="{FF2B5EF4-FFF2-40B4-BE49-F238E27FC236}">
                <a16:creationId xmlns:a16="http://schemas.microsoft.com/office/drawing/2014/main" id="{E7BBA73D-3D0B-463C-A327-5C4475F43FB1}"/>
              </a:ext>
            </a:extLst>
          </p:cNvPr>
          <p:cNvSpPr>
            <a:spLocks noGrp="1"/>
          </p:cNvSpPr>
          <p:nvPr>
            <p:ph type="subTitle" idx="1"/>
          </p:nvPr>
        </p:nvSpPr>
        <p:spPr/>
        <p:txBody>
          <a:bodyPr/>
          <a:lstStyle/>
          <a:p>
            <a:r>
              <a:rPr lang="en-IN" dirty="0"/>
              <a:t>Unit - 1</a:t>
            </a:r>
          </a:p>
        </p:txBody>
      </p:sp>
    </p:spTree>
    <p:extLst>
      <p:ext uri="{BB962C8B-B14F-4D97-AF65-F5344CB8AC3E}">
        <p14:creationId xmlns:p14="http://schemas.microsoft.com/office/powerpoint/2010/main" val="3108832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04490-F727-48A7-BF1F-95BFDF245CFC}"/>
              </a:ext>
            </a:extLst>
          </p:cNvPr>
          <p:cNvSpPr>
            <a:spLocks noGrp="1"/>
          </p:cNvSpPr>
          <p:nvPr>
            <p:ph type="title"/>
          </p:nvPr>
        </p:nvSpPr>
        <p:spPr/>
        <p:txBody>
          <a:bodyPr/>
          <a:lstStyle/>
          <a:p>
            <a:r>
              <a:rPr lang="en-IN" b="1" i="0" dirty="0">
                <a:solidFill>
                  <a:srgbClr val="273239"/>
                </a:solidFill>
                <a:effectLst/>
                <a:latin typeface="Nunito" pitchFamily="2" charset="0"/>
              </a:rPr>
              <a:t>What does Open-source mean?</a:t>
            </a:r>
            <a:endParaRPr lang="en-IN" dirty="0"/>
          </a:p>
        </p:txBody>
      </p:sp>
      <p:sp>
        <p:nvSpPr>
          <p:cNvPr id="3" name="Content Placeholder 2">
            <a:extLst>
              <a:ext uri="{FF2B5EF4-FFF2-40B4-BE49-F238E27FC236}">
                <a16:creationId xmlns:a16="http://schemas.microsoft.com/office/drawing/2014/main" id="{0921012F-48F2-43EA-95E6-88FC3289B6BB}"/>
              </a:ext>
            </a:extLst>
          </p:cNvPr>
          <p:cNvSpPr>
            <a:spLocks noGrp="1"/>
          </p:cNvSpPr>
          <p:nvPr>
            <p:ph idx="1"/>
          </p:nvPr>
        </p:nvSpPr>
        <p:spPr/>
        <p:txBody>
          <a:bodyPr>
            <a:normAutofit lnSpcReduction="10000"/>
          </a:bodyPr>
          <a:lstStyle/>
          <a:p>
            <a:r>
              <a:rPr lang="en-US" b="0" i="0" dirty="0">
                <a:solidFill>
                  <a:srgbClr val="273239"/>
                </a:solidFill>
                <a:effectLst/>
                <a:latin typeface="Nunito" pitchFamily="2" charset="0"/>
              </a:rPr>
              <a:t>The term </a:t>
            </a:r>
            <a:r>
              <a:rPr lang="en-US" b="1" i="0" dirty="0">
                <a:solidFill>
                  <a:srgbClr val="273239"/>
                </a:solidFill>
                <a:effectLst/>
                <a:latin typeface="Nunito" pitchFamily="2" charset="0"/>
              </a:rPr>
              <a:t>Open-source</a:t>
            </a:r>
            <a:r>
              <a:rPr lang="en-US" b="0" i="0" dirty="0">
                <a:solidFill>
                  <a:srgbClr val="273239"/>
                </a:solidFill>
                <a:effectLst/>
                <a:latin typeface="Nunito" pitchFamily="2" charset="0"/>
              </a:rPr>
              <a:t> is closely related to </a:t>
            </a:r>
            <a:r>
              <a:rPr lang="en-US" b="0" i="0" u="sng" dirty="0">
                <a:solidFill>
                  <a:srgbClr val="273239"/>
                </a:solidFill>
                <a:effectLst/>
                <a:latin typeface="Nunito" pitchFamily="2" charset="0"/>
                <a:hlinkClick r:id="rId2"/>
              </a:rPr>
              <a:t>Open-source software (OSS)</a:t>
            </a:r>
            <a:r>
              <a:rPr lang="en-US" b="0" i="0" dirty="0">
                <a:solidFill>
                  <a:srgbClr val="273239"/>
                </a:solidFill>
                <a:effectLst/>
                <a:latin typeface="Nunito" pitchFamily="2" charset="0"/>
              </a:rPr>
              <a:t>. </a:t>
            </a:r>
          </a:p>
          <a:p>
            <a:r>
              <a:rPr lang="en-US" b="0" i="0" dirty="0">
                <a:solidFill>
                  <a:srgbClr val="273239"/>
                </a:solidFill>
                <a:effectLst/>
                <a:latin typeface="Nunito" pitchFamily="2" charset="0"/>
              </a:rPr>
              <a:t>Open-source software is a type of computer software that is released under a license, but the source code is made available to all the users.</a:t>
            </a:r>
          </a:p>
          <a:p>
            <a:r>
              <a:rPr lang="en-US" b="0" i="0" dirty="0">
                <a:solidFill>
                  <a:srgbClr val="273239"/>
                </a:solidFill>
                <a:effectLst/>
                <a:latin typeface="Nunito" pitchFamily="2" charset="0"/>
              </a:rPr>
              <a:t> The copyright holders of such software allow the users to use it and do some valuable modifications in its source code to add some new features, to improve the existing features, and to fix bugs if there are any.</a:t>
            </a:r>
          </a:p>
          <a:p>
            <a:r>
              <a:rPr lang="en-US" b="0" i="0" dirty="0">
                <a:solidFill>
                  <a:srgbClr val="273239"/>
                </a:solidFill>
                <a:effectLst/>
                <a:latin typeface="Nunito" pitchFamily="2" charset="0"/>
              </a:rPr>
              <a:t> Because of this reason only Open-source software is mostly developed collaboratively.</a:t>
            </a:r>
            <a:endParaRPr lang="en-IN" dirty="0"/>
          </a:p>
        </p:txBody>
      </p:sp>
    </p:spTree>
    <p:extLst>
      <p:ext uri="{BB962C8B-B14F-4D97-AF65-F5344CB8AC3E}">
        <p14:creationId xmlns:p14="http://schemas.microsoft.com/office/powerpoint/2010/main" val="3680194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DCAF7-9419-4D8A-B244-EB3A62034D83}"/>
              </a:ext>
            </a:extLst>
          </p:cNvPr>
          <p:cNvSpPr>
            <a:spLocks noGrp="1"/>
          </p:cNvSpPr>
          <p:nvPr>
            <p:ph type="title"/>
          </p:nvPr>
        </p:nvSpPr>
        <p:spPr/>
        <p:txBody>
          <a:bodyPr/>
          <a:lstStyle/>
          <a:p>
            <a:r>
              <a:rPr lang="en-US" b="1" i="0" dirty="0">
                <a:solidFill>
                  <a:srgbClr val="273239"/>
                </a:solidFill>
                <a:effectLst/>
                <a:latin typeface="Nunito" pitchFamily="2" charset="0"/>
              </a:rPr>
              <a:t>Some famous examples of Open-source products are :</a:t>
            </a:r>
            <a:endParaRPr lang="en-IN" dirty="0"/>
          </a:p>
        </p:txBody>
      </p:sp>
      <p:sp>
        <p:nvSpPr>
          <p:cNvPr id="3" name="Content Placeholder 2">
            <a:extLst>
              <a:ext uri="{FF2B5EF4-FFF2-40B4-BE49-F238E27FC236}">
                <a16:creationId xmlns:a16="http://schemas.microsoft.com/office/drawing/2014/main" id="{3FCF7048-A14E-4DEC-B7C8-D616D4E8DBC4}"/>
              </a:ext>
            </a:extLst>
          </p:cNvPr>
          <p:cNvSpPr>
            <a:spLocks noGrp="1"/>
          </p:cNvSpPr>
          <p:nvPr>
            <p:ph idx="1"/>
          </p:nvPr>
        </p:nvSpPr>
        <p:spPr/>
        <p:txBody>
          <a:bodyPr/>
          <a:lstStyle/>
          <a:p>
            <a:pPr algn="l" fontAlgn="base">
              <a:buFont typeface="Arial" panose="020B0604020202020204" pitchFamily="34" charset="0"/>
              <a:buChar char="•"/>
            </a:pPr>
            <a:r>
              <a:rPr lang="en-US" b="1" i="0" dirty="0">
                <a:solidFill>
                  <a:srgbClr val="273239"/>
                </a:solidFill>
                <a:effectLst/>
                <a:latin typeface="Nunito" pitchFamily="2" charset="0"/>
              </a:rPr>
              <a:t>Operating systems –</a:t>
            </a:r>
            <a:br>
              <a:rPr lang="en-US" b="0" i="0" dirty="0">
                <a:solidFill>
                  <a:srgbClr val="273239"/>
                </a:solidFill>
                <a:effectLst/>
                <a:latin typeface="Nunito" pitchFamily="2" charset="0"/>
              </a:rPr>
            </a:br>
            <a:r>
              <a:rPr lang="en-US" b="0" i="0" dirty="0">
                <a:solidFill>
                  <a:srgbClr val="273239"/>
                </a:solidFill>
                <a:effectLst/>
                <a:latin typeface="Nunito" pitchFamily="2" charset="0"/>
              </a:rPr>
              <a:t>Android, Ubuntu, Linux</a:t>
            </a:r>
          </a:p>
          <a:p>
            <a:pPr algn="l" fontAlgn="base">
              <a:buFont typeface="Arial" panose="020B0604020202020204" pitchFamily="34" charset="0"/>
              <a:buChar char="•"/>
            </a:pPr>
            <a:r>
              <a:rPr lang="en-US" b="1" i="0" dirty="0">
                <a:solidFill>
                  <a:srgbClr val="273239"/>
                </a:solidFill>
                <a:effectLst/>
                <a:latin typeface="Nunito" pitchFamily="2" charset="0"/>
              </a:rPr>
              <a:t>Internet browsers –</a:t>
            </a:r>
            <a:br>
              <a:rPr lang="en-US" b="0" i="0" dirty="0">
                <a:solidFill>
                  <a:srgbClr val="273239"/>
                </a:solidFill>
                <a:effectLst/>
                <a:latin typeface="Nunito" pitchFamily="2" charset="0"/>
              </a:rPr>
            </a:br>
            <a:r>
              <a:rPr lang="en-US" b="0" i="0" dirty="0">
                <a:solidFill>
                  <a:srgbClr val="273239"/>
                </a:solidFill>
                <a:effectLst/>
                <a:latin typeface="Nunito" pitchFamily="2" charset="0"/>
              </a:rPr>
              <a:t>Mozilla Firefox, Chromium</a:t>
            </a:r>
          </a:p>
          <a:p>
            <a:pPr algn="l" fontAlgn="base">
              <a:buFont typeface="Arial" panose="020B0604020202020204" pitchFamily="34" charset="0"/>
              <a:buChar char="•"/>
            </a:pPr>
            <a:r>
              <a:rPr lang="en-US" b="1" i="0" dirty="0">
                <a:solidFill>
                  <a:srgbClr val="273239"/>
                </a:solidFill>
                <a:effectLst/>
                <a:latin typeface="Nunito" pitchFamily="2" charset="0"/>
              </a:rPr>
              <a:t>Integrated Development Environment (IDEs) –</a:t>
            </a:r>
            <a:br>
              <a:rPr lang="en-US" b="0" i="0" dirty="0">
                <a:solidFill>
                  <a:srgbClr val="273239"/>
                </a:solidFill>
                <a:effectLst/>
                <a:latin typeface="Nunito" pitchFamily="2" charset="0"/>
              </a:rPr>
            </a:br>
            <a:r>
              <a:rPr lang="en-US" b="0" i="0" dirty="0">
                <a:solidFill>
                  <a:srgbClr val="273239"/>
                </a:solidFill>
                <a:effectLst/>
                <a:latin typeface="Nunito" pitchFamily="2" charset="0"/>
              </a:rPr>
              <a:t>Vs code (Visual Studio Code), Android Studio, PyCharm, </a:t>
            </a:r>
            <a:r>
              <a:rPr lang="en-US" b="0" i="0" dirty="0" err="1">
                <a:solidFill>
                  <a:srgbClr val="273239"/>
                </a:solidFill>
                <a:effectLst/>
                <a:latin typeface="Nunito" pitchFamily="2" charset="0"/>
              </a:rPr>
              <a:t>Xcode</a:t>
            </a:r>
            <a:endParaRPr lang="en-US" b="0" i="0" dirty="0">
              <a:solidFill>
                <a:srgbClr val="273239"/>
              </a:solidFill>
              <a:effectLst/>
              <a:latin typeface="Nunito" pitchFamily="2" charset="0"/>
            </a:endParaRPr>
          </a:p>
          <a:p>
            <a:endParaRPr lang="en-IN" dirty="0"/>
          </a:p>
        </p:txBody>
      </p:sp>
    </p:spTree>
    <p:extLst>
      <p:ext uri="{BB962C8B-B14F-4D97-AF65-F5344CB8AC3E}">
        <p14:creationId xmlns:p14="http://schemas.microsoft.com/office/powerpoint/2010/main" val="2942122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BF454-94A0-4F11-8B32-88A2AC220080}"/>
              </a:ext>
            </a:extLst>
          </p:cNvPr>
          <p:cNvSpPr>
            <a:spLocks noGrp="1"/>
          </p:cNvSpPr>
          <p:nvPr>
            <p:ph type="title"/>
          </p:nvPr>
        </p:nvSpPr>
        <p:spPr/>
        <p:txBody>
          <a:bodyPr/>
          <a:lstStyle/>
          <a:p>
            <a:r>
              <a:rPr lang="en-IN" b="1" i="0" dirty="0">
                <a:solidFill>
                  <a:srgbClr val="273239"/>
                </a:solidFill>
                <a:effectLst/>
                <a:latin typeface="Nunito" pitchFamily="2" charset="0"/>
              </a:rPr>
              <a:t>Open-source community and Contributions :</a:t>
            </a:r>
            <a:endParaRPr lang="en-IN" dirty="0"/>
          </a:p>
        </p:txBody>
      </p:sp>
      <p:sp>
        <p:nvSpPr>
          <p:cNvPr id="3" name="Content Placeholder 2">
            <a:extLst>
              <a:ext uri="{FF2B5EF4-FFF2-40B4-BE49-F238E27FC236}">
                <a16:creationId xmlns:a16="http://schemas.microsoft.com/office/drawing/2014/main" id="{2C7E9479-8EBC-417D-9B12-D23994AC920A}"/>
              </a:ext>
            </a:extLst>
          </p:cNvPr>
          <p:cNvSpPr>
            <a:spLocks noGrp="1"/>
          </p:cNvSpPr>
          <p:nvPr>
            <p:ph idx="1"/>
          </p:nvPr>
        </p:nvSpPr>
        <p:spPr/>
        <p:txBody>
          <a:bodyPr>
            <a:normAutofit fontScale="55000" lnSpcReduction="20000"/>
          </a:bodyPr>
          <a:lstStyle/>
          <a:p>
            <a:pPr algn="just" fontAlgn="base"/>
            <a:r>
              <a:rPr lang="en-US" sz="4700" dirty="0">
                <a:effectLst/>
              </a:rPr>
              <a:t>The </a:t>
            </a:r>
            <a:r>
              <a:rPr lang="en-US" sz="4700" b="1" dirty="0">
                <a:effectLst/>
              </a:rPr>
              <a:t>open-source community</a:t>
            </a:r>
            <a:r>
              <a:rPr lang="en-US" sz="4700" dirty="0">
                <a:effectLst/>
              </a:rPr>
              <a:t> is a worldwide community of programmers and software developers who are continuously working on various open-source projects to make our lives better. This community is self-governing and self-organizing, there are no executives to make the decisions solely. This community plays a very crucial role in the sustainability of various open-source organizations.</a:t>
            </a:r>
          </a:p>
          <a:p>
            <a:pPr marL="0" indent="0" algn="just" fontAlgn="base">
              <a:buNone/>
            </a:pPr>
            <a:endParaRPr lang="en-US" sz="4700" dirty="0">
              <a:effectLst/>
            </a:endParaRPr>
          </a:p>
          <a:p>
            <a:pPr algn="just" fontAlgn="base"/>
            <a:r>
              <a:rPr lang="en-US" sz="4700" dirty="0">
                <a:effectLst/>
              </a:rPr>
              <a:t>The contributions made in any open-source project that improves its usability are called </a:t>
            </a:r>
            <a:r>
              <a:rPr lang="en-US" sz="4700" b="1" dirty="0">
                <a:effectLst/>
              </a:rPr>
              <a:t>open-source contributions</a:t>
            </a:r>
            <a:r>
              <a:rPr lang="en-US" sz="4700" dirty="0">
                <a:effectLst/>
              </a:rPr>
              <a:t>. These contributions can be of any form not only some software codes we can work on improving its </a:t>
            </a:r>
            <a:r>
              <a:rPr lang="en-US" sz="4700" b="1" dirty="0">
                <a:effectLst/>
              </a:rPr>
              <a:t>documentation</a:t>
            </a:r>
            <a:r>
              <a:rPr lang="en-US" sz="4700" dirty="0">
                <a:effectLst/>
              </a:rPr>
              <a:t>, improving its </a:t>
            </a:r>
            <a:r>
              <a:rPr lang="en-US" sz="4700" b="1" dirty="0">
                <a:effectLst/>
              </a:rPr>
              <a:t>UI/UX (user interface and design)</a:t>
            </a:r>
            <a:r>
              <a:rPr lang="en-US" sz="4700" dirty="0">
                <a:effectLst/>
              </a:rPr>
              <a:t>, organizing meetups, or finding new collaborators.</a:t>
            </a:r>
          </a:p>
          <a:p>
            <a:br>
              <a:rPr lang="en-US" dirty="0">
                <a:effectLst/>
              </a:rPr>
            </a:br>
            <a:endParaRPr lang="en-IN" dirty="0"/>
          </a:p>
        </p:txBody>
      </p:sp>
    </p:spTree>
    <p:extLst>
      <p:ext uri="{BB962C8B-B14F-4D97-AF65-F5344CB8AC3E}">
        <p14:creationId xmlns:p14="http://schemas.microsoft.com/office/powerpoint/2010/main" val="1404701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Benefits of Open-source contributions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lnSpcReduction="10000"/>
          </a:bodyPr>
          <a:lstStyle/>
          <a:p>
            <a:pPr algn="l" fontAlgn="base">
              <a:buFont typeface="Arial" panose="020B0604020202020204" pitchFamily="34" charset="0"/>
              <a:buChar char="•"/>
            </a:pPr>
            <a:r>
              <a:rPr lang="en-US" b="0" i="0" dirty="0">
                <a:solidFill>
                  <a:srgbClr val="273239"/>
                </a:solidFill>
                <a:effectLst/>
                <a:latin typeface="Nunito" pitchFamily="2" charset="0"/>
              </a:rPr>
              <a:t>We code for real-world open-source projects.</a:t>
            </a:r>
          </a:p>
          <a:p>
            <a:pPr algn="l" fontAlgn="base">
              <a:buFont typeface="Arial" panose="020B0604020202020204" pitchFamily="34" charset="0"/>
              <a:buChar char="•"/>
            </a:pPr>
            <a:r>
              <a:rPr lang="en-US" b="0" i="0" dirty="0">
                <a:solidFill>
                  <a:srgbClr val="273239"/>
                </a:solidFill>
                <a:effectLst/>
                <a:latin typeface="Nunito" pitchFamily="2" charset="0"/>
              </a:rPr>
              <a:t>It refines our existing knowledge of programming and also helps us to learn new skills.</a:t>
            </a:r>
          </a:p>
          <a:p>
            <a:pPr algn="l" fontAlgn="base">
              <a:buFont typeface="Arial" panose="020B0604020202020204" pitchFamily="34" charset="0"/>
              <a:buChar char="•"/>
            </a:pPr>
            <a:r>
              <a:rPr lang="en-US" b="0" i="0" dirty="0">
                <a:solidFill>
                  <a:srgbClr val="273239"/>
                </a:solidFill>
                <a:effectLst/>
                <a:latin typeface="Nunito" pitchFamily="2" charset="0"/>
              </a:rPr>
              <a:t>Many open-source projects offer mentorship programs to guide and help us through our first few contributions.</a:t>
            </a:r>
          </a:p>
          <a:p>
            <a:pPr algn="l" fontAlgn="base">
              <a:buFont typeface="Arial" panose="020B0604020202020204" pitchFamily="34" charset="0"/>
              <a:buChar char="•"/>
            </a:pPr>
            <a:r>
              <a:rPr lang="en-US" b="0" i="0" dirty="0">
                <a:solidFill>
                  <a:srgbClr val="273239"/>
                </a:solidFill>
                <a:effectLst/>
                <a:latin typeface="Nunito" pitchFamily="2" charset="0"/>
              </a:rPr>
              <a:t>We need not develop the whole thing from scratch, we just have to fork our favorite projects and start experimenting with them.</a:t>
            </a:r>
          </a:p>
          <a:p>
            <a:pPr algn="l" fontAlgn="base">
              <a:buFont typeface="Arial" panose="020B0604020202020204" pitchFamily="34" charset="0"/>
              <a:buChar char="•"/>
            </a:pPr>
            <a:r>
              <a:rPr lang="en-US" b="0" i="0" dirty="0">
                <a:solidFill>
                  <a:srgbClr val="273239"/>
                </a:solidFill>
                <a:effectLst/>
                <a:latin typeface="Nunito" pitchFamily="2" charset="0"/>
              </a:rPr>
              <a:t>After making any open-source contribution, we get immediate feedback regarding our developmental work.</a:t>
            </a:r>
          </a:p>
          <a:p>
            <a:endParaRPr lang="en-IN" dirty="0"/>
          </a:p>
        </p:txBody>
      </p:sp>
    </p:spTree>
    <p:extLst>
      <p:ext uri="{BB962C8B-B14F-4D97-AF65-F5344CB8AC3E}">
        <p14:creationId xmlns:p14="http://schemas.microsoft.com/office/powerpoint/2010/main" val="153441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Benefits of Open-source contributions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algn="l" fontAlgn="base">
              <a:buFont typeface="Arial" panose="020B0604020202020204" pitchFamily="34" charset="0"/>
              <a:buChar char="•"/>
            </a:pPr>
            <a:r>
              <a:rPr lang="en-US" b="0" i="0" dirty="0">
                <a:solidFill>
                  <a:srgbClr val="273239"/>
                </a:solidFill>
                <a:effectLst/>
                <a:latin typeface="Nunito" pitchFamily="2" charset="0"/>
              </a:rPr>
              <a:t>While doing open-source contributions, we interact with like-minded developers from all over the world and build connections along the way.</a:t>
            </a:r>
          </a:p>
          <a:p>
            <a:pPr algn="l" fontAlgn="base">
              <a:buFont typeface="Arial" panose="020B0604020202020204" pitchFamily="34" charset="0"/>
              <a:buChar char="•"/>
            </a:pPr>
            <a:r>
              <a:rPr lang="en-US" b="0" i="0" dirty="0">
                <a:solidFill>
                  <a:srgbClr val="273239"/>
                </a:solidFill>
                <a:effectLst/>
                <a:latin typeface="Nunito" pitchFamily="2" charset="0"/>
              </a:rPr>
              <a:t>As we get more closer to the open-source community, we get to know much more about our field of interest and other related fields.</a:t>
            </a:r>
          </a:p>
          <a:p>
            <a:pPr algn="l" fontAlgn="base">
              <a:buFont typeface="Arial" panose="020B0604020202020204" pitchFamily="34" charset="0"/>
              <a:buChar char="•"/>
            </a:pPr>
            <a:r>
              <a:rPr lang="en-US" b="0" i="0" dirty="0">
                <a:solidFill>
                  <a:srgbClr val="273239"/>
                </a:solidFill>
                <a:effectLst/>
                <a:latin typeface="Nunito" pitchFamily="2" charset="0"/>
              </a:rPr>
              <a:t>The most important aspect of open-source contributions is It may fetch us a job in our field of interest.</a:t>
            </a:r>
          </a:p>
          <a:p>
            <a:endParaRPr lang="en-IN" dirty="0"/>
          </a:p>
        </p:txBody>
      </p:sp>
    </p:spTree>
    <p:extLst>
      <p:ext uri="{BB962C8B-B14F-4D97-AF65-F5344CB8AC3E}">
        <p14:creationId xmlns:p14="http://schemas.microsoft.com/office/powerpoint/2010/main" val="415498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FAAA4E19-B0F1-45B1-B571-ED154D637F8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0110" y="477207"/>
            <a:ext cx="8849711" cy="6707298"/>
          </a:xfrm>
        </p:spPr>
      </p:pic>
    </p:spTree>
    <p:extLst>
      <p:ext uri="{BB962C8B-B14F-4D97-AF65-F5344CB8AC3E}">
        <p14:creationId xmlns:p14="http://schemas.microsoft.com/office/powerpoint/2010/main" val="1191712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Importance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lnSpcReduction="20000"/>
          </a:bodyPr>
          <a:lstStyle/>
          <a:p>
            <a:pPr algn="just" fontAlgn="base"/>
            <a:r>
              <a:rPr lang="en-US" b="1" i="0" dirty="0">
                <a:solidFill>
                  <a:srgbClr val="080809"/>
                </a:solidFill>
                <a:effectLst/>
                <a:latin typeface="Times New Roman" panose="02020603050405020304" pitchFamily="18" charset="0"/>
                <a:cs typeface="Times New Roman" panose="02020603050405020304" pitchFamily="18" charset="0"/>
              </a:rPr>
              <a:t>Access to source code :</a:t>
            </a:r>
          </a:p>
          <a:p>
            <a:pPr marL="0" indent="0" algn="just" fontAlgn="base">
              <a:buNone/>
            </a:pPr>
            <a:r>
              <a:rPr lang="en-US" sz="2000" b="0" i="0" dirty="0">
                <a:solidFill>
                  <a:srgbClr val="080809"/>
                </a:solidFill>
                <a:effectLst/>
                <a:latin typeface="Times New Roman" panose="02020603050405020304" pitchFamily="18" charset="0"/>
                <a:cs typeface="Times New Roman" panose="02020603050405020304" pitchFamily="18" charset="0"/>
              </a:rPr>
              <a:t>In open-source software, the source code is freely available for users to view, modify, and distribute. This allows developers to customize the software according to their needs and contribute improvements back to the community.</a:t>
            </a:r>
          </a:p>
          <a:p>
            <a:pPr marL="0" indent="0" algn="just" fontAlgn="base">
              <a:buNone/>
            </a:pPr>
            <a:endParaRPr lang="en-US" sz="2000" dirty="0">
              <a:solidFill>
                <a:srgbClr val="080809"/>
              </a:solidFill>
              <a:latin typeface="Times New Roman" panose="02020603050405020304" pitchFamily="18" charset="0"/>
              <a:cs typeface="Times New Roman" panose="02020603050405020304" pitchFamily="18" charset="0"/>
            </a:endParaRPr>
          </a:p>
          <a:p>
            <a:pPr algn="just" fontAlgn="base"/>
            <a:r>
              <a:rPr lang="en-US" b="1" dirty="0">
                <a:solidFill>
                  <a:srgbClr val="080809"/>
                </a:solidFill>
                <a:latin typeface="Times New Roman" panose="02020603050405020304" pitchFamily="18" charset="0"/>
                <a:cs typeface="Times New Roman" panose="02020603050405020304" pitchFamily="18" charset="0"/>
              </a:rPr>
              <a:t>Availability of features :</a:t>
            </a:r>
          </a:p>
          <a:p>
            <a:pPr marL="0" indent="0" algn="just" fontAlgn="base">
              <a:buNone/>
            </a:pPr>
            <a:r>
              <a:rPr lang="en-US" sz="2000" dirty="0">
                <a:solidFill>
                  <a:srgbClr val="080809"/>
                </a:solidFill>
                <a:latin typeface="Times New Roman" panose="02020603050405020304" pitchFamily="18" charset="0"/>
                <a:cs typeface="Times New Roman" panose="02020603050405020304" pitchFamily="18" charset="0"/>
              </a:rPr>
              <a:t>Closed-source software often has more features than open-source software because the companies or teams behind closed-source software have dedicated resources and expertise.</a:t>
            </a:r>
          </a:p>
          <a:p>
            <a:pPr marL="0" indent="0" algn="just" fontAlgn="base">
              <a:buNone/>
            </a:pPr>
            <a:endParaRPr lang="en-US" sz="2000" dirty="0">
              <a:solidFill>
                <a:srgbClr val="080809"/>
              </a:solidFill>
              <a:latin typeface="Times New Roman" panose="02020603050405020304" pitchFamily="18" charset="0"/>
              <a:cs typeface="Times New Roman" panose="02020603050405020304" pitchFamily="18" charset="0"/>
            </a:endParaRPr>
          </a:p>
          <a:p>
            <a:pPr algn="just" fontAlgn="base"/>
            <a:r>
              <a:rPr lang="en-US" b="1" dirty="0">
                <a:solidFill>
                  <a:srgbClr val="080809"/>
                </a:solidFill>
                <a:latin typeface="Times New Roman" panose="02020603050405020304" pitchFamily="18" charset="0"/>
                <a:cs typeface="Times New Roman" panose="02020603050405020304" pitchFamily="18" charset="0"/>
              </a:rPr>
              <a:t>Transparency of functionality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By providing transparency in functionality, open-source software promotes trust and allows users to understand how their applications work on a deeper level. They can examine every line of code and ensure no malicious activities occur within the software.</a:t>
            </a:r>
          </a:p>
          <a:p>
            <a:pPr marL="0" indent="0" algn="just" fontAlgn="base">
              <a:buNone/>
            </a:pPr>
            <a:r>
              <a:rPr lang="en-US" sz="2100" dirty="0">
                <a:solidFill>
                  <a:srgbClr val="080809"/>
                </a:solidFill>
                <a:latin typeface="PT Serif" panose="020B0604020202020204" pitchFamily="18" charset="0"/>
              </a:rPr>
              <a:t> </a:t>
            </a:r>
          </a:p>
          <a:p>
            <a:pPr marL="0" indent="0" fontAlgn="base">
              <a:buFont typeface="Arial" panose="020B0604020202020204" pitchFamily="34" charset="0"/>
              <a:buNone/>
            </a:pPr>
            <a:endParaRPr lang="en-US" b="1" dirty="0">
              <a:solidFill>
                <a:srgbClr val="080809"/>
              </a:solidFill>
              <a:latin typeface="Roboto" panose="02000000000000000000" pitchFamily="2" charset="0"/>
            </a:endParaRPr>
          </a:p>
          <a:p>
            <a:endParaRPr lang="en-IN" dirty="0"/>
          </a:p>
        </p:txBody>
      </p:sp>
    </p:spTree>
    <p:extLst>
      <p:ext uri="{BB962C8B-B14F-4D97-AF65-F5344CB8AC3E}">
        <p14:creationId xmlns:p14="http://schemas.microsoft.com/office/powerpoint/2010/main" val="2122531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Importance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lnSpcReduction="20000"/>
          </a:bodyPr>
          <a:lstStyle/>
          <a:p>
            <a:pPr algn="just" fontAlgn="base"/>
            <a:r>
              <a:rPr lang="en-IN" b="1" i="0" dirty="0">
                <a:solidFill>
                  <a:srgbClr val="080809"/>
                </a:solidFill>
                <a:effectLst/>
                <a:latin typeface="Roboto" panose="02000000000000000000" pitchFamily="2" charset="0"/>
              </a:rPr>
              <a:t> </a:t>
            </a:r>
            <a:r>
              <a:rPr lang="en-IN" b="1" i="0" dirty="0">
                <a:solidFill>
                  <a:srgbClr val="080809"/>
                </a:solidFill>
                <a:effectLst/>
                <a:latin typeface="Times New Roman" panose="02020603050405020304" pitchFamily="18" charset="0"/>
                <a:cs typeface="Times New Roman" panose="02020603050405020304" pitchFamily="18" charset="0"/>
              </a:rPr>
              <a:t>Availability of customer support</a:t>
            </a:r>
            <a:r>
              <a:rPr lang="en-US" b="1" i="0" dirty="0">
                <a:solidFill>
                  <a:srgbClr val="080809"/>
                </a:solidFill>
                <a:effectLst/>
                <a:latin typeface="Times New Roman" panose="02020603050405020304" pitchFamily="18" charset="0"/>
                <a:cs typeface="Times New Roman" panose="02020603050405020304" pitchFamily="18" charset="0"/>
              </a:rPr>
              <a:t>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In closed-source software, companies typically offer dedicated customer support services to assist users with any issues they may encounter. This includes access to a helpdesk or hotline where users can reach out for assistance.</a:t>
            </a:r>
          </a:p>
          <a:p>
            <a:pPr marL="0" indent="0" algn="just" fontAlgn="base">
              <a:buNone/>
            </a:pPr>
            <a:endParaRPr lang="en-US" sz="2100" dirty="0">
              <a:solidFill>
                <a:srgbClr val="080809"/>
              </a:solidFill>
              <a:latin typeface="Times New Roman" panose="02020603050405020304" pitchFamily="18" charset="0"/>
              <a:cs typeface="Times New Roman" panose="02020603050405020304" pitchFamily="18" charset="0"/>
            </a:endParaRPr>
          </a:p>
          <a:p>
            <a:pPr algn="just" fontAlgn="base"/>
            <a:r>
              <a:rPr lang="en-IN" b="1" i="0" dirty="0">
                <a:solidFill>
                  <a:srgbClr val="080809"/>
                </a:solidFill>
                <a:effectLst/>
                <a:latin typeface="Times New Roman" panose="02020603050405020304" pitchFamily="18" charset="0"/>
                <a:cs typeface="Times New Roman" panose="02020603050405020304" pitchFamily="18" charset="0"/>
              </a:rPr>
              <a:t>Licensing systems</a:t>
            </a:r>
            <a:r>
              <a:rPr lang="en-US" b="1" dirty="0">
                <a:solidFill>
                  <a:srgbClr val="080809"/>
                </a:solidFill>
                <a:latin typeface="Times New Roman" panose="02020603050405020304" pitchFamily="18" charset="0"/>
                <a:cs typeface="Times New Roman" panose="02020603050405020304" pitchFamily="18" charset="0"/>
              </a:rPr>
              <a:t>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Open source software is typically released under licenses that allow users to view, modify, and distribute the source code freely. The most common open-source license is the GNU General Public License (GPL), which ensures that any modifications or derivative works must also be made available as open-source.</a:t>
            </a:r>
          </a:p>
          <a:p>
            <a:pPr marL="0" indent="0" algn="just" fontAlgn="base">
              <a:buNone/>
            </a:pPr>
            <a:endParaRPr lang="en-US" sz="2100" dirty="0">
              <a:solidFill>
                <a:srgbClr val="080809"/>
              </a:solidFill>
              <a:latin typeface="Times New Roman" panose="02020603050405020304" pitchFamily="18" charset="0"/>
              <a:cs typeface="Times New Roman" panose="02020603050405020304" pitchFamily="18" charset="0"/>
            </a:endParaRPr>
          </a:p>
          <a:p>
            <a:pPr algn="just" fontAlgn="base"/>
            <a:r>
              <a:rPr lang="en-IN" b="1" i="0" dirty="0">
                <a:solidFill>
                  <a:srgbClr val="080809"/>
                </a:solidFill>
                <a:effectLst/>
                <a:latin typeface="Roboto" panose="02000000000000000000" pitchFamily="2" charset="0"/>
              </a:rPr>
              <a:t>Commercial usage and reusability restrictions </a:t>
            </a:r>
            <a:r>
              <a:rPr lang="en-US" b="1" dirty="0">
                <a:solidFill>
                  <a:srgbClr val="080809"/>
                </a:solidFill>
                <a:latin typeface="Times New Roman" panose="02020603050405020304" pitchFamily="18" charset="0"/>
                <a:cs typeface="Times New Roman" panose="02020603050405020304" pitchFamily="18" charset="0"/>
              </a:rPr>
              <a:t>:</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Open-source software allows for unrestricted commercial use, meaning individuals or businesses can use the software for profit without any limitations. Additionally, open source software typically has no restrictions on code reuse, allowing developers to modify and distribute the code as they see fit.</a:t>
            </a:r>
          </a:p>
          <a:p>
            <a:endParaRPr lang="en-IN" dirty="0"/>
          </a:p>
        </p:txBody>
      </p:sp>
    </p:spTree>
    <p:extLst>
      <p:ext uri="{BB962C8B-B14F-4D97-AF65-F5344CB8AC3E}">
        <p14:creationId xmlns:p14="http://schemas.microsoft.com/office/powerpoint/2010/main" val="23831232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Advantages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fontScale="92500" lnSpcReduction="10000"/>
          </a:bodyPr>
          <a:lstStyle/>
          <a:p>
            <a:pPr algn="l" fontAlgn="base"/>
            <a:r>
              <a:rPr lang="en-IN" b="1" i="0" dirty="0">
                <a:solidFill>
                  <a:srgbClr val="080809"/>
                </a:solidFill>
                <a:effectLst/>
                <a:latin typeface="Roboto" panose="02000000000000000000" pitchFamily="2" charset="0"/>
              </a:rPr>
              <a:t>Lower cost</a:t>
            </a:r>
            <a:r>
              <a:rPr lang="en-US" b="1" i="0" dirty="0">
                <a:solidFill>
                  <a:srgbClr val="080809"/>
                </a:solidFill>
                <a:effectLst/>
                <a:latin typeface="Times New Roman" panose="02020603050405020304" pitchFamily="18" charset="0"/>
                <a:cs typeface="Times New Roman" panose="02020603050405020304" pitchFamily="18" charset="0"/>
              </a:rPr>
              <a:t> :</a:t>
            </a:r>
          </a:p>
          <a:p>
            <a:pPr marL="0" indent="0" algn="just" fontAlgn="base">
              <a:buNone/>
            </a:pPr>
            <a:r>
              <a:rPr lang="en-US" sz="2000" dirty="0">
                <a:solidFill>
                  <a:srgbClr val="080809"/>
                </a:solidFill>
                <a:latin typeface="Times New Roman" panose="02020603050405020304" pitchFamily="18" charset="0"/>
                <a:cs typeface="Times New Roman" panose="02020603050405020304" pitchFamily="18" charset="0"/>
              </a:rPr>
              <a:t>Open-source projects are typically developed and maintained by a community of volunteers who share their skills and knowledge for free. This means anyone can access and use the software without paying hefty licensing fees or upfront costs.</a:t>
            </a:r>
          </a:p>
          <a:p>
            <a:pPr algn="just" fontAlgn="base"/>
            <a:r>
              <a:rPr lang="en-IN" b="1" i="0" dirty="0">
                <a:solidFill>
                  <a:srgbClr val="080809"/>
                </a:solidFill>
                <a:effectLst/>
                <a:latin typeface="Roboto" panose="02000000000000000000" pitchFamily="2" charset="0"/>
              </a:rPr>
              <a:t>Ease of integration </a:t>
            </a:r>
            <a:r>
              <a:rPr lang="en-US" b="1" dirty="0">
                <a:solidFill>
                  <a:srgbClr val="080809"/>
                </a:solidFill>
                <a:latin typeface="Times New Roman" panose="02020603050405020304" pitchFamily="18" charset="0"/>
                <a:cs typeface="Times New Roman" panose="02020603050405020304" pitchFamily="18" charset="0"/>
              </a:rPr>
              <a:t>:</a:t>
            </a:r>
          </a:p>
          <a:p>
            <a:pPr marL="0" indent="0" algn="just" fontAlgn="base">
              <a:buNone/>
            </a:pPr>
            <a:r>
              <a:rPr lang="en-US" sz="2000" dirty="0">
                <a:solidFill>
                  <a:srgbClr val="080809"/>
                </a:solidFill>
                <a:latin typeface="Times New Roman" panose="02020603050405020304" pitchFamily="18" charset="0"/>
                <a:cs typeface="Times New Roman" panose="02020603050405020304" pitchFamily="18" charset="0"/>
              </a:rPr>
              <a:t>Unlike closed-source software, which often requires proprietary</a:t>
            </a:r>
            <a:r>
              <a:rPr lang="en-US" sz="2000" dirty="0">
                <a:solidFill>
                  <a:srgbClr val="080809"/>
                </a:solidFill>
                <a:latin typeface="Times New Roman" panose="02020603050405020304" pitchFamily="18" charset="0"/>
                <a:cs typeface="Times New Roman" panose="02020603050405020304" pitchFamily="18" charset="0"/>
                <a:hlinkClick r:id="rId2" tooltip="application programming interfaces (APIs)">
                  <a:extLst>
                    <a:ext uri="{A12FA001-AC4F-418D-AE19-62706E023703}">
                      <ahyp:hlinkClr xmlns:ahyp="http://schemas.microsoft.com/office/drawing/2018/hyperlinkcolor" val="tx"/>
                    </a:ext>
                  </a:extLst>
                </a:hlinkClick>
              </a:rPr>
              <a:t> application programming interfaces (APIs)</a:t>
            </a:r>
            <a:r>
              <a:rPr lang="en-US" sz="2000" dirty="0">
                <a:solidFill>
                  <a:srgbClr val="080809"/>
                </a:solidFill>
                <a:latin typeface="Times New Roman" panose="02020603050405020304" pitchFamily="18" charset="0"/>
                <a:cs typeface="Times New Roman" panose="02020603050405020304" pitchFamily="18" charset="0"/>
              </a:rPr>
              <a:t> and protocols, open-source software promotes interoperability and compatibility with other systems. </a:t>
            </a:r>
          </a:p>
          <a:p>
            <a:pPr algn="just" fontAlgn="base">
              <a:lnSpc>
                <a:spcPct val="100000"/>
              </a:lnSpc>
            </a:pPr>
            <a:r>
              <a:rPr lang="en-IN" b="1" dirty="0">
                <a:solidFill>
                  <a:srgbClr val="080809"/>
                </a:solidFill>
                <a:latin typeface="Roboto" panose="02000000000000000000" pitchFamily="2" charset="0"/>
              </a:rPr>
              <a:t>No vendor lock-in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By providing transparency in functionality, open-source software promotes trust and allows users to understand how their applications work on a deeper level. They can examine every line of code and ensure no malicious activities occur within the software.</a:t>
            </a:r>
          </a:p>
          <a:p>
            <a:pPr marL="0" indent="0" algn="just" fontAlgn="base">
              <a:buNone/>
            </a:pPr>
            <a:r>
              <a:rPr lang="en-US" sz="2100" dirty="0">
                <a:solidFill>
                  <a:srgbClr val="080809"/>
                </a:solidFill>
                <a:latin typeface="PT Serif" panose="020B0604020202020204" pitchFamily="18" charset="0"/>
              </a:rPr>
              <a:t> </a:t>
            </a:r>
          </a:p>
          <a:p>
            <a:pPr marL="0" indent="0" fontAlgn="base">
              <a:buFont typeface="Arial" panose="020B0604020202020204" pitchFamily="34" charset="0"/>
              <a:buNone/>
            </a:pPr>
            <a:endParaRPr lang="en-US" b="1" dirty="0">
              <a:solidFill>
                <a:srgbClr val="080809"/>
              </a:solidFill>
              <a:latin typeface="Roboto" panose="02000000000000000000" pitchFamily="2" charset="0"/>
            </a:endParaRPr>
          </a:p>
          <a:p>
            <a:endParaRPr lang="en-IN" dirty="0"/>
          </a:p>
        </p:txBody>
      </p:sp>
    </p:spTree>
    <p:extLst>
      <p:ext uri="{BB962C8B-B14F-4D97-AF65-F5344CB8AC3E}">
        <p14:creationId xmlns:p14="http://schemas.microsoft.com/office/powerpoint/2010/main" val="2447962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ADA8-7478-455F-926B-9BBF98E3D1E9}"/>
              </a:ext>
            </a:extLst>
          </p:cNvPr>
          <p:cNvSpPr>
            <a:spLocks noGrp="1"/>
          </p:cNvSpPr>
          <p:nvPr>
            <p:ph type="title"/>
          </p:nvPr>
        </p:nvSpPr>
        <p:spPr/>
        <p:txBody>
          <a:bodyPr/>
          <a:lstStyle/>
          <a:p>
            <a:r>
              <a:rPr lang="en-IN" b="1" i="0" dirty="0">
                <a:solidFill>
                  <a:srgbClr val="273239"/>
                </a:solidFill>
                <a:effectLst/>
                <a:latin typeface="Nunito" pitchFamily="2" charset="0"/>
              </a:rPr>
              <a:t>Advantages of Open-source Technologies :</a:t>
            </a:r>
            <a:endParaRPr lang="en-IN" dirty="0"/>
          </a:p>
        </p:txBody>
      </p:sp>
      <p:sp>
        <p:nvSpPr>
          <p:cNvPr id="3" name="Content Placeholder 2">
            <a:extLst>
              <a:ext uri="{FF2B5EF4-FFF2-40B4-BE49-F238E27FC236}">
                <a16:creationId xmlns:a16="http://schemas.microsoft.com/office/drawing/2014/main" id="{3F9CFAF7-3DC6-4437-8ECB-7B22EE9E1FB6}"/>
              </a:ext>
            </a:extLst>
          </p:cNvPr>
          <p:cNvSpPr>
            <a:spLocks noGrp="1"/>
          </p:cNvSpPr>
          <p:nvPr>
            <p:ph idx="1"/>
          </p:nvPr>
        </p:nvSpPr>
        <p:spPr/>
        <p:txBody>
          <a:bodyPr>
            <a:normAutofit/>
          </a:bodyPr>
          <a:lstStyle/>
          <a:p>
            <a:pPr algn="l" fontAlgn="base"/>
            <a:r>
              <a:rPr lang="en-IN" b="1" i="0" dirty="0">
                <a:solidFill>
                  <a:srgbClr val="080809"/>
                </a:solidFill>
                <a:effectLst/>
                <a:latin typeface="Roboto" panose="02000000000000000000" pitchFamily="2" charset="0"/>
              </a:rPr>
              <a:t>Greater flexibility :</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Developers have access to the underlying source code, giving them the freedom to make any necessary changes or enhancements. </a:t>
            </a:r>
            <a:endParaRPr lang="en-IN" sz="2100" dirty="0">
              <a:solidFill>
                <a:srgbClr val="080809"/>
              </a:solidFill>
              <a:latin typeface="Times New Roman" panose="02020603050405020304" pitchFamily="18" charset="0"/>
              <a:cs typeface="Times New Roman" panose="02020603050405020304" pitchFamily="18" charset="0"/>
            </a:endParaRPr>
          </a:p>
          <a:p>
            <a:pPr algn="just" fontAlgn="base"/>
            <a:r>
              <a:rPr lang="en-IN" b="1" i="0" dirty="0">
                <a:solidFill>
                  <a:srgbClr val="080809"/>
                </a:solidFill>
                <a:effectLst/>
                <a:latin typeface="Roboto" panose="02000000000000000000" pitchFamily="2" charset="0"/>
              </a:rPr>
              <a:t>The power of community</a:t>
            </a:r>
            <a:r>
              <a:rPr lang="en-US" b="1" dirty="0">
                <a:solidFill>
                  <a:srgbClr val="080809"/>
                </a:solidFill>
                <a:latin typeface="Times New Roman" panose="02020603050405020304" pitchFamily="18" charset="0"/>
                <a:cs typeface="Times New Roman" panose="02020603050405020304" pitchFamily="18" charset="0"/>
              </a:rPr>
              <a:t>:</a:t>
            </a:r>
          </a:p>
          <a:p>
            <a:pPr marL="0" indent="0" algn="just" fontAlgn="base">
              <a:buNone/>
            </a:pPr>
            <a:r>
              <a:rPr lang="en-US" sz="2100" dirty="0">
                <a:solidFill>
                  <a:srgbClr val="080809"/>
                </a:solidFill>
                <a:latin typeface="Times New Roman" panose="02020603050405020304" pitchFamily="18" charset="0"/>
                <a:cs typeface="Times New Roman" panose="02020603050405020304" pitchFamily="18" charset="0"/>
              </a:rPr>
              <a:t>Unlike closed-source software, where development and improvement are limited to a specific team or company, open-source projects benefit from a global community of developers, users, and enthusiasts. </a:t>
            </a:r>
          </a:p>
          <a:p>
            <a:endParaRPr lang="en-IN" dirty="0"/>
          </a:p>
        </p:txBody>
      </p:sp>
    </p:spTree>
    <p:extLst>
      <p:ext uri="{BB962C8B-B14F-4D97-AF65-F5344CB8AC3E}">
        <p14:creationId xmlns:p14="http://schemas.microsoft.com/office/powerpoint/2010/main" val="1745995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896</Words>
  <Application>Microsoft Office PowerPoint</Application>
  <PresentationFormat>Widescreen</PresentationFormat>
  <Paragraphs>58</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Nunito</vt:lpstr>
      <vt:lpstr>PT Serif</vt:lpstr>
      <vt:lpstr>Roboto</vt:lpstr>
      <vt:lpstr>Times New Roman</vt:lpstr>
      <vt:lpstr>Office Theme</vt:lpstr>
      <vt:lpstr>OST</vt:lpstr>
      <vt:lpstr>What does Open-source mean?</vt:lpstr>
      <vt:lpstr>Some famous examples of Open-source products are :</vt:lpstr>
      <vt:lpstr>Open-source community and Contributions :</vt:lpstr>
      <vt:lpstr>Benefits of Open-source contributions :</vt:lpstr>
      <vt:lpstr>Benefits of Open-source contributions :</vt:lpstr>
      <vt:lpstr>PowerPoint Presentation</vt:lpstr>
      <vt:lpstr>Importance of Open-source Technologies :</vt:lpstr>
      <vt:lpstr>Importance of Open-source Technologies :</vt:lpstr>
      <vt:lpstr>Advantages of Open-source Technologies :</vt:lpstr>
      <vt:lpstr>Advantages of Open-source Technologies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OST</dc:title>
  <dc:creator>CSE-3</dc:creator>
  <cp:lastModifiedBy>CSE-3</cp:lastModifiedBy>
  <cp:revision>4</cp:revision>
  <dcterms:created xsi:type="dcterms:W3CDTF">2024-07-24T04:46:48Z</dcterms:created>
  <dcterms:modified xsi:type="dcterms:W3CDTF">2024-07-24T05:21:36Z</dcterms:modified>
</cp:coreProperties>
</file>