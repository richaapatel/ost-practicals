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8" r:id="rId5"/>
    <p:sldId id="270" r:id="rId6"/>
    <p:sldId id="272" r:id="rId7"/>
    <p:sldId id="271" r:id="rId8"/>
    <p:sldId id="275" r:id="rId9"/>
    <p:sldId id="258" r:id="rId10"/>
    <p:sldId id="273" r:id="rId11"/>
    <p:sldId id="274" r:id="rId12"/>
    <p:sldId id="277" r:id="rId13"/>
    <p:sldId id="278" r:id="rId14"/>
    <p:sldId id="279" r:id="rId15"/>
    <p:sldId id="280" r:id="rId16"/>
    <p:sldId id="281" r:id="rId17"/>
    <p:sldId id="282" r:id="rId18"/>
    <p:sldId id="283" r:id="rId19"/>
    <p:sldId id="284" r:id="rId20"/>
    <p:sldId id="285" r:id="rId21"/>
    <p:sldId id="276" r:id="rId22"/>
    <p:sldId id="288" r:id="rId23"/>
    <p:sldId id="263" r:id="rId24"/>
    <p:sldId id="264" r:id="rId25"/>
    <p:sldId id="265" r:id="rId26"/>
    <p:sldId id="266" r:id="rId27"/>
    <p:sldId id="267" r:id="rId28"/>
    <p:sldId id="287" r:id="rId29"/>
    <p:sldId id="289" r:id="rId30"/>
    <p:sldId id="25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11" r:id="rId47"/>
    <p:sldId id="312" r:id="rId48"/>
    <p:sldId id="313" r:id="rId49"/>
    <p:sldId id="314" r:id="rId50"/>
    <p:sldId id="315" r:id="rId51"/>
    <p:sldId id="316" r:id="rId52"/>
    <p:sldId id="305" r:id="rId53"/>
    <p:sldId id="306" r:id="rId54"/>
    <p:sldId id="260" r:id="rId55"/>
    <p:sldId id="318" r:id="rId56"/>
    <p:sldId id="317" r:id="rId57"/>
    <p:sldId id="261" r:id="rId58"/>
    <p:sldId id="307" r:id="rId59"/>
    <p:sldId id="308" r:id="rId60"/>
    <p:sldId id="309" r:id="rId61"/>
    <p:sldId id="310" r:id="rId62"/>
    <p:sldId id="321" r:id="rId63"/>
    <p:sldId id="320" r:id="rId64"/>
    <p:sldId id="322" r:id="rId65"/>
    <p:sldId id="323" r:id="rId66"/>
    <p:sldId id="324" r:id="rId67"/>
    <p:sldId id="325" r:id="rId68"/>
    <p:sldId id="327" r:id="rId69"/>
    <p:sldId id="326" r:id="rId70"/>
    <p:sldId id="328" r:id="rId71"/>
    <p:sldId id="332" r:id="rId72"/>
    <p:sldId id="333" r:id="rId73"/>
    <p:sldId id="329" r:id="rId74"/>
    <p:sldId id="334" r:id="rId75"/>
    <p:sldId id="330" r:id="rId76"/>
    <p:sldId id="335" r:id="rId77"/>
    <p:sldId id="331" r:id="rId78"/>
    <p:sldId id="341" r:id="rId79"/>
    <p:sldId id="342" r:id="rId80"/>
    <p:sldId id="336" r:id="rId81"/>
    <p:sldId id="337" r:id="rId82"/>
    <p:sldId id="338" r:id="rId83"/>
    <p:sldId id="339" r:id="rId84"/>
    <p:sldId id="340" r:id="rId85"/>
    <p:sldId id="343" r:id="rId86"/>
    <p:sldId id="344" r:id="rId87"/>
    <p:sldId id="345" r:id="rId88"/>
    <p:sldId id="346" r:id="rId89"/>
    <p:sldId id="347" r:id="rId90"/>
    <p:sldId id="348" r:id="rId91"/>
    <p:sldId id="349" r:id="rId92"/>
    <p:sldId id="350" r:id="rId93"/>
    <p:sldId id="351" r:id="rId94"/>
    <p:sldId id="352" r:id="rId95"/>
    <p:sldId id="358" r:id="rId96"/>
    <p:sldId id="353" r:id="rId97"/>
    <p:sldId id="359" r:id="rId98"/>
    <p:sldId id="360" r:id="rId99"/>
    <p:sldId id="361" r:id="rId100"/>
    <p:sldId id="354" r:id="rId101"/>
    <p:sldId id="355" r:id="rId102"/>
    <p:sldId id="356" r:id="rId103"/>
    <p:sldId id="364" r:id="rId104"/>
    <p:sldId id="357" r:id="rId105"/>
    <p:sldId id="362" r:id="rId106"/>
    <p:sldId id="363" r:id="rId107"/>
    <p:sldId id="365" r:id="rId108"/>
    <p:sldId id="366" r:id="rId109"/>
    <p:sldId id="370" r:id="rId110"/>
    <p:sldId id="369" r:id="rId111"/>
    <p:sldId id="376" r:id="rId112"/>
    <p:sldId id="377" r:id="rId113"/>
    <p:sldId id="379" r:id="rId114"/>
    <p:sldId id="378" r:id="rId115"/>
    <p:sldId id="380" r:id="rId116"/>
    <p:sldId id="381" r:id="rId117"/>
    <p:sldId id="382" r:id="rId118"/>
    <p:sldId id="371" r:id="rId119"/>
    <p:sldId id="383" r:id="rId120"/>
    <p:sldId id="384" r:id="rId121"/>
    <p:sldId id="372" r:id="rId122"/>
    <p:sldId id="373" r:id="rId123"/>
    <p:sldId id="385" r:id="rId124"/>
    <p:sldId id="374" r:id="rId125"/>
    <p:sldId id="386" r:id="rId126"/>
    <p:sldId id="387" r:id="rId127"/>
    <p:sldId id="375" r:id="rId128"/>
    <p:sldId id="389" r:id="rId129"/>
    <p:sldId id="390" r:id="rId130"/>
    <p:sldId id="388" r:id="rId131"/>
    <p:sldId id="392" r:id="rId132"/>
    <p:sldId id="391" r:id="rId133"/>
    <p:sldId id="393" r:id="rId134"/>
    <p:sldId id="394" r:id="rId135"/>
    <p:sldId id="319" r:id="rId1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3416" autoAdjust="0"/>
  </p:normalViewPr>
  <p:slideViewPr>
    <p:cSldViewPr snapToGrid="0">
      <p:cViewPr varScale="1">
        <p:scale>
          <a:sx n="58" d="100"/>
          <a:sy n="58" d="100"/>
        </p:scale>
        <p:origin x="76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0E88A-6B06-4001-92BC-3C854B84B9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CC2778-D073-4C8E-A186-2E5A98F20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044BA0-19D5-48B9-BF77-DDD843121142}"/>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E8FAA4B6-143F-41F7-9882-43DC19528D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09A3F-1DB2-41CC-B91B-002514A124AD}"/>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819715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C5E3-4FB7-4EE0-ADDA-D065CE5B97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7802EA-5F59-477A-85C0-739173F908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AD2647-FA62-474E-9A0A-4912D63BB1EF}"/>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D7F0FFEA-615B-4262-AD33-610A372DB6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6D999A-160D-4E35-9303-C023C912980D}"/>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74783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274E-A95C-474F-93C6-C9D2BD78C3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86253C-A57C-4442-AC6D-1D97DC2F93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6CFB6C-7BBE-4811-8189-CB2740394E0F}"/>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89054F77-98C2-4630-A502-6744F7ADD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B968C9-EE68-48D1-8E69-16D3A950613E}"/>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97586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1A0B-87EB-42BD-AD54-9568545233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F9E9F-71C5-4426-AFC0-F58F0FB4B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6E90C9-A413-4DD3-B80E-372ACF6224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90BAE0-B57B-49B1-8AF2-71F8D9CE1856}"/>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6" name="Footer Placeholder 5">
            <a:extLst>
              <a:ext uri="{FF2B5EF4-FFF2-40B4-BE49-F238E27FC236}">
                <a16:creationId xmlns:a16="http://schemas.microsoft.com/office/drawing/2014/main" id="{4A8E389D-FE46-407F-A7F8-5C9539ACA2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48A03B-DF65-447A-992C-3383752DCA62}"/>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74492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5759-319C-4DEB-9F92-77CF8E4E57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F82C2B-D9E3-4397-B074-CBEE942B8B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7A17E-1DCD-4633-ADA3-42302C03B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1040F-F828-47CC-9AAC-8450E15095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65096C-B5C3-4EA6-9628-6C6CE3FAC1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EC64D6-A0B4-4DD5-BFE2-6EC1CEA85C34}"/>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8" name="Footer Placeholder 7">
            <a:extLst>
              <a:ext uri="{FF2B5EF4-FFF2-40B4-BE49-F238E27FC236}">
                <a16:creationId xmlns:a16="http://schemas.microsoft.com/office/drawing/2014/main" id="{D3088038-4DD2-4E48-A995-2FCC7E8A94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5AA3D9-FB89-47BD-951D-6D51C85965B5}"/>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721217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D669-E9A9-41A4-8622-43A30A53A3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1702E7-5587-440E-BDFD-DB710EE55552}"/>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4" name="Footer Placeholder 3">
            <a:extLst>
              <a:ext uri="{FF2B5EF4-FFF2-40B4-BE49-F238E27FC236}">
                <a16:creationId xmlns:a16="http://schemas.microsoft.com/office/drawing/2014/main" id="{3EE95F29-DCB3-4877-B22E-B4B99E1721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258608-619F-48BD-9E34-4E4C778A699C}"/>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402858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E67DC-C8D4-4E18-967B-1030AF67CAEA}"/>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3" name="Footer Placeholder 2">
            <a:extLst>
              <a:ext uri="{FF2B5EF4-FFF2-40B4-BE49-F238E27FC236}">
                <a16:creationId xmlns:a16="http://schemas.microsoft.com/office/drawing/2014/main" id="{D1F327F0-0B14-4803-9171-4CC64FD695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A49D5E-AA3E-4B9F-B05F-DF71E9F61FFC}"/>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38341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2235-4A17-46D6-9160-DB9D170966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29CEDA-C79B-4A80-A653-33A348E9F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C2F5A7-8F5B-49FB-B300-CDC089384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A263DC-297D-40B6-9BB0-509B3C00AF35}"/>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6" name="Footer Placeholder 5">
            <a:extLst>
              <a:ext uri="{FF2B5EF4-FFF2-40B4-BE49-F238E27FC236}">
                <a16:creationId xmlns:a16="http://schemas.microsoft.com/office/drawing/2014/main" id="{D5FFC998-A22E-4B5B-9D95-6BBC21A0F1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0F9336-BB53-4801-BF3D-2957F77CAA94}"/>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4809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5AF20-81FB-4D0F-A617-E6A872DC7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09F8B0-8872-41AE-8E3F-A57162785E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DA14A3-F3E6-4532-A9A0-D92690118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45C8A7-2BB7-47A0-AF3E-CE44045B622A}"/>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6" name="Footer Placeholder 5">
            <a:extLst>
              <a:ext uri="{FF2B5EF4-FFF2-40B4-BE49-F238E27FC236}">
                <a16:creationId xmlns:a16="http://schemas.microsoft.com/office/drawing/2014/main" id="{2A8D6629-EC8C-406B-9939-A12893C7CC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4C430D-643F-4417-9E05-73B6B5A9D838}"/>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4055856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97C6-E0BF-4C54-A08A-C3791AFDFE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B8FB00-8920-49E9-9349-C41A58F131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95039-F736-4006-A5CD-C862E95CCB35}"/>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B939B050-FDBC-4E70-894C-95AA06AB28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772F92-9B00-4C86-AFEF-E2672D72AF84}"/>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08991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2C6720-C834-4C67-8262-99403BD3B7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A82861-C7A7-4B34-8291-32250EE3F6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AC6B0B-CF79-4CB3-A02B-8E69D0307AA2}"/>
              </a:ext>
            </a:extLst>
          </p:cNvPr>
          <p:cNvSpPr>
            <a:spLocks noGrp="1"/>
          </p:cNvSpPr>
          <p:nvPr>
            <p:ph type="dt" sz="half" idx="10"/>
          </p:nvPr>
        </p:nvSpPr>
        <p:spPr/>
        <p:txBody>
          <a:body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6B3159C5-16F5-4FAC-840A-FA318F03F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7EA7AF-F77F-48C7-A8D3-0DBADFD673CB}"/>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6277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4F6CDD-BA64-4211-A0BE-054BFA477F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36EF61-3AD5-4FAE-9EAE-91818F8A5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AE27FA-27C9-4A60-82E9-4F9948281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506A7-AB09-425D-9CBB-E61169B68395}" type="datetimeFigureOut">
              <a:rPr lang="en-IN" smtClean="0"/>
              <a:t>17-07-2026</a:t>
            </a:fld>
            <a:endParaRPr lang="en-IN"/>
          </a:p>
        </p:txBody>
      </p:sp>
      <p:sp>
        <p:nvSpPr>
          <p:cNvPr id="5" name="Footer Placeholder 4">
            <a:extLst>
              <a:ext uri="{FF2B5EF4-FFF2-40B4-BE49-F238E27FC236}">
                <a16:creationId xmlns:a16="http://schemas.microsoft.com/office/drawing/2014/main" id="{D3927850-B95F-4FC6-A5C6-EA546D2DA6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3EE6EA-FB15-410A-A0E4-8D8EC37DE3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01146-C357-4F01-AB57-0AD8DC247EFC}" type="slidenum">
              <a:rPr lang="en-IN" smtClean="0"/>
              <a:t>‹#›</a:t>
            </a:fld>
            <a:endParaRPr lang="en-IN"/>
          </a:p>
        </p:txBody>
      </p:sp>
    </p:spTree>
    <p:extLst>
      <p:ext uri="{BB962C8B-B14F-4D97-AF65-F5344CB8AC3E}">
        <p14:creationId xmlns:p14="http://schemas.microsoft.com/office/powerpoint/2010/main" val="1756159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open-source-freeware-and-shareware-softwar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spiceworks.com/tech/devops/articles/application-programming-interfac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43CC2-692C-4D14-BCA9-C0F66078578E}"/>
              </a:ext>
            </a:extLst>
          </p:cNvPr>
          <p:cNvSpPr>
            <a:spLocks noGrp="1"/>
          </p:cNvSpPr>
          <p:nvPr>
            <p:ph type="ctrTitle"/>
          </p:nvPr>
        </p:nvSpPr>
        <p:spPr/>
        <p:txBody>
          <a:bodyPr/>
          <a:lstStyle/>
          <a:p>
            <a:r>
              <a:rPr lang="en-IN" dirty="0"/>
              <a:t>Open Source Technologies</a:t>
            </a:r>
          </a:p>
        </p:txBody>
      </p:sp>
      <p:sp>
        <p:nvSpPr>
          <p:cNvPr id="3" name="Subtitle 2">
            <a:extLst>
              <a:ext uri="{FF2B5EF4-FFF2-40B4-BE49-F238E27FC236}">
                <a16:creationId xmlns:a16="http://schemas.microsoft.com/office/drawing/2014/main" id="{E7BBA73D-3D0B-463C-A327-5C4475F43FB1}"/>
              </a:ext>
            </a:extLst>
          </p:cNvPr>
          <p:cNvSpPr>
            <a:spLocks noGrp="1"/>
          </p:cNvSpPr>
          <p:nvPr>
            <p:ph type="subTitle" idx="1"/>
          </p:nvPr>
        </p:nvSpPr>
        <p:spPr/>
        <p:txBody>
          <a:bodyPr/>
          <a:lstStyle/>
          <a:p>
            <a:r>
              <a:rPr lang="en-IN" dirty="0"/>
              <a:t>Unit - 1</a:t>
            </a:r>
          </a:p>
        </p:txBody>
      </p:sp>
    </p:spTree>
    <p:extLst>
      <p:ext uri="{BB962C8B-B14F-4D97-AF65-F5344CB8AC3E}">
        <p14:creationId xmlns:p14="http://schemas.microsoft.com/office/powerpoint/2010/main" val="310883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IN" b="1" i="0" dirty="0">
                <a:solidFill>
                  <a:srgbClr val="273239"/>
                </a:solidFill>
                <a:effectLst/>
                <a:latin typeface="Nunito" pitchFamily="2" charset="0"/>
              </a:rPr>
              <a:t>What does Open-source mean?</a:t>
            </a:r>
            <a:endParaRPr lang="en-IN"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algn="just"/>
            <a:r>
              <a:rPr lang="en-US" sz="3200" dirty="0"/>
              <a:t>Software is an essential part of every computer system. </a:t>
            </a:r>
          </a:p>
          <a:p>
            <a:pPr algn="just"/>
            <a:r>
              <a:rPr lang="en-US" sz="3200" dirty="0"/>
              <a:t>Most software is distributed in two forms:</a:t>
            </a:r>
          </a:p>
          <a:p>
            <a:pPr lvl="1" algn="just"/>
            <a:r>
              <a:rPr lang="en-US" sz="2800" b="1" dirty="0"/>
              <a:t>Proprietary (Closed Source) Software</a:t>
            </a:r>
            <a:r>
              <a:rPr lang="en-US" sz="2800" dirty="0"/>
              <a:t> </a:t>
            </a:r>
          </a:p>
          <a:p>
            <a:pPr lvl="1" algn="just"/>
            <a:r>
              <a:rPr lang="en-US" sz="2800" b="1" dirty="0"/>
              <a:t>Open Source Software (OSS)</a:t>
            </a:r>
            <a:endParaRPr lang="en-US" sz="2800" dirty="0"/>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368019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IN" b="1" i="0" dirty="0">
                <a:solidFill>
                  <a:srgbClr val="273239"/>
                </a:solidFill>
                <a:effectLst/>
                <a:latin typeface="Nunito" pitchFamily="2" charset="0"/>
              </a:rPr>
              <a:t>What does Open-source mean?</a:t>
            </a:r>
            <a:endParaRPr lang="en-IN"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algn="just"/>
            <a:r>
              <a:rPr lang="en-US" sz="3200" dirty="0"/>
              <a:t>The major difference between them lies in the availability of the </a:t>
            </a:r>
            <a:r>
              <a:rPr lang="en-US" sz="3200" b="1" dirty="0"/>
              <a:t>source code</a:t>
            </a:r>
            <a:r>
              <a:rPr lang="en-US" sz="3200" dirty="0"/>
              <a:t>.</a:t>
            </a:r>
          </a:p>
          <a:p>
            <a:pPr lvl="1" algn="just"/>
            <a:r>
              <a:rPr lang="en-US" sz="2800" dirty="0"/>
              <a:t>In proprietary software, the source code is hidden from users. </a:t>
            </a:r>
          </a:p>
          <a:p>
            <a:pPr lvl="1" algn="just"/>
            <a:r>
              <a:rPr lang="en-US" sz="2800" dirty="0"/>
              <a:t>In open source software, the source code is publicly available and can be modified, studied, and redistributed under specific licenses.</a:t>
            </a:r>
          </a:p>
          <a:p>
            <a:pPr algn="just"/>
            <a:endParaRPr lang="en-US" sz="3200" b="0" i="0" dirty="0">
              <a:solidFill>
                <a:srgbClr val="273239"/>
              </a:solidFill>
              <a:effectLst/>
              <a:latin typeface="Nunito" pitchFamily="2" charset="0"/>
            </a:endParaRPr>
          </a:p>
        </p:txBody>
      </p:sp>
    </p:spTree>
    <p:extLst>
      <p:ext uri="{BB962C8B-B14F-4D97-AF65-F5344CB8AC3E}">
        <p14:creationId xmlns:p14="http://schemas.microsoft.com/office/powerpoint/2010/main" val="1317782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IN" b="1" i="0" dirty="0">
                <a:solidFill>
                  <a:srgbClr val="273239"/>
                </a:solidFill>
                <a:effectLst/>
                <a:latin typeface="Nunito" pitchFamily="2" charset="0"/>
              </a:rPr>
              <a:t>What does Open-source mean?</a:t>
            </a:r>
            <a:endParaRPr lang="en-IN"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fontScale="92500" lnSpcReduction="10000"/>
          </a:bodyPr>
          <a:lstStyle/>
          <a:p>
            <a:pPr algn="just"/>
            <a:r>
              <a:rPr lang="en-US" b="0" i="0" dirty="0">
                <a:solidFill>
                  <a:srgbClr val="273239"/>
                </a:solidFill>
                <a:effectLst/>
                <a:latin typeface="Nunito" pitchFamily="2" charset="0"/>
              </a:rPr>
              <a:t>The term </a:t>
            </a:r>
            <a:r>
              <a:rPr lang="en-US" b="1" i="0" dirty="0">
                <a:solidFill>
                  <a:srgbClr val="273239"/>
                </a:solidFill>
                <a:effectLst/>
                <a:latin typeface="Nunito" pitchFamily="2" charset="0"/>
              </a:rPr>
              <a:t>Open-source</a:t>
            </a:r>
            <a:r>
              <a:rPr lang="en-US" b="0" i="0" dirty="0">
                <a:solidFill>
                  <a:srgbClr val="273239"/>
                </a:solidFill>
                <a:effectLst/>
                <a:latin typeface="Nunito" pitchFamily="2" charset="0"/>
              </a:rPr>
              <a:t> is closely related to </a:t>
            </a:r>
            <a:r>
              <a:rPr lang="en-US" b="0" i="0" u="sng" dirty="0">
                <a:solidFill>
                  <a:srgbClr val="273239"/>
                </a:solidFill>
                <a:effectLst/>
                <a:latin typeface="Nunito" pitchFamily="2" charset="0"/>
                <a:hlinkClick r:id="rId2"/>
              </a:rPr>
              <a:t>Open-source software (OSS)</a:t>
            </a:r>
            <a:r>
              <a:rPr lang="en-US" b="0" i="0" dirty="0">
                <a:solidFill>
                  <a:srgbClr val="273239"/>
                </a:solidFill>
                <a:effectLst/>
                <a:latin typeface="Nunito" pitchFamily="2" charset="0"/>
              </a:rPr>
              <a:t>. </a:t>
            </a:r>
          </a:p>
          <a:p>
            <a:pPr algn="just"/>
            <a:r>
              <a:rPr lang="en-US" b="0" i="0" dirty="0">
                <a:solidFill>
                  <a:srgbClr val="273239"/>
                </a:solidFill>
                <a:effectLst/>
                <a:latin typeface="Nunito" pitchFamily="2" charset="0"/>
              </a:rPr>
              <a:t>Open-source software is a type of computer software that is released under a </a:t>
            </a:r>
            <a:r>
              <a:rPr lang="en-US" b="1" i="0" dirty="0">
                <a:solidFill>
                  <a:srgbClr val="273239"/>
                </a:solidFill>
                <a:effectLst/>
                <a:latin typeface="Nunito" pitchFamily="2" charset="0"/>
              </a:rPr>
              <a:t>license</a:t>
            </a:r>
            <a:r>
              <a:rPr lang="en-US" b="0" i="0" dirty="0">
                <a:solidFill>
                  <a:srgbClr val="273239"/>
                </a:solidFill>
                <a:effectLst/>
                <a:latin typeface="Nunito" pitchFamily="2" charset="0"/>
              </a:rPr>
              <a:t>, but the source code is made available to all the users.</a:t>
            </a:r>
          </a:p>
          <a:p>
            <a:pPr algn="just"/>
            <a:r>
              <a:rPr lang="en-US" b="0" i="0" dirty="0">
                <a:solidFill>
                  <a:srgbClr val="273239"/>
                </a:solidFill>
                <a:effectLst/>
                <a:latin typeface="Nunito" pitchFamily="2" charset="0"/>
              </a:rPr>
              <a:t> The copyright holders of such software allow the users to use it and do some valuable modifications in its source code to add some new features, to improve the existing features, and to fix bugs if there are any.</a:t>
            </a:r>
          </a:p>
          <a:p>
            <a:pPr algn="just"/>
            <a:r>
              <a:rPr lang="en-US" b="0" i="0" dirty="0">
                <a:solidFill>
                  <a:srgbClr val="273239"/>
                </a:solidFill>
                <a:effectLst/>
                <a:latin typeface="Nunito" pitchFamily="2" charset="0"/>
              </a:rPr>
              <a:t> Because of this reason only Open-source software is mostly developed collaboratively.</a:t>
            </a:r>
            <a:endParaRPr lang="en-IN" dirty="0"/>
          </a:p>
        </p:txBody>
      </p:sp>
    </p:spTree>
    <p:extLst>
      <p:ext uri="{BB962C8B-B14F-4D97-AF65-F5344CB8AC3E}">
        <p14:creationId xmlns:p14="http://schemas.microsoft.com/office/powerpoint/2010/main" val="4244519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IN" b="1" dirty="0"/>
              <a:t>What is Source Code?</a:t>
            </a:r>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algn="just"/>
            <a:r>
              <a:rPr lang="en-US" dirty="0"/>
              <a:t>Source code is the human-readable program written by software developers using programming languages such as:</a:t>
            </a:r>
          </a:p>
          <a:p>
            <a:pPr lvl="1" algn="just"/>
            <a:r>
              <a:rPr lang="en-US" dirty="0"/>
              <a:t>C </a:t>
            </a:r>
          </a:p>
          <a:p>
            <a:pPr lvl="1" algn="just"/>
            <a:r>
              <a:rPr lang="en-US" dirty="0"/>
              <a:t>C++ </a:t>
            </a:r>
          </a:p>
          <a:p>
            <a:pPr lvl="1" algn="just"/>
            <a:r>
              <a:rPr lang="en-US" dirty="0"/>
              <a:t>Java </a:t>
            </a:r>
          </a:p>
          <a:p>
            <a:pPr lvl="1" algn="just"/>
            <a:r>
              <a:rPr lang="en-US" dirty="0"/>
              <a:t>Python </a:t>
            </a:r>
          </a:p>
          <a:p>
            <a:pPr lvl="1" algn="just"/>
            <a:r>
              <a:rPr lang="en-US" dirty="0"/>
              <a:t>JavaScript </a:t>
            </a:r>
          </a:p>
          <a:p>
            <a:pPr algn="just"/>
            <a:r>
              <a:rPr lang="en-US" dirty="0"/>
              <a:t>The source code is compiled or interpreted into executable programs that computers can understand.</a:t>
            </a:r>
          </a:p>
          <a:p>
            <a:pPr algn="just"/>
            <a:endParaRPr lang="en-IN" dirty="0"/>
          </a:p>
        </p:txBody>
      </p:sp>
    </p:spTree>
    <p:extLst>
      <p:ext uri="{BB962C8B-B14F-4D97-AF65-F5344CB8AC3E}">
        <p14:creationId xmlns:p14="http://schemas.microsoft.com/office/powerpoint/2010/main" val="431505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Definition of Open Source Software (OSS)</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690688"/>
            <a:ext cx="10515600" cy="5040617"/>
          </a:xfrm>
        </p:spPr>
        <p:txBody>
          <a:bodyPr>
            <a:normAutofit lnSpcReduction="10000"/>
          </a:bodyPr>
          <a:lstStyle/>
          <a:p>
            <a:pPr marL="0" indent="0" algn="just">
              <a:buNone/>
            </a:pPr>
            <a:r>
              <a:rPr lang="en-US" b="0" i="0" dirty="0">
                <a:solidFill>
                  <a:srgbClr val="273239"/>
                </a:solidFill>
                <a:effectLst/>
                <a:latin typeface="Nunito" pitchFamily="2" charset="0"/>
              </a:rPr>
              <a:t>Definition: </a:t>
            </a:r>
          </a:p>
          <a:p>
            <a:pPr algn="just"/>
            <a:r>
              <a:rPr lang="en-US" b="0" i="0" dirty="0">
                <a:solidFill>
                  <a:srgbClr val="273239"/>
                </a:solidFill>
                <a:effectLst/>
                <a:latin typeface="Nunito" pitchFamily="2" charset="0"/>
              </a:rPr>
              <a:t>Open Source Software (OSS) is software whose source code is made publicly available so that anyone can: </a:t>
            </a:r>
          </a:p>
          <a:p>
            <a:pPr lvl="1" algn="just"/>
            <a:r>
              <a:rPr lang="en-US" b="0" i="0" dirty="0">
                <a:solidFill>
                  <a:srgbClr val="273239"/>
                </a:solidFill>
                <a:effectLst/>
                <a:latin typeface="Nunito" pitchFamily="2" charset="0"/>
              </a:rPr>
              <a:t>View the source code</a:t>
            </a:r>
          </a:p>
          <a:p>
            <a:pPr lvl="1" algn="just"/>
            <a:r>
              <a:rPr lang="en-US" b="0" i="0" dirty="0">
                <a:solidFill>
                  <a:srgbClr val="273239"/>
                </a:solidFill>
                <a:effectLst/>
                <a:latin typeface="Nunito" pitchFamily="2" charset="0"/>
              </a:rPr>
              <a:t>Study how it works</a:t>
            </a:r>
          </a:p>
          <a:p>
            <a:pPr lvl="1" algn="just"/>
            <a:r>
              <a:rPr lang="en-US" b="0" i="0" dirty="0">
                <a:solidFill>
                  <a:srgbClr val="273239"/>
                </a:solidFill>
                <a:effectLst/>
                <a:latin typeface="Nunito" pitchFamily="2" charset="0"/>
              </a:rPr>
              <a:t>Modify it</a:t>
            </a:r>
          </a:p>
          <a:p>
            <a:pPr lvl="1" algn="just"/>
            <a:r>
              <a:rPr lang="en-US" b="0" i="0" dirty="0">
                <a:solidFill>
                  <a:srgbClr val="273239"/>
                </a:solidFill>
                <a:effectLst/>
                <a:latin typeface="Nunito" pitchFamily="2" charset="0"/>
              </a:rPr>
              <a:t>Improve it</a:t>
            </a:r>
          </a:p>
          <a:p>
            <a:pPr lvl="1" algn="just"/>
            <a:r>
              <a:rPr lang="en-US" b="0" i="0" dirty="0">
                <a:solidFill>
                  <a:srgbClr val="273239"/>
                </a:solidFill>
                <a:effectLst/>
                <a:latin typeface="Nunito" pitchFamily="2" charset="0"/>
              </a:rPr>
              <a:t>Redistribute original or modified versions according to the software license.</a:t>
            </a:r>
          </a:p>
          <a:p>
            <a:pPr marL="0" indent="0" algn="just">
              <a:buNone/>
            </a:pPr>
            <a:r>
              <a:rPr lang="en-US" b="0" i="0" dirty="0">
                <a:solidFill>
                  <a:srgbClr val="273239"/>
                </a:solidFill>
                <a:effectLst/>
                <a:latin typeface="Nunito" pitchFamily="2" charset="0"/>
              </a:rPr>
              <a:t>Standard Definition</a:t>
            </a:r>
          </a:p>
          <a:p>
            <a:pPr lvl="1" algn="just"/>
            <a:r>
              <a:rPr lang="en-US" b="0" i="0" dirty="0">
                <a:solidFill>
                  <a:srgbClr val="273239"/>
                </a:solidFill>
                <a:effectLst/>
                <a:latin typeface="Nunito" pitchFamily="2" charset="0"/>
              </a:rPr>
              <a:t>According to the Open Source Initiative (OSI):</a:t>
            </a:r>
          </a:p>
          <a:p>
            <a:pPr marL="914400" lvl="2" indent="0" algn="just">
              <a:buNone/>
            </a:pPr>
            <a:r>
              <a:rPr lang="en-US" b="0" i="0" dirty="0">
                <a:solidFill>
                  <a:srgbClr val="273239"/>
                </a:solidFill>
                <a:effectLst/>
                <a:latin typeface="Nunito" pitchFamily="2" charset="0"/>
              </a:rPr>
              <a:t>Open source software is software that can be freely used, modified, and shared under licenses that comply with the Open Source Definition.</a:t>
            </a:r>
          </a:p>
        </p:txBody>
      </p:sp>
    </p:spTree>
    <p:extLst>
      <p:ext uri="{BB962C8B-B14F-4D97-AF65-F5344CB8AC3E}">
        <p14:creationId xmlns:p14="http://schemas.microsoft.com/office/powerpoint/2010/main" val="2651985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Characteristics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825625"/>
            <a:ext cx="10515600" cy="4667250"/>
          </a:xfrm>
        </p:spPr>
        <p:txBody>
          <a:bodyPr>
            <a:normAutofit/>
          </a:bodyPr>
          <a:lstStyle/>
          <a:p>
            <a:pPr algn="just"/>
            <a:r>
              <a:rPr lang="en-US" b="0" i="0" dirty="0">
                <a:solidFill>
                  <a:srgbClr val="273239"/>
                </a:solidFill>
                <a:effectLst/>
                <a:latin typeface="Nunito" pitchFamily="2" charset="0"/>
              </a:rPr>
              <a:t>Open source software generally has the following characteristics:</a:t>
            </a:r>
          </a:p>
          <a:p>
            <a:pPr lvl="1"/>
            <a:r>
              <a:rPr lang="en-US" sz="3200" b="1" dirty="0"/>
              <a:t>1. Source Code Availability</a:t>
            </a:r>
          </a:p>
          <a:p>
            <a:pPr lvl="2"/>
            <a:r>
              <a:rPr lang="en-US" sz="2800" dirty="0"/>
              <a:t>The complete source code is accessible to everyone.</a:t>
            </a:r>
          </a:p>
          <a:p>
            <a:pPr lvl="1"/>
            <a:r>
              <a:rPr lang="en-US" sz="3200" b="1" dirty="0"/>
              <a:t>2. Free Redistribution</a:t>
            </a:r>
          </a:p>
          <a:p>
            <a:pPr lvl="2"/>
            <a:r>
              <a:rPr lang="en-US" sz="2800" dirty="0"/>
              <a:t>Users can distribute copies without paying royalties.</a:t>
            </a:r>
          </a:p>
          <a:p>
            <a:pPr lvl="1"/>
            <a:r>
              <a:rPr lang="en-US" sz="3200" b="1" dirty="0"/>
              <a:t>3. Modification Allowed</a:t>
            </a:r>
          </a:p>
          <a:p>
            <a:pPr lvl="2"/>
            <a:r>
              <a:rPr lang="en-US" sz="2800" dirty="0"/>
              <a:t>Anyone can modify the software according to their needs.</a:t>
            </a:r>
          </a:p>
          <a:p>
            <a:pPr lvl="1"/>
            <a:r>
              <a:rPr lang="en-US" sz="3200" b="1" dirty="0"/>
              <a:t>4. Community Collaboration</a:t>
            </a:r>
          </a:p>
          <a:p>
            <a:pPr lvl="2"/>
            <a:r>
              <a:rPr lang="en-US" sz="2800" dirty="0"/>
              <a:t>Developers worldwide contribute improvements.</a:t>
            </a:r>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369628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Characteristics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algn="just"/>
            <a:r>
              <a:rPr lang="en-US" b="0" i="0" dirty="0">
                <a:solidFill>
                  <a:srgbClr val="273239"/>
                </a:solidFill>
                <a:effectLst/>
                <a:latin typeface="Nunito" pitchFamily="2" charset="0"/>
              </a:rPr>
              <a:t>Open source software generally has the following characteristics:</a:t>
            </a:r>
          </a:p>
          <a:p>
            <a:pPr lvl="1"/>
            <a:r>
              <a:rPr lang="en-US" sz="3200" b="1" dirty="0"/>
              <a:t>5. Transparency</a:t>
            </a:r>
          </a:p>
          <a:p>
            <a:pPr lvl="2"/>
            <a:r>
              <a:rPr lang="en-US" sz="2800" dirty="0"/>
              <a:t>Users can inspect the code for bugs and security issues.</a:t>
            </a:r>
          </a:p>
          <a:p>
            <a:pPr lvl="1"/>
            <a:r>
              <a:rPr lang="en-US" sz="3200" b="1" dirty="0"/>
              <a:t>6. Vendor Independence</a:t>
            </a:r>
          </a:p>
          <a:p>
            <a:pPr lvl="2"/>
            <a:r>
              <a:rPr lang="en-US" sz="2800" dirty="0"/>
              <a:t>Users are not locked into a single software vendor.</a:t>
            </a:r>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2794691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DCAF7-9419-4D8A-B244-EB3A62034D83}"/>
              </a:ext>
            </a:extLst>
          </p:cNvPr>
          <p:cNvSpPr>
            <a:spLocks noGrp="1"/>
          </p:cNvSpPr>
          <p:nvPr>
            <p:ph type="title"/>
          </p:nvPr>
        </p:nvSpPr>
        <p:spPr/>
        <p:txBody>
          <a:bodyPr/>
          <a:lstStyle/>
          <a:p>
            <a:pPr algn="just"/>
            <a:r>
              <a:rPr lang="en-US" b="1" i="0" dirty="0">
                <a:solidFill>
                  <a:srgbClr val="273239"/>
                </a:solidFill>
                <a:effectLst/>
                <a:latin typeface="Nunito" pitchFamily="2" charset="0"/>
              </a:rPr>
              <a:t>Some famous examples of Open-source products/</a:t>
            </a:r>
            <a:r>
              <a:rPr lang="en-US" b="1" i="0" dirty="0" err="1">
                <a:solidFill>
                  <a:srgbClr val="273239"/>
                </a:solidFill>
                <a:effectLst/>
                <a:latin typeface="Nunito" pitchFamily="2" charset="0"/>
              </a:rPr>
              <a:t>softwares</a:t>
            </a:r>
            <a:r>
              <a:rPr lang="en-US" b="1" i="0" dirty="0">
                <a:solidFill>
                  <a:srgbClr val="273239"/>
                </a:solidFill>
                <a:effectLst/>
                <a:latin typeface="Nunito" pitchFamily="2" charset="0"/>
              </a:rPr>
              <a:t> are :</a:t>
            </a:r>
            <a:endParaRPr lang="en-IN" dirty="0"/>
          </a:p>
        </p:txBody>
      </p:sp>
      <p:sp>
        <p:nvSpPr>
          <p:cNvPr id="3" name="Content Placeholder 2">
            <a:extLst>
              <a:ext uri="{FF2B5EF4-FFF2-40B4-BE49-F238E27FC236}">
                <a16:creationId xmlns:a16="http://schemas.microsoft.com/office/drawing/2014/main" id="{3FCF7048-A14E-4DEC-B7C8-D616D4E8DBC4}"/>
              </a:ext>
            </a:extLst>
          </p:cNvPr>
          <p:cNvSpPr>
            <a:spLocks noGrp="1"/>
          </p:cNvSpPr>
          <p:nvPr>
            <p:ph idx="1"/>
          </p:nvPr>
        </p:nvSpPr>
        <p:spPr>
          <a:xfrm>
            <a:off x="838200" y="1825624"/>
            <a:ext cx="10515600" cy="4784495"/>
          </a:xfrm>
        </p:spPr>
        <p:txBody>
          <a:bodyPr>
            <a:normAutofit fontScale="92500" lnSpcReduction="10000"/>
          </a:bodyPr>
          <a:lstStyle/>
          <a:p>
            <a:pPr algn="l" fontAlgn="base">
              <a:buFont typeface="Arial" panose="020B0604020202020204" pitchFamily="34" charset="0"/>
              <a:buChar char="•"/>
            </a:pPr>
            <a:r>
              <a:rPr lang="en-US" b="1" i="0" dirty="0">
                <a:solidFill>
                  <a:srgbClr val="273239"/>
                </a:solidFill>
                <a:effectLst/>
                <a:latin typeface="Nunito" pitchFamily="2" charset="0"/>
              </a:rPr>
              <a:t>Operating systems –</a:t>
            </a:r>
            <a:br>
              <a:rPr lang="en-US" b="0" i="0" dirty="0">
                <a:solidFill>
                  <a:srgbClr val="273239"/>
                </a:solidFill>
                <a:effectLst/>
                <a:latin typeface="Nunito" pitchFamily="2" charset="0"/>
              </a:rPr>
            </a:br>
            <a:r>
              <a:rPr lang="en-US" b="0" i="0" dirty="0">
                <a:solidFill>
                  <a:srgbClr val="273239"/>
                </a:solidFill>
                <a:effectLst/>
                <a:latin typeface="Nunito" pitchFamily="2" charset="0"/>
              </a:rPr>
              <a:t>Android, Ubuntu, Linux</a:t>
            </a:r>
          </a:p>
          <a:p>
            <a:pPr algn="l" fontAlgn="base">
              <a:buFont typeface="Arial" panose="020B0604020202020204" pitchFamily="34" charset="0"/>
              <a:buChar char="•"/>
            </a:pPr>
            <a:r>
              <a:rPr lang="en-US" b="1" i="0" dirty="0">
                <a:solidFill>
                  <a:srgbClr val="273239"/>
                </a:solidFill>
                <a:effectLst/>
                <a:latin typeface="Nunito" pitchFamily="2" charset="0"/>
              </a:rPr>
              <a:t>Internet browsers –</a:t>
            </a:r>
            <a:br>
              <a:rPr lang="en-US" b="0" i="0" dirty="0">
                <a:solidFill>
                  <a:srgbClr val="273239"/>
                </a:solidFill>
                <a:effectLst/>
                <a:latin typeface="Nunito" pitchFamily="2" charset="0"/>
              </a:rPr>
            </a:br>
            <a:r>
              <a:rPr lang="en-US" b="0" i="0" dirty="0">
                <a:solidFill>
                  <a:srgbClr val="273239"/>
                </a:solidFill>
                <a:effectLst/>
                <a:latin typeface="Nunito" pitchFamily="2" charset="0"/>
              </a:rPr>
              <a:t>Mozilla Firefox, Chromium</a:t>
            </a:r>
          </a:p>
          <a:p>
            <a:pPr algn="l" fontAlgn="base">
              <a:buFont typeface="Arial" panose="020B0604020202020204" pitchFamily="34" charset="0"/>
              <a:buChar char="•"/>
            </a:pPr>
            <a:r>
              <a:rPr lang="en-US" b="1" i="0" dirty="0">
                <a:solidFill>
                  <a:srgbClr val="273239"/>
                </a:solidFill>
                <a:effectLst/>
                <a:latin typeface="Nunito" pitchFamily="2" charset="0"/>
              </a:rPr>
              <a:t>Integrated Development Environment (IDEs) –</a:t>
            </a:r>
            <a:br>
              <a:rPr lang="en-US" b="0" i="0" dirty="0">
                <a:solidFill>
                  <a:srgbClr val="273239"/>
                </a:solidFill>
                <a:effectLst/>
                <a:latin typeface="Nunito" pitchFamily="2" charset="0"/>
              </a:rPr>
            </a:br>
            <a:r>
              <a:rPr lang="en-US" b="0" i="0" dirty="0">
                <a:solidFill>
                  <a:srgbClr val="273239"/>
                </a:solidFill>
                <a:effectLst/>
                <a:latin typeface="Nunito" pitchFamily="2" charset="0"/>
              </a:rPr>
              <a:t>Vs code (Visual Studio Code), Android Studio, PyCharm, </a:t>
            </a:r>
            <a:r>
              <a:rPr lang="en-US" b="0" i="0" dirty="0" err="1">
                <a:solidFill>
                  <a:srgbClr val="273239"/>
                </a:solidFill>
                <a:effectLst/>
                <a:latin typeface="Nunito" pitchFamily="2" charset="0"/>
              </a:rPr>
              <a:t>Xcode</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dirty="0">
                <a:solidFill>
                  <a:srgbClr val="273239"/>
                </a:solidFill>
                <a:latin typeface="Nunito" pitchFamily="2" charset="0"/>
              </a:rPr>
              <a:t>Web Server </a:t>
            </a:r>
            <a:r>
              <a:rPr lang="en-US" dirty="0">
                <a:solidFill>
                  <a:srgbClr val="273239"/>
                </a:solidFill>
                <a:latin typeface="Nunito" pitchFamily="2" charset="0"/>
              </a:rPr>
              <a:t>– </a:t>
            </a:r>
            <a:r>
              <a:rPr lang="en-IN" dirty="0"/>
              <a:t>Apache HTTP Server</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Office Suite –</a:t>
            </a:r>
            <a:r>
              <a:rPr lang="en-US" b="0" i="0" dirty="0">
                <a:solidFill>
                  <a:srgbClr val="273239"/>
                </a:solidFill>
                <a:effectLst/>
                <a:latin typeface="Nunito" pitchFamily="2" charset="0"/>
              </a:rPr>
              <a:t> </a:t>
            </a:r>
            <a:r>
              <a:rPr lang="en-IN" dirty="0"/>
              <a:t>LibreOffice</a:t>
            </a:r>
          </a:p>
          <a:p>
            <a:pPr algn="l" fontAlgn="base">
              <a:buFont typeface="Arial" panose="020B0604020202020204" pitchFamily="34" charset="0"/>
              <a:buChar char="•"/>
            </a:pPr>
            <a:r>
              <a:rPr lang="en-IN" b="1" dirty="0">
                <a:latin typeface="Nunito" pitchFamily="2" charset="0"/>
              </a:rPr>
              <a:t>Image Editing </a:t>
            </a:r>
            <a:r>
              <a:rPr lang="en-IN" dirty="0">
                <a:latin typeface="Nunito" pitchFamily="2" charset="0"/>
              </a:rPr>
              <a:t>– GIMP</a:t>
            </a:r>
          </a:p>
          <a:p>
            <a:pPr algn="l" fontAlgn="base">
              <a:buFont typeface="Arial" panose="020B0604020202020204" pitchFamily="34" charset="0"/>
              <a:buChar char="•"/>
            </a:pPr>
            <a:r>
              <a:rPr lang="en-US" b="1" i="0" dirty="0">
                <a:solidFill>
                  <a:srgbClr val="273239"/>
                </a:solidFill>
                <a:effectLst/>
                <a:latin typeface="Nunito" pitchFamily="2" charset="0"/>
              </a:rPr>
              <a:t>Multimedia player – </a:t>
            </a:r>
            <a:r>
              <a:rPr lang="en-US" b="0" i="0" dirty="0">
                <a:solidFill>
                  <a:srgbClr val="273239"/>
                </a:solidFill>
                <a:effectLst/>
                <a:latin typeface="Nunito" pitchFamily="2" charset="0"/>
              </a:rPr>
              <a:t>VLC media player</a:t>
            </a:r>
          </a:p>
          <a:p>
            <a:pPr algn="l" fontAlgn="base">
              <a:buFont typeface="Arial" panose="020B0604020202020204" pitchFamily="34" charset="0"/>
              <a:buChar char="•"/>
            </a:pPr>
            <a:r>
              <a:rPr lang="en-IN" b="1" dirty="0">
                <a:latin typeface="Nunito" pitchFamily="2" charset="0"/>
              </a:rPr>
              <a:t>Database Management System </a:t>
            </a:r>
            <a:r>
              <a:rPr lang="en-IN" dirty="0">
                <a:latin typeface="Nunito" pitchFamily="2" charset="0"/>
              </a:rPr>
              <a:t>- PostgreSQL</a:t>
            </a: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942122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Need for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Autofit/>
          </a:bodyPr>
          <a:lstStyle/>
          <a:p>
            <a:r>
              <a:rPr lang="en-IN" b="1" dirty="0"/>
              <a:t>Open source software became popular because users wanted:</a:t>
            </a:r>
          </a:p>
          <a:p>
            <a:pPr lvl="1"/>
            <a:r>
              <a:rPr lang="en-IN" sz="2800" dirty="0"/>
              <a:t>Lower software costs </a:t>
            </a:r>
          </a:p>
          <a:p>
            <a:pPr lvl="1"/>
            <a:r>
              <a:rPr lang="en-IN" sz="2800" dirty="0"/>
              <a:t>Freedom to customize software </a:t>
            </a:r>
          </a:p>
          <a:p>
            <a:pPr lvl="1"/>
            <a:r>
              <a:rPr lang="en-IN" sz="2800" dirty="0"/>
              <a:t>Better security through transparency </a:t>
            </a:r>
          </a:p>
          <a:p>
            <a:pPr lvl="1"/>
            <a:r>
              <a:rPr lang="en-IN" sz="2800" dirty="0"/>
              <a:t>Faster innovation </a:t>
            </a:r>
          </a:p>
          <a:p>
            <a:pPr lvl="1"/>
            <a:r>
              <a:rPr lang="en-IN" sz="2800" dirty="0"/>
              <a:t>Community-driven development </a:t>
            </a:r>
          </a:p>
          <a:p>
            <a:pPr lvl="1"/>
            <a:r>
              <a:rPr lang="en-IN" sz="2800" dirty="0"/>
              <a:t>Independence from software vendors </a:t>
            </a:r>
          </a:p>
          <a:p>
            <a:pPr lvl="1"/>
            <a:r>
              <a:rPr lang="en-IN" sz="2800" dirty="0"/>
              <a:t>Long-term software availability</a:t>
            </a:r>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28845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marL="0" indent="0">
              <a:buNone/>
            </a:pPr>
            <a:r>
              <a:rPr lang="en-US" b="1" dirty="0"/>
              <a:t>Phase 1: Early Days of Computing (1950s–1960s)</a:t>
            </a:r>
          </a:p>
          <a:p>
            <a:r>
              <a:rPr lang="en-US" dirty="0"/>
              <a:t>During the early years of computing:</a:t>
            </a:r>
          </a:p>
          <a:p>
            <a:pPr lvl="1"/>
            <a:r>
              <a:rPr lang="en-US" dirty="0"/>
              <a:t>Computers were mainly used in universities and research laboratories. </a:t>
            </a:r>
          </a:p>
          <a:p>
            <a:pPr lvl="1"/>
            <a:r>
              <a:rPr lang="en-US" dirty="0"/>
              <a:t>Software was usually distributed along with hardware. </a:t>
            </a:r>
          </a:p>
          <a:p>
            <a:pPr lvl="1"/>
            <a:r>
              <a:rPr lang="en-US" dirty="0"/>
              <a:t>Companies freely shared software and source code. </a:t>
            </a:r>
          </a:p>
          <a:p>
            <a:pPr lvl="1"/>
            <a:r>
              <a:rPr lang="en-US" dirty="0"/>
              <a:t>Collaboration among researchers was common. </a:t>
            </a:r>
          </a:p>
          <a:p>
            <a:r>
              <a:rPr lang="en-US" b="1" dirty="0"/>
              <a:t>Characteristics</a:t>
            </a:r>
          </a:p>
          <a:p>
            <a:pPr lvl="1"/>
            <a:r>
              <a:rPr lang="en-US" dirty="0"/>
              <a:t>No software licensing restrictions. </a:t>
            </a:r>
          </a:p>
          <a:p>
            <a:pPr lvl="1"/>
            <a:r>
              <a:rPr lang="en-US" dirty="0"/>
              <a:t>Free exchange of ideas. </a:t>
            </a:r>
          </a:p>
          <a:p>
            <a:pPr lvl="1"/>
            <a:r>
              <a:rPr lang="en-US" dirty="0"/>
              <a:t>Collaborative programming.</a:t>
            </a:r>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3247710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marL="0" indent="0" algn="just">
              <a:buNone/>
            </a:pPr>
            <a:r>
              <a:rPr lang="en-US" sz="3200" b="1" dirty="0"/>
              <a:t>Phase 2: Commercial Software Era (1970s)</a:t>
            </a:r>
          </a:p>
          <a:p>
            <a:pPr algn="just"/>
            <a:r>
              <a:rPr lang="en-US" sz="3200" dirty="0"/>
              <a:t>As software became commercially valuable:</a:t>
            </a:r>
          </a:p>
          <a:p>
            <a:pPr lvl="1" algn="just"/>
            <a:r>
              <a:rPr lang="en-US" sz="2800" dirty="0"/>
              <a:t>Companies began selling software separately. </a:t>
            </a:r>
          </a:p>
          <a:p>
            <a:pPr lvl="1" algn="just"/>
            <a:r>
              <a:rPr lang="en-US" sz="2800" dirty="0"/>
              <a:t>Source code became proprietary. </a:t>
            </a:r>
          </a:p>
          <a:p>
            <a:pPr lvl="1" algn="just"/>
            <a:r>
              <a:rPr lang="en-US" sz="2800" dirty="0"/>
              <a:t>Users were no longer allowed to modify software. </a:t>
            </a:r>
          </a:p>
          <a:p>
            <a:pPr lvl="1" algn="just"/>
            <a:r>
              <a:rPr lang="en-US" sz="2800" dirty="0"/>
              <a:t>Software licenses became restrictive. </a:t>
            </a:r>
          </a:p>
          <a:p>
            <a:pPr algn="just"/>
            <a:r>
              <a:rPr lang="en-US" sz="3200" b="1" dirty="0"/>
              <a:t>Result</a:t>
            </a:r>
          </a:p>
          <a:p>
            <a:pPr lvl="1" algn="just"/>
            <a:r>
              <a:rPr lang="en-US" sz="2800" dirty="0"/>
              <a:t>Knowledge sharing reduced significantly.</a:t>
            </a:r>
          </a:p>
          <a:p>
            <a:pPr algn="just"/>
            <a:endParaRPr lang="en-US" sz="3200" b="0" i="0" dirty="0">
              <a:solidFill>
                <a:srgbClr val="273239"/>
              </a:solidFill>
              <a:effectLst/>
              <a:latin typeface="Nunito" pitchFamily="2" charset="0"/>
            </a:endParaRPr>
          </a:p>
        </p:txBody>
      </p:sp>
    </p:spTree>
    <p:extLst>
      <p:ext uri="{BB962C8B-B14F-4D97-AF65-F5344CB8AC3E}">
        <p14:creationId xmlns:p14="http://schemas.microsoft.com/office/powerpoint/2010/main" val="3987694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marL="0" indent="0" algn="just">
              <a:buNone/>
            </a:pPr>
            <a:r>
              <a:rPr lang="en-US" sz="3200" b="1" dirty="0"/>
              <a:t>Phase 3: The Free Software Movement (1983)</a:t>
            </a:r>
          </a:p>
          <a:p>
            <a:pPr algn="just"/>
            <a:r>
              <a:rPr lang="en-US" sz="3200" dirty="0"/>
              <a:t>In 1983, Richard Stallman launched the </a:t>
            </a:r>
            <a:r>
              <a:rPr lang="en-US" sz="3200" b="1" dirty="0"/>
              <a:t>Free Software Movement</a:t>
            </a:r>
            <a:r>
              <a:rPr lang="en-US" sz="3200" dirty="0"/>
              <a:t>.</a:t>
            </a:r>
          </a:p>
          <a:p>
            <a:pPr algn="just"/>
            <a:r>
              <a:rPr lang="en-US" sz="3200" b="1" dirty="0"/>
              <a:t>Objectives</a:t>
            </a:r>
          </a:p>
          <a:p>
            <a:pPr algn="just"/>
            <a:r>
              <a:rPr lang="en-US" sz="3200" dirty="0"/>
              <a:t>To guarantee users four essential freedoms:</a:t>
            </a:r>
          </a:p>
          <a:p>
            <a:pPr lvl="1" algn="just">
              <a:buFont typeface="+mj-lt"/>
              <a:buAutoNum type="arabicPeriod"/>
            </a:pPr>
            <a:r>
              <a:rPr lang="en-US" dirty="0"/>
              <a:t>Freedom to run the software. </a:t>
            </a:r>
          </a:p>
          <a:p>
            <a:pPr lvl="1" algn="just">
              <a:buFont typeface="+mj-lt"/>
              <a:buAutoNum type="arabicPeriod"/>
            </a:pPr>
            <a:r>
              <a:rPr lang="en-US" dirty="0"/>
              <a:t>Freedom to study the software. </a:t>
            </a:r>
          </a:p>
          <a:p>
            <a:pPr lvl="1" algn="just">
              <a:buFont typeface="+mj-lt"/>
              <a:buAutoNum type="arabicPeriod"/>
            </a:pPr>
            <a:r>
              <a:rPr lang="en-US" dirty="0"/>
              <a:t>Freedom to modify the software. </a:t>
            </a:r>
          </a:p>
          <a:p>
            <a:pPr lvl="1" algn="just">
              <a:buFont typeface="+mj-lt"/>
              <a:buAutoNum type="arabicPeriod"/>
            </a:pPr>
            <a:r>
              <a:rPr lang="en-US" dirty="0"/>
              <a:t>Freedom to redistribute software. </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1108201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marL="0" indent="0" algn="just">
              <a:buNone/>
            </a:pPr>
            <a:r>
              <a:rPr lang="en-IN" b="1" dirty="0"/>
              <a:t>GNU Project (1983)</a:t>
            </a:r>
          </a:p>
          <a:p>
            <a:pPr algn="just"/>
            <a:r>
              <a:rPr lang="en-IN" dirty="0"/>
              <a:t>Richard Stallman also started the </a:t>
            </a:r>
            <a:r>
              <a:rPr lang="en-IN" b="1" dirty="0"/>
              <a:t>GNU Project</a:t>
            </a:r>
            <a:r>
              <a:rPr lang="en-IN" dirty="0"/>
              <a:t>.</a:t>
            </a:r>
          </a:p>
          <a:p>
            <a:pPr algn="just"/>
            <a:r>
              <a:rPr lang="en-IN" b="1" dirty="0"/>
              <a:t>Goal</a:t>
            </a:r>
          </a:p>
          <a:p>
            <a:pPr algn="just"/>
            <a:r>
              <a:rPr lang="en-IN" dirty="0"/>
              <a:t>Develop a completely free Unix-like operating system.</a:t>
            </a:r>
          </a:p>
          <a:p>
            <a:pPr algn="just"/>
            <a:r>
              <a:rPr lang="en-IN" dirty="0"/>
              <a:t>Many important GNU tools were developed, including:</a:t>
            </a:r>
          </a:p>
          <a:p>
            <a:pPr lvl="1" algn="just"/>
            <a:r>
              <a:rPr lang="en-IN" sz="2800" dirty="0"/>
              <a:t>GCC Compiler </a:t>
            </a:r>
          </a:p>
          <a:p>
            <a:pPr lvl="1" algn="just"/>
            <a:r>
              <a:rPr lang="en-IN" sz="2800" dirty="0"/>
              <a:t>Bash Shell </a:t>
            </a:r>
          </a:p>
          <a:p>
            <a:pPr lvl="1" algn="just"/>
            <a:r>
              <a:rPr lang="en-IN" sz="2800" dirty="0"/>
              <a:t>GNU Emacs </a:t>
            </a:r>
          </a:p>
          <a:p>
            <a:pPr lvl="1" algn="just"/>
            <a:r>
              <a:rPr lang="en-IN" sz="2800" dirty="0"/>
              <a:t>Core Utilities</a:t>
            </a:r>
          </a:p>
          <a:p>
            <a:pPr algn="just"/>
            <a:endParaRPr lang="en-US" sz="4000" b="0" i="0" dirty="0">
              <a:solidFill>
                <a:srgbClr val="273239"/>
              </a:solidFill>
              <a:effectLst/>
              <a:latin typeface="Nunito" pitchFamily="2" charset="0"/>
            </a:endParaRPr>
          </a:p>
        </p:txBody>
      </p:sp>
    </p:spTree>
    <p:extLst>
      <p:ext uri="{BB962C8B-B14F-4D97-AF65-F5344CB8AC3E}">
        <p14:creationId xmlns:p14="http://schemas.microsoft.com/office/powerpoint/2010/main" val="1067334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marL="0" indent="0">
              <a:buNone/>
            </a:pPr>
            <a:r>
              <a:rPr lang="en-US" sz="3200" b="1" dirty="0"/>
              <a:t>GNU General Public License (GPL)</a:t>
            </a:r>
          </a:p>
          <a:p>
            <a:r>
              <a:rPr lang="en-US" sz="3200" dirty="0"/>
              <a:t>Richard Stallman introduced the </a:t>
            </a:r>
            <a:r>
              <a:rPr lang="en-US" sz="3200" b="1" dirty="0"/>
              <a:t>GNU General Public License (GPL)</a:t>
            </a:r>
            <a:r>
              <a:rPr lang="en-US" sz="3200" dirty="0"/>
              <a:t>.</a:t>
            </a:r>
          </a:p>
          <a:p>
            <a:r>
              <a:rPr lang="en-US" sz="3200" dirty="0"/>
              <a:t>It ensures that:</a:t>
            </a:r>
          </a:p>
          <a:p>
            <a:pPr lvl="1"/>
            <a:r>
              <a:rPr lang="en-US" sz="2800" dirty="0"/>
              <a:t>Software remains free. </a:t>
            </a:r>
          </a:p>
          <a:p>
            <a:pPr lvl="1"/>
            <a:r>
              <a:rPr lang="en-US" sz="2800" dirty="0"/>
              <a:t>Modified versions must also remain open source. </a:t>
            </a:r>
          </a:p>
          <a:p>
            <a:pPr lvl="1"/>
            <a:r>
              <a:rPr lang="en-US" sz="2800" dirty="0"/>
              <a:t>Source code must remain available. </a:t>
            </a:r>
          </a:p>
          <a:p>
            <a:r>
              <a:rPr lang="en-US" sz="3200" dirty="0"/>
              <a:t>GPL introduced the concept of </a:t>
            </a:r>
            <a:r>
              <a:rPr lang="en-US" sz="3200" b="1" dirty="0"/>
              <a:t>Copyleft</a:t>
            </a:r>
            <a:r>
              <a:rPr lang="en-US" sz="3200" dirty="0"/>
              <a:t>.</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1991424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377108"/>
            <a:ext cx="10515600" cy="5480891"/>
          </a:xfrm>
        </p:spPr>
        <p:txBody>
          <a:bodyPr>
            <a:normAutofit fontScale="85000" lnSpcReduction="20000"/>
          </a:bodyPr>
          <a:lstStyle/>
          <a:p>
            <a:pPr marL="0" indent="0">
              <a:buNone/>
            </a:pPr>
            <a:r>
              <a:rPr lang="en-IN" sz="3200" b="1" dirty="0"/>
              <a:t>Phase 4: Linux Revolution (1991)</a:t>
            </a:r>
          </a:p>
          <a:p>
            <a:r>
              <a:rPr lang="en-IN" sz="3200" dirty="0"/>
              <a:t>In 1991, Linus Torvalds developed the Linux kernel.</a:t>
            </a:r>
          </a:p>
          <a:p>
            <a:r>
              <a:rPr lang="en-IN" sz="3200" dirty="0"/>
              <a:t>Initially:</a:t>
            </a:r>
          </a:p>
          <a:p>
            <a:pPr lvl="1"/>
            <a:r>
              <a:rPr lang="en-IN" sz="2800" dirty="0"/>
              <a:t>It was a personal project. </a:t>
            </a:r>
          </a:p>
          <a:p>
            <a:pPr lvl="1"/>
            <a:r>
              <a:rPr lang="en-IN" sz="2800" dirty="0"/>
              <a:t>Developers worldwide contributed improvements. </a:t>
            </a:r>
          </a:p>
          <a:p>
            <a:r>
              <a:rPr lang="en-IN" sz="3200" dirty="0"/>
              <a:t>Linux combined with GNU utilities formed the GNU/Linux operating system.</a:t>
            </a:r>
          </a:p>
          <a:p>
            <a:r>
              <a:rPr lang="en-IN" sz="3200" b="1" dirty="0"/>
              <a:t>Importance</a:t>
            </a:r>
          </a:p>
          <a:p>
            <a:r>
              <a:rPr lang="en-IN" sz="3200" dirty="0"/>
              <a:t>Linux became the foundation for:</a:t>
            </a:r>
          </a:p>
          <a:p>
            <a:pPr lvl="1"/>
            <a:r>
              <a:rPr lang="en-IN" sz="2800" dirty="0"/>
              <a:t>Servers </a:t>
            </a:r>
          </a:p>
          <a:p>
            <a:pPr lvl="1"/>
            <a:r>
              <a:rPr lang="en-IN" sz="2800" dirty="0"/>
              <a:t>Supercomputers </a:t>
            </a:r>
          </a:p>
          <a:p>
            <a:pPr lvl="1"/>
            <a:r>
              <a:rPr lang="en-IN" sz="2800" dirty="0"/>
              <a:t>Smartphones (Android) </a:t>
            </a:r>
          </a:p>
          <a:p>
            <a:pPr lvl="1"/>
            <a:r>
              <a:rPr lang="en-IN" sz="2800" dirty="0"/>
              <a:t>Cloud Computing </a:t>
            </a:r>
          </a:p>
          <a:p>
            <a:pPr lvl="1"/>
            <a:r>
              <a:rPr lang="en-IN" sz="2800" dirty="0"/>
              <a:t>Embedded Systems</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215370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fontScale="92500" lnSpcReduction="20000"/>
          </a:bodyPr>
          <a:lstStyle/>
          <a:p>
            <a:pPr marL="0" indent="0" algn="just">
              <a:buNone/>
            </a:pPr>
            <a:r>
              <a:rPr lang="en-US" sz="3200" b="1" dirty="0"/>
              <a:t>Phase 5: Birth of the Term "Open Source" (1998)</a:t>
            </a:r>
          </a:p>
          <a:p>
            <a:pPr algn="just"/>
            <a:r>
              <a:rPr lang="en-US" sz="3200" dirty="0"/>
              <a:t>Although free software already existed, businesses were hesitant to adopt it due to confusion over the word "free" (which could mean free of cost or freedom).</a:t>
            </a:r>
          </a:p>
          <a:p>
            <a:pPr algn="just"/>
            <a:r>
              <a:rPr lang="en-US" sz="3200" dirty="0"/>
              <a:t>In 1998:</a:t>
            </a:r>
          </a:p>
          <a:p>
            <a:pPr lvl="1" algn="just"/>
            <a:r>
              <a:rPr lang="en-US" sz="2800" dirty="0"/>
              <a:t>The term </a:t>
            </a:r>
            <a:r>
              <a:rPr lang="en-US" sz="2800" b="1" dirty="0"/>
              <a:t>Open Source</a:t>
            </a:r>
            <a:r>
              <a:rPr lang="en-US" sz="2800" dirty="0"/>
              <a:t> was introduced. </a:t>
            </a:r>
          </a:p>
          <a:p>
            <a:pPr lvl="1" algn="just"/>
            <a:r>
              <a:rPr lang="en-US" sz="2800" dirty="0"/>
              <a:t>The </a:t>
            </a:r>
            <a:r>
              <a:rPr lang="en-US" sz="2800" b="1" dirty="0"/>
              <a:t>Open Source Initiative (OSI)</a:t>
            </a:r>
            <a:r>
              <a:rPr lang="en-US" sz="2800" dirty="0"/>
              <a:t> was founded. </a:t>
            </a:r>
          </a:p>
          <a:p>
            <a:pPr lvl="1" algn="just"/>
            <a:r>
              <a:rPr lang="en-US" sz="2800" dirty="0"/>
              <a:t>The focus shifted toward collaboration, quality, and commercial adoption. </a:t>
            </a:r>
          </a:p>
          <a:p>
            <a:pPr algn="just"/>
            <a:r>
              <a:rPr lang="en-US" sz="3200" dirty="0"/>
              <a:t>This made businesses more comfortable adopting community-developed software.</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2455400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498294"/>
            <a:ext cx="10515600" cy="5233011"/>
          </a:xfrm>
        </p:spPr>
        <p:txBody>
          <a:bodyPr>
            <a:normAutofit fontScale="85000" lnSpcReduction="20000"/>
          </a:bodyPr>
          <a:lstStyle/>
          <a:p>
            <a:pPr marL="0" indent="0">
              <a:buNone/>
            </a:pPr>
            <a:r>
              <a:rPr lang="en-IN" sz="3200" b="1" dirty="0"/>
              <a:t>Phase 6: Growth of Open Source (2000–2010)</a:t>
            </a:r>
          </a:p>
          <a:p>
            <a:r>
              <a:rPr lang="en-IN" sz="3200" dirty="0"/>
              <a:t>Many successful projects emerged:</a:t>
            </a:r>
          </a:p>
          <a:p>
            <a:pPr lvl="1"/>
            <a:r>
              <a:rPr lang="en-IN" sz="2800" dirty="0"/>
              <a:t>Linux </a:t>
            </a:r>
          </a:p>
          <a:p>
            <a:pPr lvl="1"/>
            <a:r>
              <a:rPr lang="en-IN" sz="2800" dirty="0"/>
              <a:t>Apache </a:t>
            </a:r>
          </a:p>
          <a:p>
            <a:pPr lvl="1"/>
            <a:r>
              <a:rPr lang="en-IN" sz="2800" dirty="0"/>
              <a:t>Mozilla Firefox </a:t>
            </a:r>
          </a:p>
          <a:p>
            <a:pPr lvl="1"/>
            <a:r>
              <a:rPr lang="en-IN" sz="2800" dirty="0"/>
              <a:t>MySQL </a:t>
            </a:r>
          </a:p>
          <a:p>
            <a:pPr lvl="1"/>
            <a:r>
              <a:rPr lang="en-IN" sz="2800" dirty="0"/>
              <a:t>PHP </a:t>
            </a:r>
          </a:p>
          <a:p>
            <a:pPr lvl="1"/>
            <a:r>
              <a:rPr lang="en-IN" sz="2800" dirty="0"/>
              <a:t>Python </a:t>
            </a:r>
          </a:p>
          <a:p>
            <a:pPr lvl="1"/>
            <a:r>
              <a:rPr lang="en-IN" sz="2800" dirty="0"/>
              <a:t>Eclipse </a:t>
            </a:r>
          </a:p>
          <a:p>
            <a:r>
              <a:rPr lang="en-IN" sz="3200" dirty="0"/>
              <a:t>Companies also began contributing to open source.</a:t>
            </a:r>
          </a:p>
          <a:p>
            <a:r>
              <a:rPr lang="en-IN" sz="3200" dirty="0"/>
              <a:t>Examples:</a:t>
            </a:r>
          </a:p>
          <a:p>
            <a:pPr lvl="1"/>
            <a:r>
              <a:rPr lang="en-IN" sz="2800" dirty="0"/>
              <a:t>IBM </a:t>
            </a:r>
          </a:p>
          <a:p>
            <a:pPr lvl="1"/>
            <a:r>
              <a:rPr lang="en-IN" sz="2800" dirty="0"/>
              <a:t>Sun Microsystems </a:t>
            </a:r>
          </a:p>
          <a:p>
            <a:pPr lvl="1"/>
            <a:r>
              <a:rPr lang="en-IN" sz="2800" dirty="0"/>
              <a:t>Red Hat </a:t>
            </a:r>
          </a:p>
          <a:p>
            <a:pPr lvl="1"/>
            <a:r>
              <a:rPr lang="en-IN" sz="2800" dirty="0"/>
              <a:t>Google</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3644076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History of Open Source Software</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825624"/>
            <a:ext cx="10515600" cy="4850597"/>
          </a:xfrm>
        </p:spPr>
        <p:txBody>
          <a:bodyPr>
            <a:normAutofit fontScale="92500" lnSpcReduction="20000"/>
          </a:bodyPr>
          <a:lstStyle/>
          <a:p>
            <a:pPr marL="0" indent="0" algn="just">
              <a:buNone/>
            </a:pPr>
            <a:r>
              <a:rPr lang="en-IN" sz="3200" b="1" dirty="0"/>
              <a:t>Phase 7: Modern Open Source Era (2010–Present)</a:t>
            </a:r>
          </a:p>
          <a:p>
            <a:pPr algn="just"/>
            <a:r>
              <a:rPr lang="en-IN" sz="3200" dirty="0"/>
              <a:t>Today, open source powers much of the world's digital infrastructure.</a:t>
            </a:r>
          </a:p>
          <a:p>
            <a:pPr algn="just"/>
            <a:r>
              <a:rPr lang="en-IN" sz="3200" dirty="0"/>
              <a:t>Major technologies include:</a:t>
            </a:r>
          </a:p>
          <a:p>
            <a:pPr lvl="1" algn="just"/>
            <a:r>
              <a:rPr lang="en-IN" sz="2800" dirty="0"/>
              <a:t>Docker </a:t>
            </a:r>
          </a:p>
          <a:p>
            <a:pPr lvl="1" algn="just"/>
            <a:r>
              <a:rPr lang="en-IN" sz="2800" dirty="0"/>
              <a:t>Kubernetes </a:t>
            </a:r>
          </a:p>
          <a:p>
            <a:pPr lvl="1" algn="just"/>
            <a:r>
              <a:rPr lang="en-IN" sz="2800" dirty="0"/>
              <a:t>TensorFlow </a:t>
            </a:r>
          </a:p>
          <a:p>
            <a:pPr lvl="1" algn="just"/>
            <a:r>
              <a:rPr lang="en-IN" sz="2800" dirty="0" err="1"/>
              <a:t>PyTorch</a:t>
            </a:r>
            <a:r>
              <a:rPr lang="en-IN" sz="2800" dirty="0"/>
              <a:t> </a:t>
            </a:r>
          </a:p>
          <a:p>
            <a:pPr lvl="1" algn="just"/>
            <a:r>
              <a:rPr lang="en-IN" sz="2800" dirty="0"/>
              <a:t>Git </a:t>
            </a:r>
          </a:p>
          <a:p>
            <a:pPr lvl="1" algn="just"/>
            <a:r>
              <a:rPr lang="en-IN" sz="2800" dirty="0"/>
              <a:t>VS Code </a:t>
            </a:r>
          </a:p>
          <a:p>
            <a:pPr lvl="1" algn="just"/>
            <a:r>
              <a:rPr lang="en-IN" sz="2800" dirty="0"/>
              <a:t>Chromium </a:t>
            </a:r>
          </a:p>
          <a:p>
            <a:pPr algn="just"/>
            <a:r>
              <a:rPr lang="en-IN" sz="3200" dirty="0"/>
              <a:t>Cloud providers and technology companies actively contribute to open source projects.</a:t>
            </a:r>
          </a:p>
          <a:p>
            <a:pPr algn="just"/>
            <a:endParaRPr lang="en-US" sz="4400" b="0" i="0" dirty="0">
              <a:solidFill>
                <a:srgbClr val="273239"/>
              </a:solidFill>
              <a:effectLst/>
              <a:latin typeface="Nunito" pitchFamily="2" charset="0"/>
            </a:endParaRPr>
          </a:p>
        </p:txBody>
      </p:sp>
    </p:spTree>
    <p:extLst>
      <p:ext uri="{BB962C8B-B14F-4D97-AF65-F5344CB8AC3E}">
        <p14:creationId xmlns:p14="http://schemas.microsoft.com/office/powerpoint/2010/main" val="3611035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a:xfrm>
            <a:off x="838200" y="-273852"/>
            <a:ext cx="10515600" cy="1325563"/>
          </a:xfrm>
        </p:spPr>
        <p:txBody>
          <a:bodyPr/>
          <a:lstStyle/>
          <a:p>
            <a:r>
              <a:rPr lang="en-US" b="1" dirty="0"/>
              <a:t>Timeline of Open Source History</a:t>
            </a:r>
            <a:endParaRPr lang="en-IN" b="1" dirty="0"/>
          </a:p>
        </p:txBody>
      </p:sp>
      <p:graphicFrame>
        <p:nvGraphicFramePr>
          <p:cNvPr id="4" name="Content Placeholder 3">
            <a:extLst>
              <a:ext uri="{FF2B5EF4-FFF2-40B4-BE49-F238E27FC236}">
                <a16:creationId xmlns:a16="http://schemas.microsoft.com/office/drawing/2014/main" id="{9BCC3415-71E0-433D-8841-FAF1F6D7BA57}"/>
              </a:ext>
            </a:extLst>
          </p:cNvPr>
          <p:cNvGraphicFramePr>
            <a:graphicFrameLocks noGrp="1"/>
          </p:cNvGraphicFramePr>
          <p:nvPr>
            <p:ph idx="1"/>
            <p:extLst>
              <p:ext uri="{D42A27DB-BD31-4B8C-83A1-F6EECF244321}">
                <p14:modId xmlns:p14="http://schemas.microsoft.com/office/powerpoint/2010/main" val="3734990653"/>
              </p:ext>
            </p:extLst>
          </p:nvPr>
        </p:nvGraphicFramePr>
        <p:xfrm>
          <a:off x="937435" y="624788"/>
          <a:ext cx="10751462" cy="6256100"/>
        </p:xfrm>
        <a:graphic>
          <a:graphicData uri="http://schemas.openxmlformats.org/drawingml/2006/table">
            <a:tbl>
              <a:tblPr/>
              <a:tblGrid>
                <a:gridCol w="1596445">
                  <a:extLst>
                    <a:ext uri="{9D8B030D-6E8A-4147-A177-3AD203B41FA5}">
                      <a16:colId xmlns:a16="http://schemas.microsoft.com/office/drawing/2014/main" val="2226544316"/>
                    </a:ext>
                  </a:extLst>
                </a:gridCol>
                <a:gridCol w="9155017">
                  <a:extLst>
                    <a:ext uri="{9D8B030D-6E8A-4147-A177-3AD203B41FA5}">
                      <a16:colId xmlns:a16="http://schemas.microsoft.com/office/drawing/2014/main" val="3508603817"/>
                    </a:ext>
                  </a:extLst>
                </a:gridCol>
              </a:tblGrid>
              <a:tr h="312871">
                <a:tc>
                  <a:txBody>
                    <a:bodyPr/>
                    <a:lstStyle/>
                    <a:p>
                      <a:r>
                        <a:rPr lang="en-IN" sz="2200" b="1" dirty="0"/>
                        <a:t>Year</a:t>
                      </a:r>
                    </a:p>
                  </a:txBody>
                  <a:tcPr marL="71321" marR="71321" marT="35660" marB="35660" anchor="ctr">
                    <a:lnL>
                      <a:noFill/>
                    </a:lnL>
                    <a:lnR>
                      <a:noFill/>
                    </a:lnR>
                    <a:lnT>
                      <a:noFill/>
                    </a:lnT>
                    <a:lnB>
                      <a:noFill/>
                    </a:lnB>
                  </a:tcPr>
                </a:tc>
                <a:tc>
                  <a:txBody>
                    <a:bodyPr/>
                    <a:lstStyle/>
                    <a:p>
                      <a:r>
                        <a:rPr lang="en-IN" sz="2200" b="1" dirty="0"/>
                        <a:t>Milestone</a:t>
                      </a:r>
                    </a:p>
                  </a:txBody>
                  <a:tcPr marL="71321" marR="71321" marT="35660" marB="35660" anchor="ctr">
                    <a:lnL>
                      <a:noFill/>
                    </a:lnL>
                    <a:lnR>
                      <a:noFill/>
                    </a:lnR>
                    <a:lnT>
                      <a:noFill/>
                    </a:lnT>
                    <a:lnB>
                      <a:noFill/>
                    </a:lnB>
                  </a:tcPr>
                </a:tc>
                <a:extLst>
                  <a:ext uri="{0D108BD9-81ED-4DB2-BD59-A6C34878D82A}">
                    <a16:rowId xmlns:a16="http://schemas.microsoft.com/office/drawing/2014/main" val="2753017710"/>
                  </a:ext>
                </a:extLst>
              </a:tr>
              <a:tr h="312871">
                <a:tc>
                  <a:txBody>
                    <a:bodyPr/>
                    <a:lstStyle/>
                    <a:p>
                      <a:r>
                        <a:rPr lang="en-IN" sz="2200"/>
                        <a:t>1950s</a:t>
                      </a:r>
                    </a:p>
                  </a:txBody>
                  <a:tcPr marL="71321" marR="71321" marT="35660" marB="35660" anchor="ctr">
                    <a:lnL>
                      <a:noFill/>
                    </a:lnL>
                    <a:lnR>
                      <a:noFill/>
                    </a:lnR>
                    <a:lnT>
                      <a:noFill/>
                    </a:lnT>
                    <a:lnB>
                      <a:noFill/>
                    </a:lnB>
                  </a:tcPr>
                </a:tc>
                <a:tc>
                  <a:txBody>
                    <a:bodyPr/>
                    <a:lstStyle/>
                    <a:p>
                      <a:r>
                        <a:rPr lang="en-US" sz="2200"/>
                        <a:t>Software freely shared among researchers</a:t>
                      </a:r>
                    </a:p>
                  </a:txBody>
                  <a:tcPr marL="71321" marR="71321" marT="35660" marB="35660" anchor="ctr">
                    <a:lnL>
                      <a:noFill/>
                    </a:lnL>
                    <a:lnR>
                      <a:noFill/>
                    </a:lnR>
                    <a:lnT>
                      <a:noFill/>
                    </a:lnT>
                    <a:lnB>
                      <a:noFill/>
                    </a:lnB>
                  </a:tcPr>
                </a:tc>
                <a:extLst>
                  <a:ext uri="{0D108BD9-81ED-4DB2-BD59-A6C34878D82A}">
                    <a16:rowId xmlns:a16="http://schemas.microsoft.com/office/drawing/2014/main" val="1106263729"/>
                  </a:ext>
                </a:extLst>
              </a:tr>
              <a:tr h="312871">
                <a:tc>
                  <a:txBody>
                    <a:bodyPr/>
                    <a:lstStyle/>
                    <a:p>
                      <a:r>
                        <a:rPr lang="en-IN" sz="2200"/>
                        <a:t>1970s</a:t>
                      </a:r>
                    </a:p>
                  </a:txBody>
                  <a:tcPr marL="71321" marR="71321" marT="35660" marB="35660" anchor="ctr">
                    <a:lnL>
                      <a:noFill/>
                    </a:lnL>
                    <a:lnR>
                      <a:noFill/>
                    </a:lnR>
                    <a:lnT>
                      <a:noFill/>
                    </a:lnT>
                    <a:lnB>
                      <a:noFill/>
                    </a:lnB>
                  </a:tcPr>
                </a:tc>
                <a:tc>
                  <a:txBody>
                    <a:bodyPr/>
                    <a:lstStyle/>
                    <a:p>
                      <a:r>
                        <a:rPr lang="en-IN" sz="2200"/>
                        <a:t>Commercial proprietary software became common</a:t>
                      </a:r>
                    </a:p>
                  </a:txBody>
                  <a:tcPr marL="71321" marR="71321" marT="35660" marB="35660" anchor="ctr">
                    <a:lnL>
                      <a:noFill/>
                    </a:lnL>
                    <a:lnR>
                      <a:noFill/>
                    </a:lnR>
                    <a:lnT>
                      <a:noFill/>
                    </a:lnT>
                    <a:lnB>
                      <a:noFill/>
                    </a:lnB>
                  </a:tcPr>
                </a:tc>
                <a:extLst>
                  <a:ext uri="{0D108BD9-81ED-4DB2-BD59-A6C34878D82A}">
                    <a16:rowId xmlns:a16="http://schemas.microsoft.com/office/drawing/2014/main" val="57656388"/>
                  </a:ext>
                </a:extLst>
              </a:tr>
              <a:tr h="547525">
                <a:tc>
                  <a:txBody>
                    <a:bodyPr/>
                    <a:lstStyle/>
                    <a:p>
                      <a:r>
                        <a:rPr lang="en-IN" sz="2200" dirty="0"/>
                        <a:t>1983</a:t>
                      </a:r>
                    </a:p>
                  </a:txBody>
                  <a:tcPr marL="71321" marR="71321" marT="35660" marB="35660" anchor="ctr">
                    <a:lnL>
                      <a:noFill/>
                    </a:lnL>
                    <a:lnR>
                      <a:noFill/>
                    </a:lnR>
                    <a:lnT>
                      <a:noFill/>
                    </a:lnT>
                    <a:lnB>
                      <a:noFill/>
                    </a:lnB>
                  </a:tcPr>
                </a:tc>
                <a:tc>
                  <a:txBody>
                    <a:bodyPr/>
                    <a:lstStyle/>
                    <a:p>
                      <a:r>
                        <a:rPr lang="en-US" sz="2200"/>
                        <a:t>Richard Stallman launched the GNU Project and Free Software Movement</a:t>
                      </a:r>
                    </a:p>
                  </a:txBody>
                  <a:tcPr marL="71321" marR="71321" marT="35660" marB="35660" anchor="ctr">
                    <a:lnL>
                      <a:noFill/>
                    </a:lnL>
                    <a:lnR>
                      <a:noFill/>
                    </a:lnR>
                    <a:lnT>
                      <a:noFill/>
                    </a:lnT>
                    <a:lnB>
                      <a:noFill/>
                    </a:lnB>
                  </a:tcPr>
                </a:tc>
                <a:extLst>
                  <a:ext uri="{0D108BD9-81ED-4DB2-BD59-A6C34878D82A}">
                    <a16:rowId xmlns:a16="http://schemas.microsoft.com/office/drawing/2014/main" val="2446714791"/>
                  </a:ext>
                </a:extLst>
              </a:tr>
              <a:tr h="312871">
                <a:tc>
                  <a:txBody>
                    <a:bodyPr/>
                    <a:lstStyle/>
                    <a:p>
                      <a:r>
                        <a:rPr lang="en-IN" sz="2200"/>
                        <a:t>1985</a:t>
                      </a:r>
                    </a:p>
                  </a:txBody>
                  <a:tcPr marL="71321" marR="71321" marT="35660" marB="35660" anchor="ctr">
                    <a:lnL>
                      <a:noFill/>
                    </a:lnL>
                    <a:lnR>
                      <a:noFill/>
                    </a:lnR>
                    <a:lnT>
                      <a:noFill/>
                    </a:lnT>
                    <a:lnB>
                      <a:noFill/>
                    </a:lnB>
                  </a:tcPr>
                </a:tc>
                <a:tc>
                  <a:txBody>
                    <a:bodyPr/>
                    <a:lstStyle/>
                    <a:p>
                      <a:r>
                        <a:rPr lang="en-US" sz="2200"/>
                        <a:t>Free Software Foundation (FSF) established</a:t>
                      </a:r>
                    </a:p>
                  </a:txBody>
                  <a:tcPr marL="71321" marR="71321" marT="35660" marB="35660" anchor="ctr">
                    <a:lnL>
                      <a:noFill/>
                    </a:lnL>
                    <a:lnR>
                      <a:noFill/>
                    </a:lnR>
                    <a:lnT>
                      <a:noFill/>
                    </a:lnT>
                    <a:lnB>
                      <a:noFill/>
                    </a:lnB>
                  </a:tcPr>
                </a:tc>
                <a:extLst>
                  <a:ext uri="{0D108BD9-81ED-4DB2-BD59-A6C34878D82A}">
                    <a16:rowId xmlns:a16="http://schemas.microsoft.com/office/drawing/2014/main" val="3207370023"/>
                  </a:ext>
                </a:extLst>
              </a:tr>
              <a:tr h="547525">
                <a:tc>
                  <a:txBody>
                    <a:bodyPr/>
                    <a:lstStyle/>
                    <a:p>
                      <a:r>
                        <a:rPr lang="en-IN" sz="2200"/>
                        <a:t>1989</a:t>
                      </a:r>
                    </a:p>
                  </a:txBody>
                  <a:tcPr marL="71321" marR="71321" marT="35660" marB="35660" anchor="ctr">
                    <a:lnL>
                      <a:noFill/>
                    </a:lnL>
                    <a:lnR>
                      <a:noFill/>
                    </a:lnR>
                    <a:lnT>
                      <a:noFill/>
                    </a:lnT>
                    <a:lnB>
                      <a:noFill/>
                    </a:lnB>
                  </a:tcPr>
                </a:tc>
                <a:tc>
                  <a:txBody>
                    <a:bodyPr/>
                    <a:lstStyle/>
                    <a:p>
                      <a:r>
                        <a:rPr lang="en-US" sz="2200"/>
                        <a:t>First version of the GNU General Public License (GPL) released</a:t>
                      </a:r>
                    </a:p>
                  </a:txBody>
                  <a:tcPr marL="71321" marR="71321" marT="35660" marB="35660" anchor="ctr">
                    <a:lnL>
                      <a:noFill/>
                    </a:lnL>
                    <a:lnR>
                      <a:noFill/>
                    </a:lnR>
                    <a:lnT>
                      <a:noFill/>
                    </a:lnT>
                    <a:lnB>
                      <a:noFill/>
                    </a:lnB>
                  </a:tcPr>
                </a:tc>
                <a:extLst>
                  <a:ext uri="{0D108BD9-81ED-4DB2-BD59-A6C34878D82A}">
                    <a16:rowId xmlns:a16="http://schemas.microsoft.com/office/drawing/2014/main" val="904828875"/>
                  </a:ext>
                </a:extLst>
              </a:tr>
              <a:tr h="312871">
                <a:tc>
                  <a:txBody>
                    <a:bodyPr/>
                    <a:lstStyle/>
                    <a:p>
                      <a:r>
                        <a:rPr lang="en-IN" sz="2200"/>
                        <a:t>1991</a:t>
                      </a:r>
                    </a:p>
                  </a:txBody>
                  <a:tcPr marL="71321" marR="71321" marT="35660" marB="35660" anchor="ctr">
                    <a:lnL>
                      <a:noFill/>
                    </a:lnL>
                    <a:lnR>
                      <a:noFill/>
                    </a:lnR>
                    <a:lnT>
                      <a:noFill/>
                    </a:lnT>
                    <a:lnB>
                      <a:noFill/>
                    </a:lnB>
                  </a:tcPr>
                </a:tc>
                <a:tc>
                  <a:txBody>
                    <a:bodyPr/>
                    <a:lstStyle/>
                    <a:p>
                      <a:r>
                        <a:rPr lang="en-US" sz="2200"/>
                        <a:t>Linus Torvalds released the Linux kernel</a:t>
                      </a:r>
                    </a:p>
                  </a:txBody>
                  <a:tcPr marL="71321" marR="71321" marT="35660" marB="35660" anchor="ctr">
                    <a:lnL>
                      <a:noFill/>
                    </a:lnL>
                    <a:lnR>
                      <a:noFill/>
                    </a:lnR>
                    <a:lnT>
                      <a:noFill/>
                    </a:lnT>
                    <a:lnB>
                      <a:noFill/>
                    </a:lnB>
                  </a:tcPr>
                </a:tc>
                <a:extLst>
                  <a:ext uri="{0D108BD9-81ED-4DB2-BD59-A6C34878D82A}">
                    <a16:rowId xmlns:a16="http://schemas.microsoft.com/office/drawing/2014/main" val="1232787816"/>
                  </a:ext>
                </a:extLst>
              </a:tr>
              <a:tr h="312871">
                <a:tc>
                  <a:txBody>
                    <a:bodyPr/>
                    <a:lstStyle/>
                    <a:p>
                      <a:r>
                        <a:rPr lang="en-IN" sz="2200"/>
                        <a:t>1995</a:t>
                      </a:r>
                    </a:p>
                  </a:txBody>
                  <a:tcPr marL="71321" marR="71321" marT="35660" marB="35660" anchor="ctr">
                    <a:lnL>
                      <a:noFill/>
                    </a:lnL>
                    <a:lnR>
                      <a:noFill/>
                    </a:lnR>
                    <a:lnT>
                      <a:noFill/>
                    </a:lnT>
                    <a:lnB>
                      <a:noFill/>
                    </a:lnB>
                  </a:tcPr>
                </a:tc>
                <a:tc>
                  <a:txBody>
                    <a:bodyPr/>
                    <a:lstStyle/>
                    <a:p>
                      <a:r>
                        <a:rPr lang="en-US" sz="2200"/>
                        <a:t>Apache HTTP Server became a leading web server</a:t>
                      </a:r>
                    </a:p>
                  </a:txBody>
                  <a:tcPr marL="71321" marR="71321" marT="35660" marB="35660" anchor="ctr">
                    <a:lnL>
                      <a:noFill/>
                    </a:lnL>
                    <a:lnR>
                      <a:noFill/>
                    </a:lnR>
                    <a:lnT>
                      <a:noFill/>
                    </a:lnT>
                    <a:lnB>
                      <a:noFill/>
                    </a:lnB>
                  </a:tcPr>
                </a:tc>
                <a:extLst>
                  <a:ext uri="{0D108BD9-81ED-4DB2-BD59-A6C34878D82A}">
                    <a16:rowId xmlns:a16="http://schemas.microsoft.com/office/drawing/2014/main" val="1113594759"/>
                  </a:ext>
                </a:extLst>
              </a:tr>
              <a:tr h="547525">
                <a:tc>
                  <a:txBody>
                    <a:bodyPr/>
                    <a:lstStyle/>
                    <a:p>
                      <a:r>
                        <a:rPr lang="en-IN" sz="2200"/>
                        <a:t>1998</a:t>
                      </a:r>
                    </a:p>
                  </a:txBody>
                  <a:tcPr marL="71321" marR="71321" marT="35660" marB="35660" anchor="ctr">
                    <a:lnL>
                      <a:noFill/>
                    </a:lnL>
                    <a:lnR>
                      <a:noFill/>
                    </a:lnR>
                    <a:lnT>
                      <a:noFill/>
                    </a:lnT>
                    <a:lnB>
                      <a:noFill/>
                    </a:lnB>
                  </a:tcPr>
                </a:tc>
                <a:tc>
                  <a:txBody>
                    <a:bodyPr/>
                    <a:lstStyle/>
                    <a:p>
                      <a:r>
                        <a:rPr lang="en-US" sz="2200"/>
                        <a:t>Open Source Initiative (OSI) founded and the term "Open Source" popularized</a:t>
                      </a:r>
                    </a:p>
                  </a:txBody>
                  <a:tcPr marL="71321" marR="71321" marT="35660" marB="35660" anchor="ctr">
                    <a:lnL>
                      <a:noFill/>
                    </a:lnL>
                    <a:lnR>
                      <a:noFill/>
                    </a:lnR>
                    <a:lnT>
                      <a:noFill/>
                    </a:lnT>
                    <a:lnB>
                      <a:noFill/>
                    </a:lnB>
                  </a:tcPr>
                </a:tc>
                <a:extLst>
                  <a:ext uri="{0D108BD9-81ED-4DB2-BD59-A6C34878D82A}">
                    <a16:rowId xmlns:a16="http://schemas.microsoft.com/office/drawing/2014/main" val="2976844418"/>
                  </a:ext>
                </a:extLst>
              </a:tr>
              <a:tr h="312871">
                <a:tc>
                  <a:txBody>
                    <a:bodyPr/>
                    <a:lstStyle/>
                    <a:p>
                      <a:r>
                        <a:rPr lang="en-IN" sz="2200"/>
                        <a:t>2005</a:t>
                      </a:r>
                    </a:p>
                  </a:txBody>
                  <a:tcPr marL="71321" marR="71321" marT="35660" marB="35660" anchor="ctr">
                    <a:lnL>
                      <a:noFill/>
                    </a:lnL>
                    <a:lnR>
                      <a:noFill/>
                    </a:lnR>
                    <a:lnT>
                      <a:noFill/>
                    </a:lnT>
                    <a:lnB>
                      <a:noFill/>
                    </a:lnB>
                  </a:tcPr>
                </a:tc>
                <a:tc>
                  <a:txBody>
                    <a:bodyPr/>
                    <a:lstStyle/>
                    <a:p>
                      <a:r>
                        <a:rPr lang="en-US" sz="2200" dirty="0"/>
                        <a:t>Git version control system created</a:t>
                      </a:r>
                    </a:p>
                  </a:txBody>
                  <a:tcPr marL="71321" marR="71321" marT="35660" marB="35660" anchor="ctr">
                    <a:lnL>
                      <a:noFill/>
                    </a:lnL>
                    <a:lnR>
                      <a:noFill/>
                    </a:lnR>
                    <a:lnT>
                      <a:noFill/>
                    </a:lnT>
                    <a:lnB>
                      <a:noFill/>
                    </a:lnB>
                  </a:tcPr>
                </a:tc>
                <a:extLst>
                  <a:ext uri="{0D108BD9-81ED-4DB2-BD59-A6C34878D82A}">
                    <a16:rowId xmlns:a16="http://schemas.microsoft.com/office/drawing/2014/main" val="1013844382"/>
                  </a:ext>
                </a:extLst>
              </a:tr>
              <a:tr h="312871">
                <a:tc>
                  <a:txBody>
                    <a:bodyPr/>
                    <a:lstStyle/>
                    <a:p>
                      <a:r>
                        <a:rPr lang="en-IN" sz="2200"/>
                        <a:t>2008</a:t>
                      </a:r>
                    </a:p>
                  </a:txBody>
                  <a:tcPr marL="71321" marR="71321" marT="35660" marB="35660" anchor="ctr">
                    <a:lnL>
                      <a:noFill/>
                    </a:lnL>
                    <a:lnR>
                      <a:noFill/>
                    </a:lnR>
                    <a:lnT>
                      <a:noFill/>
                    </a:lnT>
                    <a:lnB>
                      <a:noFill/>
                    </a:lnB>
                  </a:tcPr>
                </a:tc>
                <a:tc>
                  <a:txBody>
                    <a:bodyPr/>
                    <a:lstStyle/>
                    <a:p>
                      <a:r>
                        <a:rPr lang="en-US" sz="2200"/>
                        <a:t>Android adopted the Linux kernel</a:t>
                      </a:r>
                    </a:p>
                  </a:txBody>
                  <a:tcPr marL="71321" marR="71321" marT="35660" marB="35660" anchor="ctr">
                    <a:lnL>
                      <a:noFill/>
                    </a:lnL>
                    <a:lnR>
                      <a:noFill/>
                    </a:lnR>
                    <a:lnT>
                      <a:noFill/>
                    </a:lnT>
                    <a:lnB>
                      <a:noFill/>
                    </a:lnB>
                  </a:tcPr>
                </a:tc>
                <a:extLst>
                  <a:ext uri="{0D108BD9-81ED-4DB2-BD59-A6C34878D82A}">
                    <a16:rowId xmlns:a16="http://schemas.microsoft.com/office/drawing/2014/main" val="3916781844"/>
                  </a:ext>
                </a:extLst>
              </a:tr>
              <a:tr h="312871">
                <a:tc>
                  <a:txBody>
                    <a:bodyPr/>
                    <a:lstStyle/>
                    <a:p>
                      <a:r>
                        <a:rPr lang="en-IN" sz="2200"/>
                        <a:t>2013</a:t>
                      </a:r>
                    </a:p>
                  </a:txBody>
                  <a:tcPr marL="71321" marR="71321" marT="35660" marB="35660" anchor="ctr">
                    <a:lnL>
                      <a:noFill/>
                    </a:lnL>
                    <a:lnR>
                      <a:noFill/>
                    </a:lnR>
                    <a:lnT>
                      <a:noFill/>
                    </a:lnT>
                    <a:lnB>
                      <a:noFill/>
                    </a:lnB>
                  </a:tcPr>
                </a:tc>
                <a:tc>
                  <a:txBody>
                    <a:bodyPr/>
                    <a:lstStyle/>
                    <a:p>
                      <a:r>
                        <a:rPr lang="en-IN" sz="2200"/>
                        <a:t>Docker popularized containerization</a:t>
                      </a:r>
                    </a:p>
                  </a:txBody>
                  <a:tcPr marL="71321" marR="71321" marT="35660" marB="35660" anchor="ctr">
                    <a:lnL>
                      <a:noFill/>
                    </a:lnL>
                    <a:lnR>
                      <a:noFill/>
                    </a:lnR>
                    <a:lnT>
                      <a:noFill/>
                    </a:lnT>
                    <a:lnB>
                      <a:noFill/>
                    </a:lnB>
                  </a:tcPr>
                </a:tc>
                <a:extLst>
                  <a:ext uri="{0D108BD9-81ED-4DB2-BD59-A6C34878D82A}">
                    <a16:rowId xmlns:a16="http://schemas.microsoft.com/office/drawing/2014/main" val="103016055"/>
                  </a:ext>
                </a:extLst>
              </a:tr>
              <a:tr h="312871">
                <a:tc>
                  <a:txBody>
                    <a:bodyPr/>
                    <a:lstStyle/>
                    <a:p>
                      <a:r>
                        <a:rPr lang="en-IN" sz="2200"/>
                        <a:t>2014</a:t>
                      </a:r>
                    </a:p>
                  </a:txBody>
                  <a:tcPr marL="71321" marR="71321" marT="35660" marB="35660" anchor="ctr">
                    <a:lnL>
                      <a:noFill/>
                    </a:lnL>
                    <a:lnR>
                      <a:noFill/>
                    </a:lnR>
                    <a:lnT>
                      <a:noFill/>
                    </a:lnT>
                    <a:lnB>
                      <a:noFill/>
                    </a:lnB>
                  </a:tcPr>
                </a:tc>
                <a:tc>
                  <a:txBody>
                    <a:bodyPr/>
                    <a:lstStyle/>
                    <a:p>
                      <a:r>
                        <a:rPr lang="en-IN" sz="2200"/>
                        <a:t>Kubernetes project introduced</a:t>
                      </a:r>
                    </a:p>
                  </a:txBody>
                  <a:tcPr marL="71321" marR="71321" marT="35660" marB="35660" anchor="ctr">
                    <a:lnL>
                      <a:noFill/>
                    </a:lnL>
                    <a:lnR>
                      <a:noFill/>
                    </a:lnR>
                    <a:lnT>
                      <a:noFill/>
                    </a:lnT>
                    <a:lnB>
                      <a:noFill/>
                    </a:lnB>
                  </a:tcPr>
                </a:tc>
                <a:extLst>
                  <a:ext uri="{0D108BD9-81ED-4DB2-BD59-A6C34878D82A}">
                    <a16:rowId xmlns:a16="http://schemas.microsoft.com/office/drawing/2014/main" val="390574232"/>
                  </a:ext>
                </a:extLst>
              </a:tr>
              <a:tr h="547525">
                <a:tc>
                  <a:txBody>
                    <a:bodyPr/>
                    <a:lstStyle/>
                    <a:p>
                      <a:r>
                        <a:rPr lang="en-IN" sz="2200"/>
                        <a:t>Present</a:t>
                      </a:r>
                    </a:p>
                  </a:txBody>
                  <a:tcPr marL="71321" marR="71321" marT="35660" marB="35660" anchor="ctr">
                    <a:lnL>
                      <a:noFill/>
                    </a:lnL>
                    <a:lnR>
                      <a:noFill/>
                    </a:lnR>
                    <a:lnT>
                      <a:noFill/>
                    </a:lnT>
                    <a:lnB>
                      <a:noFill/>
                    </a:lnB>
                  </a:tcPr>
                </a:tc>
                <a:tc>
                  <a:txBody>
                    <a:bodyPr/>
                    <a:lstStyle/>
                    <a:p>
                      <a:r>
                        <a:rPr lang="en-US" sz="2200" dirty="0"/>
                        <a:t>Open source drives cloud computing, AI, DevOps, IoT, and enterprise software</a:t>
                      </a:r>
                    </a:p>
                  </a:txBody>
                  <a:tcPr marL="71321" marR="71321" marT="35660" marB="35660" anchor="ctr">
                    <a:lnL>
                      <a:noFill/>
                    </a:lnL>
                    <a:lnR>
                      <a:noFill/>
                    </a:lnR>
                    <a:lnT>
                      <a:noFill/>
                    </a:lnT>
                    <a:lnB>
                      <a:noFill/>
                    </a:lnB>
                  </a:tcPr>
                </a:tc>
                <a:extLst>
                  <a:ext uri="{0D108BD9-81ED-4DB2-BD59-A6C34878D82A}">
                    <a16:rowId xmlns:a16="http://schemas.microsoft.com/office/drawing/2014/main" val="2466261484"/>
                  </a:ext>
                </a:extLst>
              </a:tr>
            </a:tbl>
          </a:graphicData>
        </a:graphic>
      </p:graphicFrame>
    </p:spTree>
    <p:extLst>
      <p:ext uri="{BB962C8B-B14F-4D97-AF65-F5344CB8AC3E}">
        <p14:creationId xmlns:p14="http://schemas.microsoft.com/office/powerpoint/2010/main" val="4000547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a:xfrm>
            <a:off x="838200" y="365125"/>
            <a:ext cx="2312624" cy="6154275"/>
          </a:xfrm>
        </p:spPr>
        <p:txBody>
          <a:bodyPr/>
          <a:lstStyle/>
          <a:p>
            <a:r>
              <a:rPr lang="en-US" b="1" dirty="0"/>
              <a:t>Evolution of Open Source (Flow Diagram)</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a:bodyPr>
          <a:lstStyle/>
          <a:p>
            <a:pPr algn="just"/>
            <a:endParaRPr lang="en-US" b="0" i="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BEBF5A1C-799E-4C98-A3FE-3A9BB24B65D6}"/>
              </a:ext>
            </a:extLst>
          </p:cNvPr>
          <p:cNvSpPr txBox="1"/>
          <p:nvPr/>
        </p:nvSpPr>
        <p:spPr>
          <a:xfrm>
            <a:off x="4646364" y="306566"/>
            <a:ext cx="6097836" cy="6186309"/>
          </a:xfrm>
          <a:prstGeom prst="rect">
            <a:avLst/>
          </a:prstGeom>
          <a:noFill/>
        </p:spPr>
        <p:txBody>
          <a:bodyPr wrap="square">
            <a:spAutoFit/>
          </a:bodyPr>
          <a:lstStyle/>
          <a:p>
            <a:r>
              <a:rPr lang="en-IN" b="1" dirty="0"/>
              <a:t>Early Software Sharing</a:t>
            </a:r>
          </a:p>
          <a:p>
            <a:r>
              <a:rPr lang="en-IN" b="1" dirty="0"/>
              <a:t>        │</a:t>
            </a:r>
          </a:p>
          <a:p>
            <a:r>
              <a:rPr lang="en-IN" b="1" dirty="0"/>
              <a:t>        ▼</a:t>
            </a:r>
          </a:p>
          <a:p>
            <a:r>
              <a:rPr lang="en-IN" b="1" dirty="0"/>
              <a:t>Commercial Software</a:t>
            </a:r>
          </a:p>
          <a:p>
            <a:r>
              <a:rPr lang="en-IN" b="1" dirty="0"/>
              <a:t>        │</a:t>
            </a:r>
          </a:p>
          <a:p>
            <a:r>
              <a:rPr lang="en-IN" b="1" dirty="0"/>
              <a:t>        ▼</a:t>
            </a:r>
          </a:p>
          <a:p>
            <a:r>
              <a:rPr lang="en-IN" b="1" dirty="0"/>
              <a:t>Free Software Movement</a:t>
            </a:r>
          </a:p>
          <a:p>
            <a:r>
              <a:rPr lang="en-IN" b="1" dirty="0"/>
              <a:t>        │</a:t>
            </a:r>
          </a:p>
          <a:p>
            <a:r>
              <a:rPr lang="en-IN" b="1" dirty="0"/>
              <a:t>        ▼</a:t>
            </a:r>
          </a:p>
          <a:p>
            <a:r>
              <a:rPr lang="en-IN" b="1" dirty="0"/>
              <a:t>GNU Project</a:t>
            </a:r>
          </a:p>
          <a:p>
            <a:r>
              <a:rPr lang="en-IN" b="1" dirty="0"/>
              <a:t>        │</a:t>
            </a:r>
          </a:p>
          <a:p>
            <a:r>
              <a:rPr lang="en-IN" b="1" dirty="0"/>
              <a:t>        ▼</a:t>
            </a:r>
          </a:p>
          <a:p>
            <a:r>
              <a:rPr lang="en-IN" b="1" dirty="0"/>
              <a:t>Linux Development</a:t>
            </a:r>
          </a:p>
          <a:p>
            <a:r>
              <a:rPr lang="en-IN" b="1" dirty="0"/>
              <a:t>        │</a:t>
            </a:r>
          </a:p>
          <a:p>
            <a:r>
              <a:rPr lang="en-IN" b="1" dirty="0"/>
              <a:t>        ▼</a:t>
            </a:r>
          </a:p>
          <a:p>
            <a:r>
              <a:rPr lang="en-IN" b="1" dirty="0"/>
              <a:t>Open Source Initiative</a:t>
            </a:r>
          </a:p>
          <a:p>
            <a:r>
              <a:rPr lang="en-IN" b="1" dirty="0"/>
              <a:t>        │</a:t>
            </a:r>
          </a:p>
          <a:p>
            <a:r>
              <a:rPr lang="en-IN" b="1" dirty="0"/>
              <a:t>        ▼</a:t>
            </a:r>
          </a:p>
          <a:p>
            <a:r>
              <a:rPr lang="en-IN" b="1" dirty="0"/>
              <a:t>Community Collaboration</a:t>
            </a:r>
          </a:p>
          <a:p>
            <a:r>
              <a:rPr lang="en-IN" b="1" dirty="0"/>
              <a:t>        │</a:t>
            </a:r>
          </a:p>
          <a:p>
            <a:r>
              <a:rPr lang="en-IN" b="1" dirty="0"/>
              <a:t>        ▼</a:t>
            </a:r>
          </a:p>
          <a:p>
            <a:r>
              <a:rPr lang="en-IN" b="1" dirty="0"/>
              <a:t>Cloud Computing &amp; AI</a:t>
            </a:r>
          </a:p>
        </p:txBody>
      </p:sp>
    </p:spTree>
    <p:extLst>
      <p:ext uri="{BB962C8B-B14F-4D97-AF65-F5344CB8AC3E}">
        <p14:creationId xmlns:p14="http://schemas.microsoft.com/office/powerpoint/2010/main" val="40232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Real-World Applications</a:t>
            </a:r>
            <a:endParaRPr lang="en-IN" b="1"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a:xfrm>
            <a:off x="838200" y="1440034"/>
            <a:ext cx="10515600" cy="4949748"/>
          </a:xfrm>
        </p:spPr>
        <p:txBody>
          <a:bodyPr>
            <a:normAutofit/>
          </a:bodyPr>
          <a:lstStyle/>
          <a:p>
            <a:r>
              <a:rPr lang="en-US" b="1" dirty="0"/>
              <a:t>Open source software is widely used in:</a:t>
            </a:r>
          </a:p>
          <a:p>
            <a:pPr lvl="1"/>
            <a:r>
              <a:rPr lang="en-US" dirty="0"/>
              <a:t>Web servers </a:t>
            </a:r>
          </a:p>
          <a:p>
            <a:pPr lvl="1"/>
            <a:r>
              <a:rPr lang="en-US" dirty="0"/>
              <a:t>Mobile operating systems </a:t>
            </a:r>
          </a:p>
          <a:p>
            <a:pPr lvl="1"/>
            <a:r>
              <a:rPr lang="en-US" dirty="0"/>
              <a:t>Cloud computing </a:t>
            </a:r>
          </a:p>
          <a:p>
            <a:pPr lvl="1"/>
            <a:r>
              <a:rPr lang="en-US" dirty="0"/>
              <a:t>Artificial Intelligence </a:t>
            </a:r>
          </a:p>
          <a:p>
            <a:pPr lvl="1"/>
            <a:r>
              <a:rPr lang="en-US" dirty="0"/>
              <a:t>Machine Learning </a:t>
            </a:r>
          </a:p>
          <a:p>
            <a:pPr lvl="1"/>
            <a:r>
              <a:rPr lang="en-US" dirty="0"/>
              <a:t>Cybersecurity </a:t>
            </a:r>
          </a:p>
          <a:p>
            <a:pPr lvl="1"/>
            <a:r>
              <a:rPr lang="en-US" dirty="0"/>
              <a:t>Internet of Things (IoT) </a:t>
            </a:r>
          </a:p>
          <a:p>
            <a:pPr lvl="1"/>
            <a:r>
              <a:rPr lang="en-US" dirty="0"/>
              <a:t>Database management </a:t>
            </a:r>
          </a:p>
          <a:p>
            <a:pPr lvl="1"/>
            <a:r>
              <a:rPr lang="en-US" dirty="0"/>
              <a:t>DevOps </a:t>
            </a:r>
          </a:p>
          <a:p>
            <a:pPr lvl="1"/>
            <a:r>
              <a:rPr lang="en-US" dirty="0"/>
              <a:t>Education </a:t>
            </a:r>
          </a:p>
          <a:p>
            <a:pPr lvl="1"/>
            <a:r>
              <a:rPr lang="en-US" dirty="0"/>
              <a:t>Scientific research</a:t>
            </a:r>
          </a:p>
          <a:p>
            <a:pPr algn="just"/>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221797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AAA4E19-B0F1-45B1-B571-ED154D637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0110" y="477207"/>
            <a:ext cx="8849711" cy="6707298"/>
          </a:xfrm>
        </p:spPr>
      </p:pic>
    </p:spTree>
    <p:extLst>
      <p:ext uri="{BB962C8B-B14F-4D97-AF65-F5344CB8AC3E}">
        <p14:creationId xmlns:p14="http://schemas.microsoft.com/office/powerpoint/2010/main" val="845358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Importance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20000"/>
          </a:bodyPr>
          <a:lstStyle/>
          <a:p>
            <a:pPr algn="just" fontAlgn="base"/>
            <a:r>
              <a:rPr lang="en-US" b="1" i="0" dirty="0">
                <a:solidFill>
                  <a:srgbClr val="080809"/>
                </a:solidFill>
                <a:effectLst/>
                <a:latin typeface="Times New Roman" panose="02020603050405020304" pitchFamily="18" charset="0"/>
                <a:cs typeface="Times New Roman" panose="02020603050405020304" pitchFamily="18" charset="0"/>
              </a:rPr>
              <a:t>Access to source code :</a:t>
            </a:r>
          </a:p>
          <a:p>
            <a:pPr marL="0" indent="0" algn="just" fontAlgn="base">
              <a:buNone/>
            </a:pPr>
            <a:r>
              <a:rPr lang="en-US" sz="2000" b="0" i="0" dirty="0">
                <a:solidFill>
                  <a:srgbClr val="080809"/>
                </a:solidFill>
                <a:effectLst/>
                <a:latin typeface="Times New Roman" panose="02020603050405020304" pitchFamily="18" charset="0"/>
                <a:cs typeface="Times New Roman" panose="02020603050405020304" pitchFamily="18" charset="0"/>
              </a:rPr>
              <a:t>In open-source software, the source code is freely available for users to view, modify, and distribute. This allows developers to customize the software according to their needs and contribute improvements back to the community.</a:t>
            </a:r>
          </a:p>
          <a:p>
            <a:pPr marL="0" indent="0" algn="just" fontAlgn="base">
              <a:buNone/>
            </a:pPr>
            <a:endParaRPr lang="en-US" sz="2000" dirty="0">
              <a:solidFill>
                <a:srgbClr val="080809"/>
              </a:solidFill>
              <a:latin typeface="Times New Roman" panose="02020603050405020304" pitchFamily="18" charset="0"/>
              <a:cs typeface="Times New Roman" panose="02020603050405020304" pitchFamily="18" charset="0"/>
            </a:endParaRPr>
          </a:p>
          <a:p>
            <a:pPr algn="just" fontAlgn="base"/>
            <a:r>
              <a:rPr lang="en-US" b="1" dirty="0">
                <a:solidFill>
                  <a:srgbClr val="080809"/>
                </a:solidFill>
                <a:latin typeface="Times New Roman" panose="02020603050405020304" pitchFamily="18" charset="0"/>
                <a:cs typeface="Times New Roman" panose="02020603050405020304" pitchFamily="18" charset="0"/>
              </a:rPr>
              <a:t>Availability of features :</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Closed-source software often has more features than open-source software because the companies or teams behind closed-source software have dedicated resources and expertise.</a:t>
            </a:r>
          </a:p>
          <a:p>
            <a:pPr marL="0" indent="0" algn="just" fontAlgn="base">
              <a:buNone/>
            </a:pPr>
            <a:endParaRPr lang="en-US" sz="2000" dirty="0">
              <a:solidFill>
                <a:srgbClr val="080809"/>
              </a:solidFill>
              <a:latin typeface="Times New Roman" panose="02020603050405020304" pitchFamily="18" charset="0"/>
              <a:cs typeface="Times New Roman" panose="02020603050405020304" pitchFamily="18" charset="0"/>
            </a:endParaRPr>
          </a:p>
          <a:p>
            <a:pPr algn="just" fontAlgn="base"/>
            <a:r>
              <a:rPr lang="en-US" b="1" dirty="0">
                <a:solidFill>
                  <a:srgbClr val="080809"/>
                </a:solidFill>
                <a:latin typeface="Times New Roman" panose="02020603050405020304" pitchFamily="18" charset="0"/>
                <a:cs typeface="Times New Roman" panose="02020603050405020304" pitchFamily="18" charset="0"/>
              </a:rPr>
              <a:t>Transparency of functionality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By providing transparency in functionality, open-source software promotes trust and allows users to understand how their applications work on a deeper level. They can examine every line of code and ensure no malicious activities occur within the software.</a:t>
            </a:r>
          </a:p>
          <a:p>
            <a:pPr marL="0" indent="0" algn="just" fontAlgn="base">
              <a:buNone/>
            </a:pPr>
            <a:r>
              <a:rPr lang="en-US" sz="2100" dirty="0">
                <a:solidFill>
                  <a:srgbClr val="080809"/>
                </a:solidFill>
                <a:latin typeface="PT Serif" panose="020B0604020202020204" pitchFamily="18" charset="0"/>
              </a:rPr>
              <a:t> </a:t>
            </a:r>
          </a:p>
          <a:p>
            <a:pPr marL="0" indent="0" fontAlgn="base">
              <a:buFont typeface="Arial" panose="020B0604020202020204" pitchFamily="34" charset="0"/>
              <a:buNone/>
            </a:pPr>
            <a:endParaRPr lang="en-US" b="1" dirty="0">
              <a:solidFill>
                <a:srgbClr val="080809"/>
              </a:solidFill>
              <a:latin typeface="Roboto" panose="02000000000000000000" pitchFamily="2" charset="0"/>
            </a:endParaRPr>
          </a:p>
          <a:p>
            <a:endParaRPr lang="en-IN" dirty="0"/>
          </a:p>
        </p:txBody>
      </p:sp>
    </p:spTree>
    <p:extLst>
      <p:ext uri="{BB962C8B-B14F-4D97-AF65-F5344CB8AC3E}">
        <p14:creationId xmlns:p14="http://schemas.microsoft.com/office/powerpoint/2010/main" val="503271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Importance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20000"/>
          </a:bodyPr>
          <a:lstStyle/>
          <a:p>
            <a:pPr algn="just" fontAlgn="base"/>
            <a:r>
              <a:rPr lang="en-IN" b="1" i="0" dirty="0">
                <a:solidFill>
                  <a:srgbClr val="080809"/>
                </a:solidFill>
                <a:effectLst/>
                <a:latin typeface="Roboto" panose="02000000000000000000" pitchFamily="2" charset="0"/>
              </a:rPr>
              <a:t> </a:t>
            </a:r>
            <a:r>
              <a:rPr lang="en-IN" b="1" i="0" dirty="0">
                <a:solidFill>
                  <a:srgbClr val="080809"/>
                </a:solidFill>
                <a:effectLst/>
                <a:latin typeface="Times New Roman" panose="02020603050405020304" pitchFamily="18" charset="0"/>
                <a:cs typeface="Times New Roman" panose="02020603050405020304" pitchFamily="18" charset="0"/>
              </a:rPr>
              <a:t>Availability of customer support</a:t>
            </a:r>
            <a:r>
              <a:rPr lang="en-US" b="1" i="0" dirty="0">
                <a:solidFill>
                  <a:srgbClr val="080809"/>
                </a:solidFill>
                <a:effectLst/>
                <a:latin typeface="Times New Roman" panose="02020603050405020304" pitchFamily="18" charset="0"/>
                <a:cs typeface="Times New Roman" panose="02020603050405020304" pitchFamily="18" charset="0"/>
              </a:rPr>
              <a:t>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In closed-source software, companies typically offer dedicated customer support services to assist users with any issues they may encounter. This includes access to a helpdesk or hotline where users can reach out for assistance.</a:t>
            </a: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Times New Roman" panose="02020603050405020304" pitchFamily="18" charset="0"/>
                <a:cs typeface="Times New Roman" panose="02020603050405020304" pitchFamily="18" charset="0"/>
              </a:rPr>
              <a:t>Licensing systems</a:t>
            </a:r>
            <a:r>
              <a:rPr lang="en-US" b="1" dirty="0">
                <a:solidFill>
                  <a:srgbClr val="080809"/>
                </a:solidFill>
                <a:latin typeface="Times New Roman" panose="02020603050405020304" pitchFamily="18" charset="0"/>
                <a:cs typeface="Times New Roman" panose="02020603050405020304" pitchFamily="18" charset="0"/>
              </a:rPr>
              <a:t>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Open source software is typically released under licenses that allow users to view, modify, and distribute the source code freely. The most common open-source license is the GNU General Public License (GPL), which ensures that any modifications or derivative works must also be made available as open-source.</a:t>
            </a: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Roboto" panose="02000000000000000000" pitchFamily="2" charset="0"/>
              </a:rPr>
              <a:t>Commercial usage and reusability restrictions </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Open-source software allows for unrestricted commercial use, meaning individuals or businesses can use the software for profit without any limitations. Additionally, open source software typically has no restrictions on code reuse, allowing developers to modify and distribute the code as they see fit.</a:t>
            </a:r>
          </a:p>
          <a:p>
            <a:endParaRPr lang="en-IN" dirty="0"/>
          </a:p>
        </p:txBody>
      </p:sp>
    </p:spTree>
    <p:extLst>
      <p:ext uri="{BB962C8B-B14F-4D97-AF65-F5344CB8AC3E}">
        <p14:creationId xmlns:p14="http://schemas.microsoft.com/office/powerpoint/2010/main" val="3649808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Advantages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10000"/>
          </a:bodyPr>
          <a:lstStyle/>
          <a:p>
            <a:pPr algn="l" fontAlgn="base"/>
            <a:r>
              <a:rPr lang="en-IN" b="1" i="0" dirty="0">
                <a:solidFill>
                  <a:srgbClr val="080809"/>
                </a:solidFill>
                <a:effectLst/>
                <a:latin typeface="Roboto" panose="02000000000000000000" pitchFamily="2" charset="0"/>
              </a:rPr>
              <a:t>Lower cost</a:t>
            </a:r>
            <a:r>
              <a:rPr lang="en-US" b="1" i="0" dirty="0">
                <a:solidFill>
                  <a:srgbClr val="080809"/>
                </a:solidFill>
                <a:effectLst/>
                <a:latin typeface="Times New Roman" panose="02020603050405020304" pitchFamily="18" charset="0"/>
                <a:cs typeface="Times New Roman" panose="02020603050405020304" pitchFamily="18" charset="0"/>
              </a:rPr>
              <a:t> :</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Open-source projects are typically developed and maintained by a community of volunteers who share their skills and knowledge for free. This means anyone can access and use the software without paying hefty licensing fees or upfront costs.</a:t>
            </a:r>
          </a:p>
          <a:p>
            <a:pPr algn="just" fontAlgn="base"/>
            <a:r>
              <a:rPr lang="en-IN" b="1" i="0" dirty="0">
                <a:solidFill>
                  <a:srgbClr val="080809"/>
                </a:solidFill>
                <a:effectLst/>
                <a:latin typeface="Roboto" panose="02000000000000000000" pitchFamily="2" charset="0"/>
              </a:rPr>
              <a:t>Ease of integration </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Unlike closed-source software, which often requires proprietary</a:t>
            </a:r>
            <a:r>
              <a:rPr lang="en-US" sz="2000" dirty="0">
                <a:solidFill>
                  <a:srgbClr val="080809"/>
                </a:solidFill>
                <a:latin typeface="Times New Roman" panose="02020603050405020304" pitchFamily="18" charset="0"/>
                <a:cs typeface="Times New Roman" panose="02020603050405020304" pitchFamily="18" charset="0"/>
                <a:hlinkClick r:id="rId2" tooltip="application programming interfaces (APIs)">
                  <a:extLst>
                    <a:ext uri="{A12FA001-AC4F-418D-AE19-62706E023703}">
                      <ahyp:hlinkClr xmlns:ahyp="http://schemas.microsoft.com/office/drawing/2018/hyperlinkcolor" val="tx"/>
                    </a:ext>
                  </a:extLst>
                </a:hlinkClick>
              </a:rPr>
              <a:t> application programming interfaces (APIs)</a:t>
            </a:r>
            <a:r>
              <a:rPr lang="en-US" sz="2000" dirty="0">
                <a:solidFill>
                  <a:srgbClr val="080809"/>
                </a:solidFill>
                <a:latin typeface="Times New Roman" panose="02020603050405020304" pitchFamily="18" charset="0"/>
                <a:cs typeface="Times New Roman" panose="02020603050405020304" pitchFamily="18" charset="0"/>
              </a:rPr>
              <a:t> and protocols, open-source software promotes interoperability and compatibility with other systems. </a:t>
            </a:r>
          </a:p>
          <a:p>
            <a:pPr algn="just" fontAlgn="base">
              <a:lnSpc>
                <a:spcPct val="100000"/>
              </a:lnSpc>
            </a:pPr>
            <a:r>
              <a:rPr lang="en-IN" b="1" dirty="0">
                <a:solidFill>
                  <a:srgbClr val="080809"/>
                </a:solidFill>
                <a:latin typeface="Roboto" panose="02000000000000000000" pitchFamily="2" charset="0"/>
              </a:rPr>
              <a:t>No vendor lock-in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By providing transparency in functionality, open-source software promotes trust and allows users to understand how their applications work on a deeper level. They can examine every line of code and ensure no malicious activities occur within the software.</a:t>
            </a:r>
          </a:p>
          <a:p>
            <a:pPr marL="0" indent="0" algn="just" fontAlgn="base">
              <a:buNone/>
            </a:pPr>
            <a:r>
              <a:rPr lang="en-US" sz="2100" dirty="0">
                <a:solidFill>
                  <a:srgbClr val="080809"/>
                </a:solidFill>
                <a:latin typeface="PT Serif" panose="020B0604020202020204" pitchFamily="18" charset="0"/>
              </a:rPr>
              <a:t> </a:t>
            </a:r>
          </a:p>
          <a:p>
            <a:pPr marL="0" indent="0" fontAlgn="base">
              <a:buFont typeface="Arial" panose="020B0604020202020204" pitchFamily="34" charset="0"/>
              <a:buNone/>
            </a:pPr>
            <a:endParaRPr lang="en-US" b="1" dirty="0">
              <a:solidFill>
                <a:srgbClr val="080809"/>
              </a:solidFill>
              <a:latin typeface="Roboto" panose="02000000000000000000" pitchFamily="2" charset="0"/>
            </a:endParaRPr>
          </a:p>
          <a:p>
            <a:endParaRPr lang="en-IN" dirty="0"/>
          </a:p>
        </p:txBody>
      </p:sp>
    </p:spTree>
    <p:extLst>
      <p:ext uri="{BB962C8B-B14F-4D97-AF65-F5344CB8AC3E}">
        <p14:creationId xmlns:p14="http://schemas.microsoft.com/office/powerpoint/2010/main" val="3331246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Advantages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a:bodyPr>
          <a:lstStyle/>
          <a:p>
            <a:pPr algn="l" fontAlgn="base"/>
            <a:r>
              <a:rPr lang="en-IN" b="1" i="0" dirty="0">
                <a:solidFill>
                  <a:srgbClr val="080809"/>
                </a:solidFill>
                <a:effectLst/>
                <a:latin typeface="Roboto" panose="02000000000000000000" pitchFamily="2" charset="0"/>
              </a:rPr>
              <a:t>Greater flexibility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Developers have access to the underlying source code, giving them the freedom to make any necessary changes or enhancements. </a:t>
            </a:r>
            <a:endParaRPr lang="en-IN"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Roboto" panose="02000000000000000000" pitchFamily="2" charset="0"/>
              </a:rPr>
              <a:t>The power of community</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Unlike closed-source software, where development and improvement are limited to a specific team or company, open-source projects benefit from a global community of developers, users, and enthusiasts. </a:t>
            </a:r>
          </a:p>
          <a:p>
            <a:pPr algn="just" fontAlgn="base"/>
            <a:r>
              <a:rPr lang="en-US" b="1" dirty="0">
                <a:solidFill>
                  <a:srgbClr val="080809"/>
                </a:solidFill>
                <a:latin typeface="Roboto" panose="02000000000000000000" pitchFamily="2" charset="0"/>
              </a:rPr>
              <a:t>Transparent source code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 Strong community support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 Better security through peer review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 Faster innovation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 Platform independence </a:t>
            </a:r>
          </a:p>
          <a:p>
            <a:pPr algn="just" fontAlgn="base"/>
            <a:endParaRPr lang="en-US" b="1" dirty="0">
              <a:solidFill>
                <a:srgbClr val="080809"/>
              </a:solidFill>
              <a:latin typeface="Roboto" panose="02000000000000000000" pitchFamily="2" charset="0"/>
            </a:endParaRPr>
          </a:p>
          <a:p>
            <a:pPr algn="just" fontAlgn="base"/>
            <a:endParaRPr lang="en-US" b="1" dirty="0">
              <a:solidFill>
                <a:srgbClr val="080809"/>
              </a:solidFill>
              <a:latin typeface="Roboto" panose="02000000000000000000" pitchFamily="2" charset="0"/>
            </a:endParaRP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88165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US" b="1" dirty="0"/>
              <a:t>Limitations of Open Source Software</a:t>
            </a:r>
          </a:p>
        </p:txBody>
      </p:sp>
      <p:sp>
        <p:nvSpPr>
          <p:cNvPr id="4" name="Rectangle 1">
            <a:extLst>
              <a:ext uri="{FF2B5EF4-FFF2-40B4-BE49-F238E27FC236}">
                <a16:creationId xmlns:a16="http://schemas.microsoft.com/office/drawing/2014/main" id="{27FE6153-530D-4E1A-AEC3-C929C445A1B5}"/>
              </a:ext>
            </a:extLst>
          </p:cNvPr>
          <p:cNvSpPr>
            <a:spLocks noGrp="1" noChangeArrowheads="1"/>
          </p:cNvSpPr>
          <p:nvPr>
            <p:ph idx="1"/>
          </p:nvPr>
        </p:nvSpPr>
        <p:spPr bwMode="auto">
          <a:xfrm>
            <a:off x="959386" y="1829187"/>
            <a:ext cx="907331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Limited official support for some projects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Documentation quality may vary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Steeper learning curve for beginners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Compatibility issues with proprietary software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Community support depends on project activity </a:t>
            </a:r>
          </a:p>
        </p:txBody>
      </p:sp>
    </p:spTree>
    <p:extLst>
      <p:ext uri="{BB962C8B-B14F-4D97-AF65-F5344CB8AC3E}">
        <p14:creationId xmlns:p14="http://schemas.microsoft.com/office/powerpoint/2010/main" val="1254727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64813"/>
            <a:ext cx="10515600" cy="516224"/>
          </a:xfrm>
        </p:spPr>
        <p:txBody>
          <a:bodyPr>
            <a:normAutofit fontScale="90000"/>
          </a:bodyPr>
          <a:lstStyle/>
          <a:p>
            <a:r>
              <a:rPr lang="en-IN" b="1" i="0" dirty="0">
                <a:solidFill>
                  <a:srgbClr val="273239"/>
                </a:solidFill>
                <a:effectLst/>
                <a:latin typeface="Nunito" pitchFamily="2" charset="0"/>
              </a:rPr>
              <a:t>Key Terms</a:t>
            </a:r>
            <a:endParaRPr lang="en-IN" dirty="0"/>
          </a:p>
        </p:txBody>
      </p:sp>
      <p:graphicFrame>
        <p:nvGraphicFramePr>
          <p:cNvPr id="4" name="Content Placeholder 3">
            <a:extLst>
              <a:ext uri="{FF2B5EF4-FFF2-40B4-BE49-F238E27FC236}">
                <a16:creationId xmlns:a16="http://schemas.microsoft.com/office/drawing/2014/main" id="{8CEF36BF-2271-4DBB-99C8-80B58ABEA3EA}"/>
              </a:ext>
            </a:extLst>
          </p:cNvPr>
          <p:cNvGraphicFramePr>
            <a:graphicFrameLocks noGrp="1"/>
          </p:cNvGraphicFramePr>
          <p:nvPr>
            <p:ph idx="1"/>
          </p:nvPr>
        </p:nvGraphicFramePr>
        <p:xfrm>
          <a:off x="838200" y="681037"/>
          <a:ext cx="10515600" cy="6262520"/>
        </p:xfrm>
        <a:graphic>
          <a:graphicData uri="http://schemas.openxmlformats.org/drawingml/2006/table">
            <a:tbl>
              <a:tblPr/>
              <a:tblGrid>
                <a:gridCol w="2753299">
                  <a:extLst>
                    <a:ext uri="{9D8B030D-6E8A-4147-A177-3AD203B41FA5}">
                      <a16:colId xmlns:a16="http://schemas.microsoft.com/office/drawing/2014/main" val="3559952184"/>
                    </a:ext>
                  </a:extLst>
                </a:gridCol>
                <a:gridCol w="7762301">
                  <a:extLst>
                    <a:ext uri="{9D8B030D-6E8A-4147-A177-3AD203B41FA5}">
                      <a16:colId xmlns:a16="http://schemas.microsoft.com/office/drawing/2014/main" val="302366293"/>
                    </a:ext>
                  </a:extLst>
                </a:gridCol>
              </a:tblGrid>
              <a:tr h="572585">
                <a:tc>
                  <a:txBody>
                    <a:bodyPr/>
                    <a:lstStyle/>
                    <a:p>
                      <a:r>
                        <a:rPr lang="en-IN" sz="2400" b="1" dirty="0"/>
                        <a:t>Term</a:t>
                      </a:r>
                    </a:p>
                  </a:txBody>
                  <a:tcPr anchor="ctr">
                    <a:lnL>
                      <a:noFill/>
                    </a:lnL>
                    <a:lnR>
                      <a:noFill/>
                    </a:lnR>
                    <a:lnT>
                      <a:noFill/>
                    </a:lnT>
                    <a:lnB>
                      <a:noFill/>
                    </a:lnB>
                  </a:tcPr>
                </a:tc>
                <a:tc>
                  <a:txBody>
                    <a:bodyPr/>
                    <a:lstStyle/>
                    <a:p>
                      <a:r>
                        <a:rPr lang="en-IN" sz="2400" b="1" dirty="0"/>
                        <a:t>Meaning</a:t>
                      </a:r>
                    </a:p>
                  </a:txBody>
                  <a:tcPr anchor="ctr">
                    <a:lnL>
                      <a:noFill/>
                    </a:lnL>
                    <a:lnR>
                      <a:noFill/>
                    </a:lnR>
                    <a:lnT>
                      <a:noFill/>
                    </a:lnT>
                    <a:lnB>
                      <a:noFill/>
                    </a:lnB>
                  </a:tcPr>
                </a:tc>
                <a:extLst>
                  <a:ext uri="{0D108BD9-81ED-4DB2-BD59-A6C34878D82A}">
                    <a16:rowId xmlns:a16="http://schemas.microsoft.com/office/drawing/2014/main" val="6278834"/>
                  </a:ext>
                </a:extLst>
              </a:tr>
              <a:tr h="572585">
                <a:tc>
                  <a:txBody>
                    <a:bodyPr/>
                    <a:lstStyle/>
                    <a:p>
                      <a:r>
                        <a:rPr lang="en-IN" sz="2400" dirty="0"/>
                        <a:t>Source Code</a:t>
                      </a:r>
                    </a:p>
                  </a:txBody>
                  <a:tcPr anchor="ctr">
                    <a:lnL>
                      <a:noFill/>
                    </a:lnL>
                    <a:lnR>
                      <a:noFill/>
                    </a:lnR>
                    <a:lnT>
                      <a:noFill/>
                    </a:lnT>
                    <a:lnB>
                      <a:noFill/>
                    </a:lnB>
                  </a:tcPr>
                </a:tc>
                <a:tc>
                  <a:txBody>
                    <a:bodyPr/>
                    <a:lstStyle/>
                    <a:p>
                      <a:r>
                        <a:rPr lang="en-IN" sz="2400"/>
                        <a:t>Human-readable program code</a:t>
                      </a:r>
                    </a:p>
                  </a:txBody>
                  <a:tcPr anchor="ctr">
                    <a:lnL>
                      <a:noFill/>
                    </a:lnL>
                    <a:lnR>
                      <a:noFill/>
                    </a:lnR>
                    <a:lnT>
                      <a:noFill/>
                    </a:lnT>
                    <a:lnB>
                      <a:noFill/>
                    </a:lnB>
                  </a:tcPr>
                </a:tc>
                <a:extLst>
                  <a:ext uri="{0D108BD9-81ED-4DB2-BD59-A6C34878D82A}">
                    <a16:rowId xmlns:a16="http://schemas.microsoft.com/office/drawing/2014/main" val="4229164317"/>
                  </a:ext>
                </a:extLst>
              </a:tr>
              <a:tr h="572585">
                <a:tc>
                  <a:txBody>
                    <a:bodyPr/>
                    <a:lstStyle/>
                    <a:p>
                      <a:r>
                        <a:rPr lang="en-IN" sz="2400" dirty="0"/>
                        <a:t>Open Source</a:t>
                      </a:r>
                    </a:p>
                  </a:txBody>
                  <a:tcPr anchor="ctr">
                    <a:lnL>
                      <a:noFill/>
                    </a:lnL>
                    <a:lnR>
                      <a:noFill/>
                    </a:lnR>
                    <a:lnT>
                      <a:noFill/>
                    </a:lnT>
                    <a:lnB>
                      <a:noFill/>
                    </a:lnB>
                  </a:tcPr>
                </a:tc>
                <a:tc>
                  <a:txBody>
                    <a:bodyPr/>
                    <a:lstStyle/>
                    <a:p>
                      <a:r>
                        <a:rPr lang="en-US" sz="2400"/>
                        <a:t>Software with publicly available source code</a:t>
                      </a:r>
                    </a:p>
                  </a:txBody>
                  <a:tcPr anchor="ctr">
                    <a:lnL>
                      <a:noFill/>
                    </a:lnL>
                    <a:lnR>
                      <a:noFill/>
                    </a:lnR>
                    <a:lnT>
                      <a:noFill/>
                    </a:lnT>
                    <a:lnB>
                      <a:noFill/>
                    </a:lnB>
                  </a:tcPr>
                </a:tc>
                <a:extLst>
                  <a:ext uri="{0D108BD9-81ED-4DB2-BD59-A6C34878D82A}">
                    <a16:rowId xmlns:a16="http://schemas.microsoft.com/office/drawing/2014/main" val="1932280762"/>
                  </a:ext>
                </a:extLst>
              </a:tr>
              <a:tr h="572585">
                <a:tc>
                  <a:txBody>
                    <a:bodyPr/>
                    <a:lstStyle/>
                    <a:p>
                      <a:r>
                        <a:rPr lang="en-IN" sz="2400"/>
                        <a:t>Proprietary Software</a:t>
                      </a:r>
                    </a:p>
                  </a:txBody>
                  <a:tcPr anchor="ctr">
                    <a:lnL>
                      <a:noFill/>
                    </a:lnL>
                    <a:lnR>
                      <a:noFill/>
                    </a:lnR>
                    <a:lnT>
                      <a:noFill/>
                    </a:lnT>
                    <a:lnB>
                      <a:noFill/>
                    </a:lnB>
                  </a:tcPr>
                </a:tc>
                <a:tc>
                  <a:txBody>
                    <a:bodyPr/>
                    <a:lstStyle/>
                    <a:p>
                      <a:r>
                        <a:rPr lang="en-US" sz="2400"/>
                        <a:t>Software with closed source code</a:t>
                      </a:r>
                    </a:p>
                  </a:txBody>
                  <a:tcPr anchor="ctr">
                    <a:lnL>
                      <a:noFill/>
                    </a:lnL>
                    <a:lnR>
                      <a:noFill/>
                    </a:lnR>
                    <a:lnT>
                      <a:noFill/>
                    </a:lnT>
                    <a:lnB>
                      <a:noFill/>
                    </a:lnB>
                  </a:tcPr>
                </a:tc>
                <a:extLst>
                  <a:ext uri="{0D108BD9-81ED-4DB2-BD59-A6C34878D82A}">
                    <a16:rowId xmlns:a16="http://schemas.microsoft.com/office/drawing/2014/main" val="3742387130"/>
                  </a:ext>
                </a:extLst>
              </a:tr>
              <a:tr h="572585">
                <a:tc>
                  <a:txBody>
                    <a:bodyPr/>
                    <a:lstStyle/>
                    <a:p>
                      <a:r>
                        <a:rPr lang="en-IN" sz="2400"/>
                        <a:t>License</a:t>
                      </a:r>
                    </a:p>
                  </a:txBody>
                  <a:tcPr anchor="ctr">
                    <a:lnL>
                      <a:noFill/>
                    </a:lnL>
                    <a:lnR>
                      <a:noFill/>
                    </a:lnR>
                    <a:lnT>
                      <a:noFill/>
                    </a:lnT>
                    <a:lnB>
                      <a:noFill/>
                    </a:lnB>
                  </a:tcPr>
                </a:tc>
                <a:tc>
                  <a:txBody>
                    <a:bodyPr/>
                    <a:lstStyle/>
                    <a:p>
                      <a:r>
                        <a:rPr lang="en-US" sz="2400"/>
                        <a:t>Legal terms governing software use and distribution</a:t>
                      </a:r>
                    </a:p>
                  </a:txBody>
                  <a:tcPr anchor="ctr">
                    <a:lnL>
                      <a:noFill/>
                    </a:lnL>
                    <a:lnR>
                      <a:noFill/>
                    </a:lnR>
                    <a:lnT>
                      <a:noFill/>
                    </a:lnT>
                    <a:lnB>
                      <a:noFill/>
                    </a:lnB>
                  </a:tcPr>
                </a:tc>
                <a:extLst>
                  <a:ext uri="{0D108BD9-81ED-4DB2-BD59-A6C34878D82A}">
                    <a16:rowId xmlns:a16="http://schemas.microsoft.com/office/drawing/2014/main" val="2703140166"/>
                  </a:ext>
                </a:extLst>
              </a:tr>
              <a:tr h="1002025">
                <a:tc>
                  <a:txBody>
                    <a:bodyPr/>
                    <a:lstStyle/>
                    <a:p>
                      <a:r>
                        <a:rPr lang="en-IN" sz="2400"/>
                        <a:t>GPL</a:t>
                      </a:r>
                    </a:p>
                  </a:txBody>
                  <a:tcPr anchor="ctr">
                    <a:lnL>
                      <a:noFill/>
                    </a:lnL>
                    <a:lnR>
                      <a:noFill/>
                    </a:lnR>
                    <a:lnT>
                      <a:noFill/>
                    </a:lnT>
                    <a:lnB>
                      <a:noFill/>
                    </a:lnB>
                  </a:tcPr>
                </a:tc>
                <a:tc>
                  <a:txBody>
                    <a:bodyPr/>
                    <a:lstStyle/>
                    <a:p>
                      <a:r>
                        <a:rPr lang="en-US" sz="2400"/>
                        <a:t>A copyleft license requiring derivatives to remain open source</a:t>
                      </a:r>
                    </a:p>
                  </a:txBody>
                  <a:tcPr anchor="ctr">
                    <a:lnL>
                      <a:noFill/>
                    </a:lnL>
                    <a:lnR>
                      <a:noFill/>
                    </a:lnR>
                    <a:lnT>
                      <a:noFill/>
                    </a:lnT>
                    <a:lnB>
                      <a:noFill/>
                    </a:lnB>
                  </a:tcPr>
                </a:tc>
                <a:extLst>
                  <a:ext uri="{0D108BD9-81ED-4DB2-BD59-A6C34878D82A}">
                    <a16:rowId xmlns:a16="http://schemas.microsoft.com/office/drawing/2014/main" val="2744114030"/>
                  </a:ext>
                </a:extLst>
              </a:tr>
              <a:tr h="572585">
                <a:tc>
                  <a:txBody>
                    <a:bodyPr/>
                    <a:lstStyle/>
                    <a:p>
                      <a:r>
                        <a:rPr lang="en-IN" sz="2400"/>
                        <a:t>Community</a:t>
                      </a:r>
                    </a:p>
                  </a:txBody>
                  <a:tcPr anchor="ctr">
                    <a:lnL>
                      <a:noFill/>
                    </a:lnL>
                    <a:lnR>
                      <a:noFill/>
                    </a:lnR>
                    <a:lnT>
                      <a:noFill/>
                    </a:lnT>
                    <a:lnB>
                      <a:noFill/>
                    </a:lnB>
                  </a:tcPr>
                </a:tc>
                <a:tc>
                  <a:txBody>
                    <a:bodyPr/>
                    <a:lstStyle/>
                    <a:p>
                      <a:r>
                        <a:rPr lang="en-US" sz="2400"/>
                        <a:t>Developers and users contributing to a project</a:t>
                      </a:r>
                    </a:p>
                  </a:txBody>
                  <a:tcPr anchor="ctr">
                    <a:lnL>
                      <a:noFill/>
                    </a:lnL>
                    <a:lnR>
                      <a:noFill/>
                    </a:lnR>
                    <a:lnT>
                      <a:noFill/>
                    </a:lnT>
                    <a:lnB>
                      <a:noFill/>
                    </a:lnB>
                  </a:tcPr>
                </a:tc>
                <a:extLst>
                  <a:ext uri="{0D108BD9-81ED-4DB2-BD59-A6C34878D82A}">
                    <a16:rowId xmlns:a16="http://schemas.microsoft.com/office/drawing/2014/main" val="2153582863"/>
                  </a:ext>
                </a:extLst>
              </a:tr>
              <a:tr h="1002025">
                <a:tc>
                  <a:txBody>
                    <a:bodyPr/>
                    <a:lstStyle/>
                    <a:p>
                      <a:r>
                        <a:rPr lang="en-IN" sz="2400"/>
                        <a:t>Fork</a:t>
                      </a:r>
                    </a:p>
                  </a:txBody>
                  <a:tcPr anchor="ctr">
                    <a:lnL>
                      <a:noFill/>
                    </a:lnL>
                    <a:lnR>
                      <a:noFill/>
                    </a:lnR>
                    <a:lnT>
                      <a:noFill/>
                    </a:lnT>
                    <a:lnB>
                      <a:noFill/>
                    </a:lnB>
                  </a:tcPr>
                </a:tc>
                <a:tc>
                  <a:txBody>
                    <a:bodyPr/>
                    <a:lstStyle/>
                    <a:p>
                      <a:r>
                        <a:rPr lang="en-US" sz="2400"/>
                        <a:t>A new project created by copying and modifying an existing project</a:t>
                      </a:r>
                    </a:p>
                  </a:txBody>
                  <a:tcPr anchor="ctr">
                    <a:lnL>
                      <a:noFill/>
                    </a:lnL>
                    <a:lnR>
                      <a:noFill/>
                    </a:lnR>
                    <a:lnT>
                      <a:noFill/>
                    </a:lnT>
                    <a:lnB>
                      <a:noFill/>
                    </a:lnB>
                  </a:tcPr>
                </a:tc>
                <a:extLst>
                  <a:ext uri="{0D108BD9-81ED-4DB2-BD59-A6C34878D82A}">
                    <a16:rowId xmlns:a16="http://schemas.microsoft.com/office/drawing/2014/main" val="905610186"/>
                  </a:ext>
                </a:extLst>
              </a:tr>
              <a:tr h="572585">
                <a:tc>
                  <a:txBody>
                    <a:bodyPr/>
                    <a:lstStyle/>
                    <a:p>
                      <a:r>
                        <a:rPr lang="en-IN" sz="2400"/>
                        <a:t>Repository</a:t>
                      </a:r>
                    </a:p>
                  </a:txBody>
                  <a:tcPr anchor="ctr">
                    <a:lnL>
                      <a:noFill/>
                    </a:lnL>
                    <a:lnR>
                      <a:noFill/>
                    </a:lnR>
                    <a:lnT>
                      <a:noFill/>
                    </a:lnT>
                    <a:lnB>
                      <a:noFill/>
                    </a:lnB>
                  </a:tcPr>
                </a:tc>
                <a:tc>
                  <a:txBody>
                    <a:bodyPr/>
                    <a:lstStyle/>
                    <a:p>
                      <a:r>
                        <a:rPr lang="en-US" sz="2400" dirty="0"/>
                        <a:t>A storage location for source code and project files</a:t>
                      </a:r>
                    </a:p>
                  </a:txBody>
                  <a:tcPr anchor="ctr">
                    <a:lnL>
                      <a:noFill/>
                    </a:lnL>
                    <a:lnR>
                      <a:noFill/>
                    </a:lnR>
                    <a:lnT>
                      <a:noFill/>
                    </a:lnT>
                    <a:lnB>
                      <a:noFill/>
                    </a:lnB>
                  </a:tcPr>
                </a:tc>
                <a:extLst>
                  <a:ext uri="{0D108BD9-81ED-4DB2-BD59-A6C34878D82A}">
                    <a16:rowId xmlns:a16="http://schemas.microsoft.com/office/drawing/2014/main" val="1139624170"/>
                  </a:ext>
                </a:extLst>
              </a:tr>
            </a:tbl>
          </a:graphicData>
        </a:graphic>
      </p:graphicFrame>
    </p:spTree>
    <p:extLst>
      <p:ext uri="{BB962C8B-B14F-4D97-AF65-F5344CB8AC3E}">
        <p14:creationId xmlns:p14="http://schemas.microsoft.com/office/powerpoint/2010/main" val="1570588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F454-94A0-4F11-8B32-88A2AC220080}"/>
              </a:ext>
            </a:extLst>
          </p:cNvPr>
          <p:cNvSpPr>
            <a:spLocks noGrp="1"/>
          </p:cNvSpPr>
          <p:nvPr>
            <p:ph type="title"/>
          </p:nvPr>
        </p:nvSpPr>
        <p:spPr/>
        <p:txBody>
          <a:bodyPr/>
          <a:lstStyle/>
          <a:p>
            <a:r>
              <a:rPr lang="en-IN" b="1" i="0" dirty="0">
                <a:solidFill>
                  <a:srgbClr val="273239"/>
                </a:solidFill>
                <a:effectLst/>
                <a:latin typeface="Nunito" pitchFamily="2" charset="0"/>
              </a:rPr>
              <a:t>Open-source community and Contributions :</a:t>
            </a:r>
            <a:endParaRPr lang="en-IN" dirty="0"/>
          </a:p>
        </p:txBody>
      </p:sp>
      <p:sp>
        <p:nvSpPr>
          <p:cNvPr id="3" name="Content Placeholder 2">
            <a:extLst>
              <a:ext uri="{FF2B5EF4-FFF2-40B4-BE49-F238E27FC236}">
                <a16:creationId xmlns:a16="http://schemas.microsoft.com/office/drawing/2014/main" id="{2C7E9479-8EBC-417D-9B12-D23994AC920A}"/>
              </a:ext>
            </a:extLst>
          </p:cNvPr>
          <p:cNvSpPr>
            <a:spLocks noGrp="1"/>
          </p:cNvSpPr>
          <p:nvPr>
            <p:ph idx="1"/>
          </p:nvPr>
        </p:nvSpPr>
        <p:spPr/>
        <p:txBody>
          <a:bodyPr>
            <a:normAutofit fontScale="55000" lnSpcReduction="20000"/>
          </a:bodyPr>
          <a:lstStyle/>
          <a:p>
            <a:pPr algn="just" fontAlgn="base"/>
            <a:r>
              <a:rPr lang="en-US" sz="4700" dirty="0">
                <a:effectLst/>
              </a:rPr>
              <a:t>The </a:t>
            </a:r>
            <a:r>
              <a:rPr lang="en-US" sz="4700" b="1" dirty="0">
                <a:effectLst/>
              </a:rPr>
              <a:t>open-source community</a:t>
            </a:r>
            <a:r>
              <a:rPr lang="en-US" sz="4700" dirty="0">
                <a:effectLst/>
              </a:rPr>
              <a:t> is a worldwide community of programmers and software developers who are continuously working on various open-source projects to make our lives better. This community is self-governing and self-organizing, there are no executives to make the decisions solely. This community plays a very crucial role in the sustainability of various open-source organizations.</a:t>
            </a:r>
          </a:p>
          <a:p>
            <a:pPr marL="0" indent="0" algn="just" fontAlgn="base">
              <a:buNone/>
            </a:pPr>
            <a:endParaRPr lang="en-US" sz="4700" dirty="0">
              <a:effectLst/>
            </a:endParaRPr>
          </a:p>
          <a:p>
            <a:pPr algn="just" fontAlgn="base"/>
            <a:r>
              <a:rPr lang="en-US" sz="4700" dirty="0">
                <a:effectLst/>
              </a:rPr>
              <a:t>The contributions made in any open-source project that improves its usability are called </a:t>
            </a:r>
            <a:r>
              <a:rPr lang="en-US" sz="4700" b="1" dirty="0">
                <a:effectLst/>
              </a:rPr>
              <a:t>open-source contributions</a:t>
            </a:r>
            <a:r>
              <a:rPr lang="en-US" sz="4700" dirty="0">
                <a:effectLst/>
              </a:rPr>
              <a:t>. These contributions can be of any form not only some software codes we can work on improving its </a:t>
            </a:r>
            <a:r>
              <a:rPr lang="en-US" sz="4700" b="1" dirty="0">
                <a:effectLst/>
              </a:rPr>
              <a:t>documentation</a:t>
            </a:r>
            <a:r>
              <a:rPr lang="en-US" sz="4700" dirty="0">
                <a:effectLst/>
              </a:rPr>
              <a:t>, improving its </a:t>
            </a:r>
            <a:r>
              <a:rPr lang="en-US" sz="4700" b="1" dirty="0">
                <a:effectLst/>
              </a:rPr>
              <a:t>UI/UX (user interface and design)</a:t>
            </a:r>
            <a:r>
              <a:rPr lang="en-US" sz="4700" dirty="0">
                <a:effectLst/>
              </a:rPr>
              <a:t>, organizing meetups, or finding new collaborators.</a:t>
            </a:r>
          </a:p>
          <a:p>
            <a:pPr marL="0" indent="0">
              <a:buNone/>
            </a:pPr>
            <a:br>
              <a:rPr lang="en-US" dirty="0">
                <a:effectLst/>
              </a:rPr>
            </a:br>
            <a:endParaRPr lang="en-IN" dirty="0"/>
          </a:p>
        </p:txBody>
      </p:sp>
    </p:spTree>
    <p:extLst>
      <p:ext uri="{BB962C8B-B14F-4D97-AF65-F5344CB8AC3E}">
        <p14:creationId xmlns:p14="http://schemas.microsoft.com/office/powerpoint/2010/main" val="1404701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F454-94A0-4F11-8B32-88A2AC220080}"/>
              </a:ext>
            </a:extLst>
          </p:cNvPr>
          <p:cNvSpPr>
            <a:spLocks noGrp="1"/>
          </p:cNvSpPr>
          <p:nvPr>
            <p:ph type="title"/>
          </p:nvPr>
        </p:nvSpPr>
        <p:spPr/>
        <p:txBody>
          <a:bodyPr/>
          <a:lstStyle/>
          <a:p>
            <a:r>
              <a:rPr lang="en-IN" b="1" i="0" dirty="0">
                <a:solidFill>
                  <a:srgbClr val="273239"/>
                </a:solidFill>
                <a:effectLst/>
                <a:latin typeface="Nunito" pitchFamily="2" charset="0"/>
              </a:rPr>
              <a:t>Open-source community and Contributions :</a:t>
            </a:r>
            <a:endParaRPr lang="en-IN" dirty="0"/>
          </a:p>
        </p:txBody>
      </p:sp>
      <p:sp>
        <p:nvSpPr>
          <p:cNvPr id="3" name="Content Placeholder 2">
            <a:extLst>
              <a:ext uri="{FF2B5EF4-FFF2-40B4-BE49-F238E27FC236}">
                <a16:creationId xmlns:a16="http://schemas.microsoft.com/office/drawing/2014/main" id="{2C7E9479-8EBC-417D-9B12-D23994AC920A}"/>
              </a:ext>
            </a:extLst>
          </p:cNvPr>
          <p:cNvSpPr>
            <a:spLocks noGrp="1"/>
          </p:cNvSpPr>
          <p:nvPr>
            <p:ph idx="1"/>
          </p:nvPr>
        </p:nvSpPr>
        <p:spPr/>
        <p:txBody>
          <a:bodyPr>
            <a:normAutofit lnSpcReduction="10000"/>
          </a:bodyPr>
          <a:lstStyle/>
          <a:p>
            <a:r>
              <a:rPr lang="en-US" sz="3600" dirty="0"/>
              <a:t>The community works together by:</a:t>
            </a:r>
          </a:p>
          <a:p>
            <a:pPr lvl="1"/>
            <a:r>
              <a:rPr lang="en-US" sz="3200" dirty="0"/>
              <a:t>Sharing knowledge </a:t>
            </a:r>
          </a:p>
          <a:p>
            <a:pPr lvl="1"/>
            <a:r>
              <a:rPr lang="en-US" sz="3200" dirty="0"/>
              <a:t>Writing and reviewing code </a:t>
            </a:r>
          </a:p>
          <a:p>
            <a:pPr lvl="1"/>
            <a:r>
              <a:rPr lang="en-US" sz="3200" dirty="0"/>
              <a:t>Reporting and fixing bugs </a:t>
            </a:r>
          </a:p>
          <a:p>
            <a:pPr lvl="1"/>
            <a:r>
              <a:rPr lang="en-US" sz="3200" dirty="0"/>
              <a:t>Improving documentation </a:t>
            </a:r>
          </a:p>
          <a:p>
            <a:pPr lvl="1"/>
            <a:r>
              <a:rPr lang="en-US" sz="3200" dirty="0"/>
              <a:t>Translating software into different languages </a:t>
            </a:r>
          </a:p>
          <a:p>
            <a:pPr lvl="1"/>
            <a:r>
              <a:rPr lang="en-US" sz="3200" dirty="0"/>
              <a:t>Helping users through discussions and forums</a:t>
            </a:r>
          </a:p>
          <a:p>
            <a:pPr marL="0" indent="0">
              <a:buNone/>
            </a:pPr>
            <a:br>
              <a:rPr lang="en-US" dirty="0">
                <a:effectLst/>
              </a:rPr>
            </a:br>
            <a:endParaRPr lang="en-IN" dirty="0"/>
          </a:p>
        </p:txBody>
      </p:sp>
    </p:spTree>
    <p:extLst>
      <p:ext uri="{BB962C8B-B14F-4D97-AF65-F5344CB8AC3E}">
        <p14:creationId xmlns:p14="http://schemas.microsoft.com/office/powerpoint/2010/main" val="2475803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normAutofit/>
          </a:bodyPr>
          <a:lstStyle/>
          <a:p>
            <a:r>
              <a:rPr lang="en-US" sz="3600" b="1" i="0" dirty="0">
                <a:solidFill>
                  <a:srgbClr val="273239"/>
                </a:solidFill>
                <a:effectLst/>
                <a:latin typeface="Nunito" pitchFamily="2" charset="0"/>
              </a:rPr>
              <a:t>Characteristics of an Open-Source Community</a:t>
            </a:r>
            <a:endParaRPr lang="en-IN" sz="3600"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690688"/>
            <a:ext cx="10515600" cy="4802187"/>
          </a:xfrm>
        </p:spPr>
        <p:txBody>
          <a:bodyPr>
            <a:normAutofit lnSpcReduction="10000"/>
          </a:bodyPr>
          <a:lstStyle/>
          <a:p>
            <a:pPr algn="just"/>
            <a:r>
              <a:rPr lang="en-US" sz="3200" b="1" dirty="0"/>
              <a:t>1. Collaboration</a:t>
            </a:r>
          </a:p>
          <a:p>
            <a:pPr lvl="1" algn="just"/>
            <a:r>
              <a:rPr lang="en-US" sz="2800" dirty="0"/>
              <a:t>Members work together regardless of geographical location.</a:t>
            </a:r>
          </a:p>
          <a:p>
            <a:pPr algn="just"/>
            <a:r>
              <a:rPr lang="en-US" sz="3200" b="1" dirty="0"/>
              <a:t>2. Transparency</a:t>
            </a:r>
          </a:p>
          <a:p>
            <a:pPr lvl="1" algn="just"/>
            <a:r>
              <a:rPr lang="en-US" sz="2800" dirty="0"/>
              <a:t>Development activities, discussions, and source code are openly accessible.</a:t>
            </a:r>
          </a:p>
          <a:p>
            <a:pPr algn="just"/>
            <a:r>
              <a:rPr lang="en-US" sz="3200" b="1" dirty="0"/>
              <a:t>3. Merit-Based Participation</a:t>
            </a:r>
          </a:p>
          <a:p>
            <a:pPr lvl="1" algn="just"/>
            <a:r>
              <a:rPr lang="en-US" sz="2800" dirty="0"/>
              <a:t>Contributors are recognized based on the quality of their work rather than their position or title.</a:t>
            </a:r>
          </a:p>
          <a:p>
            <a:pPr algn="just"/>
            <a:r>
              <a:rPr lang="en-US" sz="3200" b="1" dirty="0"/>
              <a:t>4. Diversity</a:t>
            </a:r>
          </a:p>
          <a:p>
            <a:pPr lvl="1" algn="just"/>
            <a:r>
              <a:rPr lang="en-US" sz="2800" dirty="0"/>
              <a:t>People with different technical skills, experiences, and backgrounds contribute to the project.</a:t>
            </a:r>
          </a:p>
          <a:p>
            <a:pPr algn="just"/>
            <a:endParaRPr lang="en-IN" sz="3200" dirty="0"/>
          </a:p>
        </p:txBody>
      </p:sp>
    </p:spTree>
    <p:extLst>
      <p:ext uri="{BB962C8B-B14F-4D97-AF65-F5344CB8AC3E}">
        <p14:creationId xmlns:p14="http://schemas.microsoft.com/office/powerpoint/2010/main" val="893036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normAutofit/>
          </a:bodyPr>
          <a:lstStyle/>
          <a:p>
            <a:r>
              <a:rPr lang="en-US" sz="3600" b="1" i="0" dirty="0">
                <a:solidFill>
                  <a:srgbClr val="273239"/>
                </a:solidFill>
                <a:effectLst/>
                <a:latin typeface="Nunito" pitchFamily="2" charset="0"/>
              </a:rPr>
              <a:t>Characteristics of an Open-Source Community</a:t>
            </a:r>
            <a:endParaRPr lang="en-IN" sz="3600"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sz="3600" b="1" dirty="0"/>
              <a:t>5. Open Communication</a:t>
            </a:r>
          </a:p>
          <a:p>
            <a:pPr lvl="1"/>
            <a:r>
              <a:rPr lang="en-US" sz="3200" dirty="0"/>
              <a:t>Discussions take place openly through issue trackers, mailing lists, forums, and chat platforms.</a:t>
            </a:r>
          </a:p>
          <a:p>
            <a:r>
              <a:rPr lang="en-US" sz="3600" b="1" dirty="0"/>
              <a:t>6. Continuous Improvement</a:t>
            </a:r>
          </a:p>
          <a:p>
            <a:pPr lvl="1"/>
            <a:r>
              <a:rPr lang="en-US" sz="3200" dirty="0"/>
              <a:t>Software is constantly enhanced through community feedback and regular updates.</a:t>
            </a:r>
          </a:p>
          <a:p>
            <a:pPr algn="just"/>
            <a:endParaRPr lang="en-IN" sz="3600" dirty="0"/>
          </a:p>
        </p:txBody>
      </p:sp>
    </p:spTree>
    <p:extLst>
      <p:ext uri="{BB962C8B-B14F-4D97-AF65-F5344CB8AC3E}">
        <p14:creationId xmlns:p14="http://schemas.microsoft.com/office/powerpoint/2010/main" val="791058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normAutofit/>
          </a:bodyPr>
          <a:lstStyle/>
          <a:p>
            <a:r>
              <a:rPr lang="en-US" sz="3600" b="1" i="0" dirty="0">
                <a:solidFill>
                  <a:srgbClr val="273239"/>
                </a:solidFill>
                <a:effectLst/>
                <a:latin typeface="Nunito" pitchFamily="2" charset="0"/>
              </a:rPr>
              <a:t>Why Are Open-Source Communities Important?</a:t>
            </a:r>
            <a:endParaRPr lang="en-IN" sz="3600"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lnSpcReduction="10000"/>
          </a:bodyPr>
          <a:lstStyle/>
          <a:p>
            <a:pPr algn="just"/>
            <a:r>
              <a:rPr lang="en-US" sz="3200" dirty="0"/>
              <a:t>Open-source communities play a vital role in software development because they:</a:t>
            </a:r>
          </a:p>
          <a:p>
            <a:pPr lvl="1" algn="just"/>
            <a:r>
              <a:rPr lang="en-US" sz="2800" dirty="0"/>
              <a:t>Encourage innovation through collaboration. </a:t>
            </a:r>
          </a:p>
          <a:p>
            <a:pPr lvl="1" algn="just"/>
            <a:r>
              <a:rPr lang="en-US" sz="2800" dirty="0"/>
              <a:t>Improve software quality by peer review. </a:t>
            </a:r>
          </a:p>
          <a:p>
            <a:pPr lvl="1" algn="just"/>
            <a:r>
              <a:rPr lang="en-US" sz="2800" dirty="0"/>
              <a:t>Detect and fix bugs quickly. </a:t>
            </a:r>
          </a:p>
          <a:p>
            <a:pPr lvl="1" algn="just"/>
            <a:r>
              <a:rPr lang="en-US" sz="2800" dirty="0"/>
              <a:t>Increase software reliability and security. </a:t>
            </a:r>
          </a:p>
          <a:p>
            <a:pPr lvl="1" algn="just"/>
            <a:r>
              <a:rPr lang="en-US" sz="2800" dirty="0"/>
              <a:t>Reduce development costs. </a:t>
            </a:r>
          </a:p>
          <a:p>
            <a:pPr lvl="1" algn="just"/>
            <a:r>
              <a:rPr lang="en-US" sz="2800" dirty="0"/>
              <a:t>Promote knowledge sharing. </a:t>
            </a:r>
          </a:p>
          <a:p>
            <a:pPr lvl="1" algn="just"/>
            <a:r>
              <a:rPr lang="en-US" sz="2800" dirty="0"/>
              <a:t>Enable long-term software maintenance. </a:t>
            </a:r>
          </a:p>
          <a:p>
            <a:pPr lvl="1" algn="just"/>
            <a:r>
              <a:rPr lang="en-US" sz="2800" dirty="0"/>
              <a:t>Build ecosystems around projects.</a:t>
            </a:r>
          </a:p>
          <a:p>
            <a:pPr algn="just"/>
            <a:endParaRPr lang="en-IN" sz="4400" dirty="0"/>
          </a:p>
        </p:txBody>
      </p:sp>
    </p:spTree>
    <p:extLst>
      <p:ext uri="{BB962C8B-B14F-4D97-AF65-F5344CB8AC3E}">
        <p14:creationId xmlns:p14="http://schemas.microsoft.com/office/powerpoint/2010/main" val="2889396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89704"/>
            <a:ext cx="10515600" cy="1325563"/>
          </a:xfrm>
        </p:spPr>
        <p:txBody>
          <a:bodyPr>
            <a:normAutofit/>
          </a:bodyPr>
          <a:lstStyle/>
          <a:p>
            <a:r>
              <a:rPr lang="en-US" sz="3600" b="1" dirty="0"/>
              <a:t>Members of an Open-Source Community</a:t>
            </a:r>
            <a:endParaRPr lang="en-IN" sz="3600" b="1" dirty="0"/>
          </a:p>
        </p:txBody>
      </p:sp>
      <p:graphicFrame>
        <p:nvGraphicFramePr>
          <p:cNvPr id="4" name="Content Placeholder 3">
            <a:extLst>
              <a:ext uri="{FF2B5EF4-FFF2-40B4-BE49-F238E27FC236}">
                <a16:creationId xmlns:a16="http://schemas.microsoft.com/office/drawing/2014/main" id="{C1141EC7-67C0-43FC-B45E-5BDC2044F486}"/>
              </a:ext>
            </a:extLst>
          </p:cNvPr>
          <p:cNvGraphicFramePr>
            <a:graphicFrameLocks noGrp="1"/>
          </p:cNvGraphicFramePr>
          <p:nvPr>
            <p:ph idx="1"/>
            <p:extLst>
              <p:ext uri="{D42A27DB-BD31-4B8C-83A1-F6EECF244321}">
                <p14:modId xmlns:p14="http://schemas.microsoft.com/office/powerpoint/2010/main" val="2334363351"/>
              </p:ext>
            </p:extLst>
          </p:nvPr>
        </p:nvGraphicFramePr>
        <p:xfrm>
          <a:off x="838200" y="1080958"/>
          <a:ext cx="10515600" cy="5777042"/>
        </p:xfrm>
        <a:graphic>
          <a:graphicData uri="http://schemas.openxmlformats.org/drawingml/2006/table">
            <a:tbl>
              <a:tblPr>
                <a:tableStyleId>{BC89EF96-8CEA-46FF-86C4-4CE0E7609802}</a:tableStyleId>
              </a:tblPr>
              <a:tblGrid>
                <a:gridCol w="2698214">
                  <a:extLst>
                    <a:ext uri="{9D8B030D-6E8A-4147-A177-3AD203B41FA5}">
                      <a16:colId xmlns:a16="http://schemas.microsoft.com/office/drawing/2014/main" val="4280440078"/>
                    </a:ext>
                  </a:extLst>
                </a:gridCol>
                <a:gridCol w="7817386">
                  <a:extLst>
                    <a:ext uri="{9D8B030D-6E8A-4147-A177-3AD203B41FA5}">
                      <a16:colId xmlns:a16="http://schemas.microsoft.com/office/drawing/2014/main" val="3123917650"/>
                    </a:ext>
                  </a:extLst>
                </a:gridCol>
              </a:tblGrid>
              <a:tr h="483325">
                <a:tc>
                  <a:txBody>
                    <a:bodyPr/>
                    <a:lstStyle/>
                    <a:p>
                      <a:r>
                        <a:rPr lang="en-IN" sz="2400" b="1" dirty="0"/>
                        <a:t>Member</a:t>
                      </a:r>
                    </a:p>
                  </a:txBody>
                  <a:tcPr anchor="ctr"/>
                </a:tc>
                <a:tc>
                  <a:txBody>
                    <a:bodyPr/>
                    <a:lstStyle/>
                    <a:p>
                      <a:r>
                        <a:rPr lang="en-IN" sz="2400" b="1" dirty="0"/>
                        <a:t>Responsibilities</a:t>
                      </a:r>
                    </a:p>
                  </a:txBody>
                  <a:tcPr anchor="ctr"/>
                </a:tc>
                <a:extLst>
                  <a:ext uri="{0D108BD9-81ED-4DB2-BD59-A6C34878D82A}">
                    <a16:rowId xmlns:a16="http://schemas.microsoft.com/office/drawing/2014/main" val="3787551590"/>
                  </a:ext>
                </a:extLst>
              </a:tr>
              <a:tr h="845819">
                <a:tc>
                  <a:txBody>
                    <a:bodyPr/>
                    <a:lstStyle/>
                    <a:p>
                      <a:r>
                        <a:rPr lang="en-IN" sz="2400" dirty="0"/>
                        <a:t>Project Maintainers</a:t>
                      </a:r>
                    </a:p>
                  </a:txBody>
                  <a:tcPr anchor="ctr"/>
                </a:tc>
                <a:tc>
                  <a:txBody>
                    <a:bodyPr/>
                    <a:lstStyle/>
                    <a:p>
                      <a:r>
                        <a:rPr lang="en-US" sz="2400"/>
                        <a:t>Manage the project, review contributions, release new versions</a:t>
                      </a:r>
                    </a:p>
                  </a:txBody>
                  <a:tcPr anchor="ctr"/>
                </a:tc>
                <a:extLst>
                  <a:ext uri="{0D108BD9-81ED-4DB2-BD59-A6C34878D82A}">
                    <a16:rowId xmlns:a16="http://schemas.microsoft.com/office/drawing/2014/main" val="2628239792"/>
                  </a:ext>
                </a:extLst>
              </a:tr>
              <a:tr h="483325">
                <a:tc>
                  <a:txBody>
                    <a:bodyPr/>
                    <a:lstStyle/>
                    <a:p>
                      <a:r>
                        <a:rPr lang="en-IN" sz="2400"/>
                        <a:t>Developers</a:t>
                      </a:r>
                    </a:p>
                  </a:txBody>
                  <a:tcPr anchor="ctr"/>
                </a:tc>
                <a:tc>
                  <a:txBody>
                    <a:bodyPr/>
                    <a:lstStyle/>
                    <a:p>
                      <a:r>
                        <a:rPr lang="en-US" sz="2400"/>
                        <a:t>Write new features and fix bugs</a:t>
                      </a:r>
                    </a:p>
                  </a:txBody>
                  <a:tcPr anchor="ctr"/>
                </a:tc>
                <a:extLst>
                  <a:ext uri="{0D108BD9-81ED-4DB2-BD59-A6C34878D82A}">
                    <a16:rowId xmlns:a16="http://schemas.microsoft.com/office/drawing/2014/main" val="283734456"/>
                  </a:ext>
                </a:extLst>
              </a:tr>
              <a:tr h="483325">
                <a:tc>
                  <a:txBody>
                    <a:bodyPr/>
                    <a:lstStyle/>
                    <a:p>
                      <a:r>
                        <a:rPr lang="en-IN" sz="2400"/>
                        <a:t>Testers</a:t>
                      </a:r>
                    </a:p>
                  </a:txBody>
                  <a:tcPr anchor="ctr"/>
                </a:tc>
                <a:tc>
                  <a:txBody>
                    <a:bodyPr/>
                    <a:lstStyle/>
                    <a:p>
                      <a:r>
                        <a:rPr lang="en-US" sz="2400" dirty="0"/>
                        <a:t>Test software and report issues</a:t>
                      </a:r>
                    </a:p>
                  </a:txBody>
                  <a:tcPr anchor="ctr"/>
                </a:tc>
                <a:extLst>
                  <a:ext uri="{0D108BD9-81ED-4DB2-BD59-A6C34878D82A}">
                    <a16:rowId xmlns:a16="http://schemas.microsoft.com/office/drawing/2014/main" val="1438179740"/>
                  </a:ext>
                </a:extLst>
              </a:tr>
              <a:tr h="845819">
                <a:tc>
                  <a:txBody>
                    <a:bodyPr/>
                    <a:lstStyle/>
                    <a:p>
                      <a:r>
                        <a:rPr lang="en-IN" sz="2400"/>
                        <a:t>Documentation Writers</a:t>
                      </a:r>
                    </a:p>
                  </a:txBody>
                  <a:tcPr anchor="ctr"/>
                </a:tc>
                <a:tc>
                  <a:txBody>
                    <a:bodyPr/>
                    <a:lstStyle/>
                    <a:p>
                      <a:r>
                        <a:rPr lang="en-IN" sz="2400" dirty="0"/>
                        <a:t>Prepare user guides, tutorials, and technical documentation</a:t>
                      </a:r>
                    </a:p>
                  </a:txBody>
                  <a:tcPr anchor="ctr"/>
                </a:tc>
                <a:extLst>
                  <a:ext uri="{0D108BD9-81ED-4DB2-BD59-A6C34878D82A}">
                    <a16:rowId xmlns:a16="http://schemas.microsoft.com/office/drawing/2014/main" val="2031252821"/>
                  </a:ext>
                </a:extLst>
              </a:tr>
              <a:tr h="483325">
                <a:tc>
                  <a:txBody>
                    <a:bodyPr/>
                    <a:lstStyle/>
                    <a:p>
                      <a:r>
                        <a:rPr lang="en-IN" sz="2400"/>
                        <a:t>Designers</a:t>
                      </a:r>
                    </a:p>
                  </a:txBody>
                  <a:tcPr anchor="ctr"/>
                </a:tc>
                <a:tc>
                  <a:txBody>
                    <a:bodyPr/>
                    <a:lstStyle/>
                    <a:p>
                      <a:r>
                        <a:rPr lang="en-US" sz="2400" dirty="0"/>
                        <a:t>Improve user interface and user experience</a:t>
                      </a:r>
                    </a:p>
                  </a:txBody>
                  <a:tcPr anchor="ctr"/>
                </a:tc>
                <a:extLst>
                  <a:ext uri="{0D108BD9-81ED-4DB2-BD59-A6C34878D82A}">
                    <a16:rowId xmlns:a16="http://schemas.microsoft.com/office/drawing/2014/main" val="3392160991"/>
                  </a:ext>
                </a:extLst>
              </a:tr>
              <a:tr h="845819">
                <a:tc>
                  <a:txBody>
                    <a:bodyPr/>
                    <a:lstStyle/>
                    <a:p>
                      <a:r>
                        <a:rPr lang="en-IN" sz="2400"/>
                        <a:t>Translators</a:t>
                      </a:r>
                    </a:p>
                  </a:txBody>
                  <a:tcPr anchor="ctr"/>
                </a:tc>
                <a:tc>
                  <a:txBody>
                    <a:bodyPr/>
                    <a:lstStyle/>
                    <a:p>
                      <a:r>
                        <a:rPr lang="en-US" sz="2400" dirty="0"/>
                        <a:t>Translate software and documentation into different languages</a:t>
                      </a:r>
                    </a:p>
                  </a:txBody>
                  <a:tcPr anchor="ctr"/>
                </a:tc>
                <a:extLst>
                  <a:ext uri="{0D108BD9-81ED-4DB2-BD59-A6C34878D82A}">
                    <a16:rowId xmlns:a16="http://schemas.microsoft.com/office/drawing/2014/main" val="1565962256"/>
                  </a:ext>
                </a:extLst>
              </a:tr>
              <a:tr h="483325">
                <a:tc>
                  <a:txBody>
                    <a:bodyPr/>
                    <a:lstStyle/>
                    <a:p>
                      <a:r>
                        <a:rPr lang="en-IN" sz="2400"/>
                        <a:t>Users</a:t>
                      </a:r>
                    </a:p>
                  </a:txBody>
                  <a:tcPr anchor="ctr"/>
                </a:tc>
                <a:tc>
                  <a:txBody>
                    <a:bodyPr/>
                    <a:lstStyle/>
                    <a:p>
                      <a:r>
                        <a:rPr lang="en-US" sz="2400" dirty="0"/>
                        <a:t>Use the software, provide feedback, and report bugs</a:t>
                      </a:r>
                    </a:p>
                  </a:txBody>
                  <a:tcPr anchor="ctr"/>
                </a:tc>
                <a:extLst>
                  <a:ext uri="{0D108BD9-81ED-4DB2-BD59-A6C34878D82A}">
                    <a16:rowId xmlns:a16="http://schemas.microsoft.com/office/drawing/2014/main" val="400528983"/>
                  </a:ext>
                </a:extLst>
              </a:tr>
              <a:tr h="483325">
                <a:tc>
                  <a:txBody>
                    <a:bodyPr/>
                    <a:lstStyle/>
                    <a:p>
                      <a:r>
                        <a:rPr lang="en-IN" sz="2400"/>
                        <a:t>Security Researchers</a:t>
                      </a:r>
                    </a:p>
                  </a:txBody>
                  <a:tcPr anchor="ctr"/>
                </a:tc>
                <a:tc>
                  <a:txBody>
                    <a:bodyPr/>
                    <a:lstStyle/>
                    <a:p>
                      <a:r>
                        <a:rPr lang="en-US" sz="2400" dirty="0"/>
                        <a:t>Identify and report security vulnerabilities</a:t>
                      </a:r>
                    </a:p>
                  </a:txBody>
                  <a:tcPr anchor="ctr"/>
                </a:tc>
                <a:extLst>
                  <a:ext uri="{0D108BD9-81ED-4DB2-BD59-A6C34878D82A}">
                    <a16:rowId xmlns:a16="http://schemas.microsoft.com/office/drawing/2014/main" val="2047673342"/>
                  </a:ext>
                </a:extLst>
              </a:tr>
            </a:tbl>
          </a:graphicData>
        </a:graphic>
      </p:graphicFrame>
    </p:spTree>
    <p:extLst>
      <p:ext uri="{BB962C8B-B14F-4D97-AF65-F5344CB8AC3E}">
        <p14:creationId xmlns:p14="http://schemas.microsoft.com/office/powerpoint/2010/main" val="3865751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What is an Open-Source Contribution?</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just"/>
            <a:r>
              <a:rPr lang="en-US" dirty="0"/>
              <a:t>A </a:t>
            </a:r>
            <a:r>
              <a:rPr lang="en-US" b="1" dirty="0"/>
              <a:t>contribution</a:t>
            </a:r>
            <a:r>
              <a:rPr lang="en-US" dirty="0"/>
              <a:t> is any activity that helps improve an open-source project.</a:t>
            </a:r>
          </a:p>
          <a:p>
            <a:pPr algn="just"/>
            <a:r>
              <a:rPr lang="en-US" dirty="0"/>
              <a:t>Many beginners believe that only programming counts as a contribution. In reality, there are many valuable ways to contribute.</a:t>
            </a:r>
          </a:p>
        </p:txBody>
      </p:sp>
    </p:spTree>
    <p:extLst>
      <p:ext uri="{BB962C8B-B14F-4D97-AF65-F5344CB8AC3E}">
        <p14:creationId xmlns:p14="http://schemas.microsoft.com/office/powerpoint/2010/main" val="1150813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1. Code Contributions</a:t>
            </a:r>
          </a:p>
          <a:p>
            <a:r>
              <a:rPr lang="en-US" dirty="0"/>
              <a:t>Developers can:</a:t>
            </a:r>
          </a:p>
          <a:p>
            <a:pPr lvl="1"/>
            <a:r>
              <a:rPr lang="en-US" dirty="0"/>
              <a:t>Add new features </a:t>
            </a:r>
          </a:p>
          <a:p>
            <a:pPr lvl="1"/>
            <a:r>
              <a:rPr lang="en-US" dirty="0"/>
              <a:t>Fix bugs </a:t>
            </a:r>
          </a:p>
          <a:p>
            <a:pPr lvl="1"/>
            <a:r>
              <a:rPr lang="en-US" dirty="0"/>
              <a:t>Improve performance </a:t>
            </a:r>
          </a:p>
          <a:p>
            <a:pPr lvl="1"/>
            <a:r>
              <a:rPr lang="en-US" dirty="0"/>
              <a:t>Refactor existing code </a:t>
            </a:r>
          </a:p>
          <a:p>
            <a:pPr lvl="1"/>
            <a:r>
              <a:rPr lang="en-US" dirty="0"/>
              <a:t>Improve security </a:t>
            </a:r>
          </a:p>
          <a:p>
            <a:r>
              <a:rPr lang="en-US" dirty="0"/>
              <a:t>Example:</a:t>
            </a:r>
          </a:p>
          <a:p>
            <a:pPr lvl="1"/>
            <a:r>
              <a:rPr lang="en-US" dirty="0"/>
              <a:t>Fixing a login issue in a web application. </a:t>
            </a:r>
          </a:p>
          <a:p>
            <a:pPr lvl="1"/>
            <a:r>
              <a:rPr lang="en-US" dirty="0"/>
              <a:t>Adding a dark mode feature.</a:t>
            </a:r>
          </a:p>
          <a:p>
            <a:pPr algn="just"/>
            <a:endParaRPr lang="en-US" dirty="0"/>
          </a:p>
        </p:txBody>
      </p:sp>
    </p:spTree>
    <p:extLst>
      <p:ext uri="{BB962C8B-B14F-4D97-AF65-F5344CB8AC3E}">
        <p14:creationId xmlns:p14="http://schemas.microsoft.com/office/powerpoint/2010/main" val="1137661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2. Bug Reporting</a:t>
            </a:r>
          </a:p>
          <a:p>
            <a:r>
              <a:rPr lang="en-US" dirty="0"/>
              <a:t>Users identify problems and submit bug reports.</a:t>
            </a:r>
          </a:p>
          <a:p>
            <a:r>
              <a:rPr lang="en-US" dirty="0"/>
              <a:t>A good bug report includes:</a:t>
            </a:r>
          </a:p>
          <a:p>
            <a:pPr lvl="1"/>
            <a:r>
              <a:rPr lang="en-US" dirty="0"/>
              <a:t>Steps to reproduce the issue </a:t>
            </a:r>
          </a:p>
          <a:p>
            <a:pPr lvl="1"/>
            <a:r>
              <a:rPr lang="en-US" dirty="0"/>
              <a:t>Expected behavior </a:t>
            </a:r>
          </a:p>
          <a:p>
            <a:pPr lvl="1"/>
            <a:r>
              <a:rPr lang="en-US" dirty="0"/>
              <a:t>Actual behavior </a:t>
            </a:r>
          </a:p>
          <a:p>
            <a:pPr lvl="1"/>
            <a:r>
              <a:rPr lang="en-US" dirty="0"/>
              <a:t>Screenshots (if applicable) </a:t>
            </a:r>
          </a:p>
          <a:p>
            <a:pPr lvl="1"/>
            <a:r>
              <a:rPr lang="en-US" dirty="0"/>
              <a:t>System configuration </a:t>
            </a:r>
          </a:p>
          <a:p>
            <a:pPr lvl="1"/>
            <a:r>
              <a:rPr lang="en-US" dirty="0"/>
              <a:t>Error messages</a:t>
            </a:r>
          </a:p>
          <a:p>
            <a:pPr algn="just"/>
            <a:endParaRPr lang="en-US" dirty="0"/>
          </a:p>
        </p:txBody>
      </p:sp>
    </p:spTree>
    <p:extLst>
      <p:ext uri="{BB962C8B-B14F-4D97-AF65-F5344CB8AC3E}">
        <p14:creationId xmlns:p14="http://schemas.microsoft.com/office/powerpoint/2010/main" val="2300679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lnSpcReduction="10000"/>
          </a:bodyPr>
          <a:lstStyle/>
          <a:p>
            <a:r>
              <a:rPr lang="en-IN" b="1" dirty="0"/>
              <a:t>3. Documentation Contributions</a:t>
            </a:r>
          </a:p>
          <a:p>
            <a:r>
              <a:rPr lang="en-IN" dirty="0"/>
              <a:t>Documentation is as important as source code.</a:t>
            </a:r>
          </a:p>
          <a:p>
            <a:r>
              <a:rPr lang="en-IN" dirty="0"/>
              <a:t>Examples include:</a:t>
            </a:r>
          </a:p>
          <a:p>
            <a:pPr lvl="1"/>
            <a:r>
              <a:rPr lang="en-IN" dirty="0"/>
              <a:t>Installation guides </a:t>
            </a:r>
          </a:p>
          <a:p>
            <a:pPr lvl="1"/>
            <a:r>
              <a:rPr lang="en-IN" dirty="0"/>
              <a:t>User manuals </a:t>
            </a:r>
          </a:p>
          <a:p>
            <a:pPr lvl="1"/>
            <a:r>
              <a:rPr lang="en-IN" dirty="0"/>
              <a:t>API documentation </a:t>
            </a:r>
          </a:p>
          <a:p>
            <a:pPr lvl="1"/>
            <a:r>
              <a:rPr lang="en-IN" dirty="0"/>
              <a:t>Tutorials </a:t>
            </a:r>
          </a:p>
          <a:p>
            <a:pPr lvl="1"/>
            <a:r>
              <a:rPr lang="en-IN" dirty="0"/>
              <a:t>Frequently Asked Questions (FAQs) </a:t>
            </a:r>
          </a:p>
          <a:p>
            <a:pPr lvl="1"/>
            <a:r>
              <a:rPr lang="en-IN" dirty="0"/>
              <a:t>Code comments </a:t>
            </a:r>
          </a:p>
          <a:p>
            <a:r>
              <a:rPr lang="en-IN" dirty="0"/>
              <a:t>Good documentation makes software easier to learn and use.</a:t>
            </a:r>
          </a:p>
          <a:p>
            <a:pPr algn="just"/>
            <a:endParaRPr lang="en-US" dirty="0"/>
          </a:p>
        </p:txBody>
      </p:sp>
    </p:spTree>
    <p:extLst>
      <p:ext uri="{BB962C8B-B14F-4D97-AF65-F5344CB8AC3E}">
        <p14:creationId xmlns:p14="http://schemas.microsoft.com/office/powerpoint/2010/main" val="997930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4. Testing</a:t>
            </a:r>
          </a:p>
          <a:p>
            <a:r>
              <a:rPr lang="en-US" dirty="0"/>
              <a:t>Contributors help by:</a:t>
            </a:r>
          </a:p>
          <a:p>
            <a:pPr lvl="1"/>
            <a:r>
              <a:rPr lang="en-US" dirty="0"/>
              <a:t>Testing new releases </a:t>
            </a:r>
          </a:p>
          <a:p>
            <a:pPr lvl="1"/>
            <a:r>
              <a:rPr lang="en-US" dirty="0"/>
              <a:t>Finding bugs </a:t>
            </a:r>
          </a:p>
          <a:p>
            <a:pPr lvl="1"/>
            <a:r>
              <a:rPr lang="en-US" dirty="0"/>
              <a:t>Verifying bug fixes </a:t>
            </a:r>
          </a:p>
          <a:p>
            <a:pPr lvl="1"/>
            <a:r>
              <a:rPr lang="en-US" dirty="0"/>
              <a:t>Performing compatibility testing </a:t>
            </a:r>
          </a:p>
          <a:p>
            <a:pPr lvl="1"/>
            <a:r>
              <a:rPr lang="en-US" dirty="0"/>
              <a:t>Reporting usability issues</a:t>
            </a:r>
          </a:p>
          <a:p>
            <a:pPr algn="just"/>
            <a:endParaRPr lang="en-US" dirty="0"/>
          </a:p>
        </p:txBody>
      </p:sp>
    </p:spTree>
    <p:extLst>
      <p:ext uri="{BB962C8B-B14F-4D97-AF65-F5344CB8AC3E}">
        <p14:creationId xmlns:p14="http://schemas.microsoft.com/office/powerpoint/2010/main" val="1058576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5. Translation (Localization)</a:t>
            </a:r>
          </a:p>
          <a:p>
            <a:r>
              <a:rPr lang="en-US" dirty="0"/>
              <a:t>Software can reach a wider audience by translating:</a:t>
            </a:r>
          </a:p>
          <a:p>
            <a:pPr lvl="1"/>
            <a:r>
              <a:rPr lang="en-US" dirty="0"/>
              <a:t>Menus </a:t>
            </a:r>
          </a:p>
          <a:p>
            <a:pPr lvl="1"/>
            <a:r>
              <a:rPr lang="en-US" dirty="0"/>
              <a:t>User interfaces </a:t>
            </a:r>
          </a:p>
          <a:p>
            <a:pPr lvl="1"/>
            <a:r>
              <a:rPr lang="en-US" dirty="0"/>
              <a:t>Help files </a:t>
            </a:r>
          </a:p>
          <a:p>
            <a:pPr lvl="1"/>
            <a:r>
              <a:rPr lang="en-US" dirty="0"/>
              <a:t>Documentation </a:t>
            </a:r>
          </a:p>
          <a:p>
            <a:pPr lvl="1"/>
            <a:r>
              <a:rPr lang="en-US" dirty="0"/>
              <a:t>Tutorials</a:t>
            </a:r>
          </a:p>
          <a:p>
            <a:pPr algn="just"/>
            <a:endParaRPr lang="en-US" dirty="0"/>
          </a:p>
        </p:txBody>
      </p:sp>
    </p:spTree>
    <p:extLst>
      <p:ext uri="{BB962C8B-B14F-4D97-AF65-F5344CB8AC3E}">
        <p14:creationId xmlns:p14="http://schemas.microsoft.com/office/powerpoint/2010/main" val="1814790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IN" b="1" dirty="0"/>
              <a:t>6. Design Contributions</a:t>
            </a:r>
          </a:p>
          <a:p>
            <a:r>
              <a:rPr lang="en-IN" dirty="0"/>
              <a:t>Designers improve:</a:t>
            </a:r>
          </a:p>
          <a:p>
            <a:pPr lvl="1"/>
            <a:r>
              <a:rPr lang="en-IN" dirty="0"/>
              <a:t>Icons </a:t>
            </a:r>
          </a:p>
          <a:p>
            <a:pPr lvl="1"/>
            <a:r>
              <a:rPr lang="en-IN" dirty="0"/>
              <a:t>User interface (UI) </a:t>
            </a:r>
          </a:p>
          <a:p>
            <a:pPr lvl="1"/>
            <a:r>
              <a:rPr lang="en-IN" dirty="0"/>
              <a:t>User experience (UX) </a:t>
            </a:r>
          </a:p>
          <a:p>
            <a:pPr lvl="1"/>
            <a:r>
              <a:rPr lang="en-IN" dirty="0"/>
              <a:t>Logos </a:t>
            </a:r>
          </a:p>
          <a:p>
            <a:pPr lvl="1"/>
            <a:r>
              <a:rPr lang="en-IN" dirty="0"/>
              <a:t>Website layouts </a:t>
            </a:r>
          </a:p>
        </p:txBody>
      </p:sp>
    </p:spTree>
    <p:extLst>
      <p:ext uri="{BB962C8B-B14F-4D97-AF65-F5344CB8AC3E}">
        <p14:creationId xmlns:p14="http://schemas.microsoft.com/office/powerpoint/2010/main" val="300696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7. Community Support</a:t>
            </a:r>
          </a:p>
          <a:p>
            <a:r>
              <a:rPr lang="en-US" dirty="0"/>
              <a:t>Experienced users assist others by:</a:t>
            </a:r>
          </a:p>
          <a:p>
            <a:pPr lvl="1"/>
            <a:r>
              <a:rPr lang="en-US" dirty="0"/>
              <a:t>Answering questions </a:t>
            </a:r>
          </a:p>
          <a:p>
            <a:pPr lvl="1"/>
            <a:r>
              <a:rPr lang="en-US" dirty="0"/>
              <a:t>Solving installation problems </a:t>
            </a:r>
          </a:p>
          <a:p>
            <a:pPr lvl="1"/>
            <a:r>
              <a:rPr lang="en-US" dirty="0"/>
              <a:t>Writing tutorials </a:t>
            </a:r>
          </a:p>
          <a:p>
            <a:pPr lvl="1"/>
            <a:r>
              <a:rPr lang="en-US" dirty="0"/>
              <a:t>Participating in discussion forums </a:t>
            </a:r>
          </a:p>
          <a:p>
            <a:pPr lvl="1"/>
            <a:r>
              <a:rPr lang="en-US" dirty="0"/>
              <a:t>Mentoring new contributors</a:t>
            </a:r>
          </a:p>
          <a:p>
            <a:endParaRPr lang="en-IN" dirty="0"/>
          </a:p>
        </p:txBody>
      </p:sp>
    </p:spTree>
    <p:extLst>
      <p:ext uri="{BB962C8B-B14F-4D97-AF65-F5344CB8AC3E}">
        <p14:creationId xmlns:p14="http://schemas.microsoft.com/office/powerpoint/2010/main" val="3556249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i="0" dirty="0">
                <a:solidFill>
                  <a:srgbClr val="273239"/>
                </a:solidFill>
                <a:effectLst/>
                <a:latin typeface="Nunito" pitchFamily="2" charset="0"/>
              </a:rPr>
              <a:t>Types of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b="1" dirty="0"/>
              <a:t>8. Security Contributions</a:t>
            </a:r>
          </a:p>
          <a:p>
            <a:r>
              <a:rPr lang="en-US" dirty="0"/>
              <a:t>Security experts help by:</a:t>
            </a:r>
          </a:p>
          <a:p>
            <a:pPr lvl="1"/>
            <a:r>
              <a:rPr lang="en-US" dirty="0"/>
              <a:t>Identifying vulnerabilities </a:t>
            </a:r>
          </a:p>
          <a:p>
            <a:pPr lvl="1"/>
            <a:r>
              <a:rPr lang="en-US" dirty="0"/>
              <a:t>Reviewing security practices </a:t>
            </a:r>
          </a:p>
          <a:p>
            <a:pPr lvl="1"/>
            <a:r>
              <a:rPr lang="en-US" dirty="0"/>
              <a:t>Suggesting improvements </a:t>
            </a:r>
          </a:p>
          <a:p>
            <a:pPr lvl="1"/>
            <a:r>
              <a:rPr lang="en-US" dirty="0"/>
              <a:t>Performing penetration testing (where appropriate)</a:t>
            </a:r>
          </a:p>
          <a:p>
            <a:endParaRPr lang="en-IN" dirty="0"/>
          </a:p>
        </p:txBody>
      </p:sp>
    </p:spTree>
    <p:extLst>
      <p:ext uri="{BB962C8B-B14F-4D97-AF65-F5344CB8AC3E}">
        <p14:creationId xmlns:p14="http://schemas.microsoft.com/office/powerpoint/2010/main" val="3106329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1: Choose a Project</a:t>
            </a:r>
          </a:p>
          <a:p>
            <a:r>
              <a:rPr lang="en-US" sz="3200" dirty="0"/>
              <a:t>Select a project that matches your interests and skill level.</a:t>
            </a:r>
          </a:p>
          <a:p>
            <a:r>
              <a:rPr lang="en-US" sz="3200" dirty="0"/>
              <a:t>Consider:</a:t>
            </a:r>
          </a:p>
          <a:p>
            <a:pPr lvl="1"/>
            <a:r>
              <a:rPr lang="en-US" sz="2800" dirty="0"/>
              <a:t>Programming language </a:t>
            </a:r>
          </a:p>
          <a:p>
            <a:pPr lvl="1"/>
            <a:r>
              <a:rPr lang="en-US" sz="2800" dirty="0"/>
              <a:t>Project activity </a:t>
            </a:r>
          </a:p>
          <a:p>
            <a:pPr lvl="1"/>
            <a:r>
              <a:rPr lang="en-US" sz="2800" dirty="0"/>
              <a:t>Documentation quality </a:t>
            </a:r>
          </a:p>
          <a:p>
            <a:pPr lvl="1"/>
            <a:r>
              <a:rPr lang="en-US" sz="2800" dirty="0"/>
              <a:t>Beginner-friendly issues</a:t>
            </a:r>
          </a:p>
          <a:p>
            <a:pPr algn="just"/>
            <a:endParaRPr lang="en-IN" sz="3200" dirty="0"/>
          </a:p>
        </p:txBody>
      </p:sp>
    </p:spTree>
    <p:extLst>
      <p:ext uri="{BB962C8B-B14F-4D97-AF65-F5344CB8AC3E}">
        <p14:creationId xmlns:p14="http://schemas.microsoft.com/office/powerpoint/2010/main" val="3972216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2: Read the Documentation</a:t>
            </a:r>
          </a:p>
          <a:p>
            <a:r>
              <a:rPr lang="en-US" sz="3200" dirty="0"/>
              <a:t>Before contributing, read:</a:t>
            </a:r>
          </a:p>
          <a:p>
            <a:pPr lvl="1"/>
            <a:r>
              <a:rPr lang="en-US" dirty="0"/>
              <a:t>README file </a:t>
            </a:r>
          </a:p>
          <a:p>
            <a:pPr lvl="1"/>
            <a:r>
              <a:rPr lang="en-US" dirty="0"/>
              <a:t>Contribution Guidelines </a:t>
            </a:r>
          </a:p>
          <a:p>
            <a:pPr lvl="1"/>
            <a:r>
              <a:rPr lang="en-US" dirty="0"/>
              <a:t>Code of Conduct </a:t>
            </a:r>
          </a:p>
          <a:p>
            <a:pPr lvl="1"/>
            <a:r>
              <a:rPr lang="en-US" dirty="0"/>
              <a:t>License </a:t>
            </a:r>
          </a:p>
          <a:p>
            <a:pPr lvl="1"/>
            <a:r>
              <a:rPr lang="en-US" dirty="0"/>
              <a:t>Installation Guide</a:t>
            </a:r>
          </a:p>
          <a:p>
            <a:pPr algn="just"/>
            <a:endParaRPr lang="en-IN" sz="4400" dirty="0"/>
          </a:p>
        </p:txBody>
      </p:sp>
    </p:spTree>
    <p:extLst>
      <p:ext uri="{BB962C8B-B14F-4D97-AF65-F5344CB8AC3E}">
        <p14:creationId xmlns:p14="http://schemas.microsoft.com/office/powerpoint/2010/main" val="21318419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3: Set Up the Development Environment</a:t>
            </a:r>
          </a:p>
          <a:p>
            <a:pPr>
              <a:buFont typeface="Arial" panose="020B0604020202020204" pitchFamily="34" charset="0"/>
              <a:buChar char="•"/>
            </a:pPr>
            <a:r>
              <a:rPr lang="en-US" sz="3200" dirty="0"/>
              <a:t>Install required software. </a:t>
            </a:r>
          </a:p>
          <a:p>
            <a:pPr>
              <a:buFont typeface="Arial" panose="020B0604020202020204" pitchFamily="34" charset="0"/>
              <a:buChar char="•"/>
            </a:pPr>
            <a:r>
              <a:rPr lang="en-US" sz="3200" dirty="0"/>
              <a:t>Download the project. </a:t>
            </a:r>
          </a:p>
          <a:p>
            <a:pPr>
              <a:buFont typeface="Arial" panose="020B0604020202020204" pitchFamily="34" charset="0"/>
              <a:buChar char="•"/>
            </a:pPr>
            <a:r>
              <a:rPr lang="en-US" sz="3200" dirty="0"/>
              <a:t>Install dependencies. </a:t>
            </a:r>
          </a:p>
          <a:p>
            <a:pPr>
              <a:buFont typeface="Arial" panose="020B0604020202020204" pitchFamily="34" charset="0"/>
              <a:buChar char="•"/>
            </a:pPr>
            <a:r>
              <a:rPr lang="en-US" sz="3200" dirty="0"/>
              <a:t>Build and run the project locally. </a:t>
            </a:r>
          </a:p>
          <a:p>
            <a:pPr algn="just"/>
            <a:endParaRPr lang="en-IN" sz="4400" dirty="0"/>
          </a:p>
        </p:txBody>
      </p:sp>
    </p:spTree>
    <p:extLst>
      <p:ext uri="{BB962C8B-B14F-4D97-AF65-F5344CB8AC3E}">
        <p14:creationId xmlns:p14="http://schemas.microsoft.com/office/powerpoint/2010/main" val="4085792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4: Select an Issue</a:t>
            </a:r>
          </a:p>
          <a:p>
            <a:r>
              <a:rPr lang="en-US" sz="3200" dirty="0"/>
              <a:t>Many repositories label beginner-friendly tasks such as:</a:t>
            </a:r>
          </a:p>
          <a:p>
            <a:pPr lvl="1"/>
            <a:r>
              <a:rPr lang="en-US" sz="2800" dirty="0"/>
              <a:t>Good First Issue </a:t>
            </a:r>
          </a:p>
          <a:p>
            <a:pPr lvl="1"/>
            <a:r>
              <a:rPr lang="en-US" sz="2800" dirty="0"/>
              <a:t>Beginner Friendly </a:t>
            </a:r>
          </a:p>
          <a:p>
            <a:pPr lvl="1"/>
            <a:r>
              <a:rPr lang="en-US" sz="2800" dirty="0"/>
              <a:t>Help Wanted </a:t>
            </a:r>
          </a:p>
          <a:p>
            <a:pPr lvl="1"/>
            <a:r>
              <a:rPr lang="en-US" sz="2800" dirty="0"/>
              <a:t>Documentation</a:t>
            </a:r>
          </a:p>
          <a:p>
            <a:pPr marL="0" indent="0">
              <a:buNone/>
            </a:pPr>
            <a:endParaRPr lang="en-US" sz="700" dirty="0"/>
          </a:p>
          <a:p>
            <a:pPr marL="0" indent="0">
              <a:buNone/>
            </a:pPr>
            <a:r>
              <a:rPr lang="en-US" b="1" dirty="0"/>
              <a:t>Step 5: Make Changes</a:t>
            </a:r>
          </a:p>
          <a:p>
            <a:r>
              <a:rPr lang="en-US" dirty="0"/>
              <a:t>Modify the code or documentation according to project standards.</a:t>
            </a:r>
          </a:p>
          <a:p>
            <a:pPr marL="0" indent="0">
              <a:buNone/>
            </a:pPr>
            <a:endParaRPr lang="en-US" sz="3200" dirty="0"/>
          </a:p>
          <a:p>
            <a:pPr algn="just"/>
            <a:endParaRPr lang="en-IN" sz="4400" dirty="0"/>
          </a:p>
        </p:txBody>
      </p:sp>
    </p:spTree>
    <p:extLst>
      <p:ext uri="{BB962C8B-B14F-4D97-AF65-F5344CB8AC3E}">
        <p14:creationId xmlns:p14="http://schemas.microsoft.com/office/powerpoint/2010/main" val="1049619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6: Test Your Changes</a:t>
            </a:r>
          </a:p>
          <a:p>
            <a:r>
              <a:rPr lang="en-US" sz="3200" dirty="0"/>
              <a:t>Ensure that:</a:t>
            </a:r>
          </a:p>
          <a:p>
            <a:pPr lvl="1"/>
            <a:r>
              <a:rPr lang="en-US" sz="2800" dirty="0"/>
              <a:t>Existing functionality works correctly. </a:t>
            </a:r>
          </a:p>
          <a:p>
            <a:pPr lvl="1"/>
            <a:r>
              <a:rPr lang="en-US" sz="2800" dirty="0"/>
              <a:t>New features behave as expected. </a:t>
            </a:r>
          </a:p>
          <a:p>
            <a:pPr lvl="1"/>
            <a:r>
              <a:rPr lang="en-US" sz="2800" dirty="0"/>
              <a:t>No new bugs are introduced. </a:t>
            </a:r>
          </a:p>
          <a:p>
            <a:pPr marL="0" indent="0">
              <a:buNone/>
            </a:pPr>
            <a:endParaRPr lang="en-US" sz="3200" b="1" dirty="0"/>
          </a:p>
          <a:p>
            <a:pPr marL="0" indent="0" algn="just">
              <a:buNone/>
            </a:pPr>
            <a:endParaRPr lang="en-IN" sz="4400" dirty="0"/>
          </a:p>
        </p:txBody>
      </p:sp>
    </p:spTree>
    <p:extLst>
      <p:ext uri="{BB962C8B-B14F-4D97-AF65-F5344CB8AC3E}">
        <p14:creationId xmlns:p14="http://schemas.microsoft.com/office/powerpoint/2010/main" val="2779470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7: Commit Changes</a:t>
            </a:r>
          </a:p>
          <a:p>
            <a:r>
              <a:rPr lang="en-US" sz="3200" dirty="0"/>
              <a:t>Write meaningful commit messages.</a:t>
            </a:r>
          </a:p>
          <a:p>
            <a:pPr marL="0" indent="0">
              <a:buNone/>
            </a:pPr>
            <a:endParaRPr lang="en-US" sz="3200" dirty="0"/>
          </a:p>
          <a:p>
            <a:pPr marL="0" indent="0">
              <a:buNone/>
            </a:pPr>
            <a:r>
              <a:rPr lang="en-US" sz="3200" dirty="0"/>
              <a:t>Good example:</a:t>
            </a:r>
          </a:p>
          <a:p>
            <a:pPr marL="0" indent="0">
              <a:buNone/>
            </a:pPr>
            <a:r>
              <a:rPr lang="en-US" sz="3200" dirty="0"/>
              <a:t>	Fix login validation for empty password</a:t>
            </a:r>
          </a:p>
          <a:p>
            <a:pPr marL="0" indent="0">
              <a:buNone/>
            </a:pPr>
            <a:r>
              <a:rPr lang="en-US" sz="3200" dirty="0"/>
              <a:t>Poor example:</a:t>
            </a:r>
          </a:p>
          <a:p>
            <a:pPr marL="0" indent="0">
              <a:buNone/>
            </a:pPr>
            <a:r>
              <a:rPr lang="en-US" sz="3200" dirty="0"/>
              <a:t>	Updated code</a:t>
            </a:r>
          </a:p>
          <a:p>
            <a:pPr marL="0" indent="0" algn="just">
              <a:buNone/>
            </a:pPr>
            <a:endParaRPr lang="en-IN" sz="4400" dirty="0"/>
          </a:p>
        </p:txBody>
      </p:sp>
    </p:spTree>
    <p:extLst>
      <p:ext uri="{BB962C8B-B14F-4D97-AF65-F5344CB8AC3E}">
        <p14:creationId xmlns:p14="http://schemas.microsoft.com/office/powerpoint/2010/main" val="2265115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Steps to Contribute to an Open-Source Project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marL="0" indent="0">
              <a:buNone/>
            </a:pPr>
            <a:r>
              <a:rPr lang="en-US" sz="3200" b="1" dirty="0"/>
              <a:t>Step 8: Create a Pull Request (PR)</a:t>
            </a:r>
          </a:p>
          <a:p>
            <a:r>
              <a:rPr lang="en-US" sz="3200" dirty="0"/>
              <a:t>A Pull Request contains:</a:t>
            </a:r>
          </a:p>
          <a:p>
            <a:pPr lvl="1"/>
            <a:r>
              <a:rPr lang="en-US" sz="2800" dirty="0"/>
              <a:t>Summary of changes </a:t>
            </a:r>
          </a:p>
          <a:p>
            <a:pPr lvl="1"/>
            <a:r>
              <a:rPr lang="en-US" sz="2800" dirty="0"/>
              <a:t>Related issue number </a:t>
            </a:r>
          </a:p>
          <a:p>
            <a:pPr lvl="1"/>
            <a:r>
              <a:rPr lang="en-US" sz="2800" dirty="0"/>
              <a:t>Screenshots (if needed) </a:t>
            </a:r>
          </a:p>
          <a:p>
            <a:pPr lvl="1"/>
            <a:r>
              <a:rPr lang="en-US" sz="2800" dirty="0"/>
              <a:t>Test results </a:t>
            </a:r>
          </a:p>
          <a:p>
            <a:pPr marL="0" indent="0">
              <a:buNone/>
            </a:pPr>
            <a:endParaRPr lang="en-US" sz="3200" dirty="0"/>
          </a:p>
          <a:p>
            <a:pPr marL="0" indent="0">
              <a:buNone/>
            </a:pPr>
            <a:r>
              <a:rPr lang="en-US" sz="3200" dirty="0"/>
              <a:t>Maintainers review the contribution before merging.</a:t>
            </a:r>
          </a:p>
          <a:p>
            <a:pPr marL="0" indent="0">
              <a:buNone/>
            </a:pPr>
            <a:endParaRPr lang="en-IN" sz="4400" dirty="0"/>
          </a:p>
        </p:txBody>
      </p:sp>
    </p:spTree>
    <p:extLst>
      <p:ext uri="{BB962C8B-B14F-4D97-AF65-F5344CB8AC3E}">
        <p14:creationId xmlns:p14="http://schemas.microsoft.com/office/powerpoint/2010/main" val="2249300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330508" y="-218768"/>
            <a:ext cx="12085502" cy="1325563"/>
          </a:xfrm>
        </p:spPr>
        <p:txBody>
          <a:bodyPr/>
          <a:lstStyle/>
          <a:p>
            <a:r>
              <a:rPr lang="en-US" b="1" dirty="0"/>
              <a:t>Tools Commonly Used in Open-Source Development</a:t>
            </a:r>
            <a:endParaRPr lang="en-IN" b="1" dirty="0"/>
          </a:p>
        </p:txBody>
      </p:sp>
      <p:graphicFrame>
        <p:nvGraphicFramePr>
          <p:cNvPr id="4" name="Content Placeholder 3">
            <a:extLst>
              <a:ext uri="{FF2B5EF4-FFF2-40B4-BE49-F238E27FC236}">
                <a16:creationId xmlns:a16="http://schemas.microsoft.com/office/drawing/2014/main" id="{A41D8798-5D84-4DAF-9893-9E8F1E45009C}"/>
              </a:ext>
            </a:extLst>
          </p:cNvPr>
          <p:cNvGraphicFramePr>
            <a:graphicFrameLocks noGrp="1"/>
          </p:cNvGraphicFramePr>
          <p:nvPr>
            <p:ph idx="1"/>
            <p:extLst>
              <p:ext uri="{D42A27DB-BD31-4B8C-83A1-F6EECF244321}">
                <p14:modId xmlns:p14="http://schemas.microsoft.com/office/powerpoint/2010/main" val="537622810"/>
              </p:ext>
            </p:extLst>
          </p:nvPr>
        </p:nvGraphicFramePr>
        <p:xfrm>
          <a:off x="463626" y="901148"/>
          <a:ext cx="11115102" cy="5808123"/>
        </p:xfrm>
        <a:graphic>
          <a:graphicData uri="http://schemas.openxmlformats.org/drawingml/2006/table">
            <a:tbl>
              <a:tblPr>
                <a:tableStyleId>{284E427A-3D55-4303-BF80-6455036E1DE7}</a:tableStyleId>
              </a:tblPr>
              <a:tblGrid>
                <a:gridCol w="4295661">
                  <a:extLst>
                    <a:ext uri="{9D8B030D-6E8A-4147-A177-3AD203B41FA5}">
                      <a16:colId xmlns:a16="http://schemas.microsoft.com/office/drawing/2014/main" val="2169222592"/>
                    </a:ext>
                  </a:extLst>
                </a:gridCol>
                <a:gridCol w="6819441">
                  <a:extLst>
                    <a:ext uri="{9D8B030D-6E8A-4147-A177-3AD203B41FA5}">
                      <a16:colId xmlns:a16="http://schemas.microsoft.com/office/drawing/2014/main" val="3251755819"/>
                    </a:ext>
                  </a:extLst>
                </a:gridCol>
              </a:tblGrid>
              <a:tr h="645347">
                <a:tc>
                  <a:txBody>
                    <a:bodyPr/>
                    <a:lstStyle/>
                    <a:p>
                      <a:r>
                        <a:rPr lang="en-IN" sz="2400" b="1" dirty="0"/>
                        <a:t>Tool</a:t>
                      </a:r>
                    </a:p>
                  </a:txBody>
                  <a:tcPr anchor="ctr"/>
                </a:tc>
                <a:tc>
                  <a:txBody>
                    <a:bodyPr/>
                    <a:lstStyle/>
                    <a:p>
                      <a:r>
                        <a:rPr lang="en-IN" sz="2400" b="1" dirty="0"/>
                        <a:t>Purpose</a:t>
                      </a:r>
                    </a:p>
                  </a:txBody>
                  <a:tcPr anchor="ctr"/>
                </a:tc>
                <a:extLst>
                  <a:ext uri="{0D108BD9-81ED-4DB2-BD59-A6C34878D82A}">
                    <a16:rowId xmlns:a16="http://schemas.microsoft.com/office/drawing/2014/main" val="1366686695"/>
                  </a:ext>
                </a:extLst>
              </a:tr>
              <a:tr h="645347">
                <a:tc>
                  <a:txBody>
                    <a:bodyPr/>
                    <a:lstStyle/>
                    <a:p>
                      <a:r>
                        <a:rPr lang="en-IN" sz="2400" dirty="0"/>
                        <a:t>Git</a:t>
                      </a:r>
                    </a:p>
                  </a:txBody>
                  <a:tcPr anchor="ctr"/>
                </a:tc>
                <a:tc>
                  <a:txBody>
                    <a:bodyPr/>
                    <a:lstStyle/>
                    <a:p>
                      <a:r>
                        <a:rPr lang="en-IN" sz="2400"/>
                        <a:t>Version Control</a:t>
                      </a:r>
                    </a:p>
                  </a:txBody>
                  <a:tcPr anchor="ctr"/>
                </a:tc>
                <a:extLst>
                  <a:ext uri="{0D108BD9-81ED-4DB2-BD59-A6C34878D82A}">
                    <a16:rowId xmlns:a16="http://schemas.microsoft.com/office/drawing/2014/main" val="540952587"/>
                  </a:ext>
                </a:extLst>
              </a:tr>
              <a:tr h="645347">
                <a:tc>
                  <a:txBody>
                    <a:bodyPr/>
                    <a:lstStyle/>
                    <a:p>
                      <a:r>
                        <a:rPr lang="en-IN" sz="2400"/>
                        <a:t>GitHub</a:t>
                      </a:r>
                    </a:p>
                  </a:txBody>
                  <a:tcPr anchor="ctr"/>
                </a:tc>
                <a:tc>
                  <a:txBody>
                    <a:bodyPr/>
                    <a:lstStyle/>
                    <a:p>
                      <a:r>
                        <a:rPr lang="en-IN" sz="2400"/>
                        <a:t>Code hosting and collaboration</a:t>
                      </a:r>
                    </a:p>
                  </a:txBody>
                  <a:tcPr anchor="ctr"/>
                </a:tc>
                <a:extLst>
                  <a:ext uri="{0D108BD9-81ED-4DB2-BD59-A6C34878D82A}">
                    <a16:rowId xmlns:a16="http://schemas.microsoft.com/office/drawing/2014/main" val="1716066280"/>
                  </a:ext>
                </a:extLst>
              </a:tr>
              <a:tr h="645347">
                <a:tc>
                  <a:txBody>
                    <a:bodyPr/>
                    <a:lstStyle/>
                    <a:p>
                      <a:r>
                        <a:rPr lang="en-IN" sz="2400"/>
                        <a:t>GitLab</a:t>
                      </a:r>
                    </a:p>
                  </a:txBody>
                  <a:tcPr anchor="ctr"/>
                </a:tc>
                <a:tc>
                  <a:txBody>
                    <a:bodyPr/>
                    <a:lstStyle/>
                    <a:p>
                      <a:r>
                        <a:rPr lang="fr-FR" sz="2400"/>
                        <a:t>Source code management and CI/CD</a:t>
                      </a:r>
                    </a:p>
                  </a:txBody>
                  <a:tcPr anchor="ctr"/>
                </a:tc>
                <a:extLst>
                  <a:ext uri="{0D108BD9-81ED-4DB2-BD59-A6C34878D82A}">
                    <a16:rowId xmlns:a16="http://schemas.microsoft.com/office/drawing/2014/main" val="1272048935"/>
                  </a:ext>
                </a:extLst>
              </a:tr>
              <a:tr h="645347">
                <a:tc>
                  <a:txBody>
                    <a:bodyPr/>
                    <a:lstStyle/>
                    <a:p>
                      <a:r>
                        <a:rPr lang="en-IN" sz="2400"/>
                        <a:t>Codeberg</a:t>
                      </a:r>
                    </a:p>
                  </a:txBody>
                  <a:tcPr anchor="ctr"/>
                </a:tc>
                <a:tc>
                  <a:txBody>
                    <a:bodyPr/>
                    <a:lstStyle/>
                    <a:p>
                      <a:r>
                        <a:rPr lang="en-IN" sz="2400"/>
                        <a:t>Open-source code hosting</a:t>
                      </a:r>
                    </a:p>
                  </a:txBody>
                  <a:tcPr anchor="ctr"/>
                </a:tc>
                <a:extLst>
                  <a:ext uri="{0D108BD9-81ED-4DB2-BD59-A6C34878D82A}">
                    <a16:rowId xmlns:a16="http://schemas.microsoft.com/office/drawing/2014/main" val="144901365"/>
                  </a:ext>
                </a:extLst>
              </a:tr>
              <a:tr h="645347">
                <a:tc>
                  <a:txBody>
                    <a:bodyPr/>
                    <a:lstStyle/>
                    <a:p>
                      <a:r>
                        <a:rPr lang="en-IN" sz="2400"/>
                        <a:t>Gitea</a:t>
                      </a:r>
                    </a:p>
                  </a:txBody>
                  <a:tcPr anchor="ctr"/>
                </a:tc>
                <a:tc>
                  <a:txBody>
                    <a:bodyPr/>
                    <a:lstStyle/>
                    <a:p>
                      <a:r>
                        <a:rPr lang="en-IN" sz="2400"/>
                        <a:t>Self-hosted Git platform</a:t>
                      </a:r>
                    </a:p>
                  </a:txBody>
                  <a:tcPr anchor="ctr"/>
                </a:tc>
                <a:extLst>
                  <a:ext uri="{0D108BD9-81ED-4DB2-BD59-A6C34878D82A}">
                    <a16:rowId xmlns:a16="http://schemas.microsoft.com/office/drawing/2014/main" val="781071067"/>
                  </a:ext>
                </a:extLst>
              </a:tr>
              <a:tr h="645347">
                <a:tc>
                  <a:txBody>
                    <a:bodyPr/>
                    <a:lstStyle/>
                    <a:p>
                      <a:r>
                        <a:rPr lang="en-IN" sz="2400"/>
                        <a:t>Bug Tracker</a:t>
                      </a:r>
                    </a:p>
                  </a:txBody>
                  <a:tcPr anchor="ctr"/>
                </a:tc>
                <a:tc>
                  <a:txBody>
                    <a:bodyPr/>
                    <a:lstStyle/>
                    <a:p>
                      <a:r>
                        <a:rPr lang="en-IN" sz="2400"/>
                        <a:t>Issue management</a:t>
                      </a:r>
                    </a:p>
                  </a:txBody>
                  <a:tcPr anchor="ctr"/>
                </a:tc>
                <a:extLst>
                  <a:ext uri="{0D108BD9-81ED-4DB2-BD59-A6C34878D82A}">
                    <a16:rowId xmlns:a16="http://schemas.microsoft.com/office/drawing/2014/main" val="121712277"/>
                  </a:ext>
                </a:extLst>
              </a:tr>
              <a:tr h="645347">
                <a:tc>
                  <a:txBody>
                    <a:bodyPr/>
                    <a:lstStyle/>
                    <a:p>
                      <a:r>
                        <a:rPr lang="en-IN" sz="2400"/>
                        <a:t>Discussion Forum</a:t>
                      </a:r>
                    </a:p>
                  </a:txBody>
                  <a:tcPr anchor="ctr"/>
                </a:tc>
                <a:tc>
                  <a:txBody>
                    <a:bodyPr/>
                    <a:lstStyle/>
                    <a:p>
                      <a:r>
                        <a:rPr lang="en-IN" sz="2400"/>
                        <a:t>Community interaction</a:t>
                      </a:r>
                    </a:p>
                  </a:txBody>
                  <a:tcPr anchor="ctr"/>
                </a:tc>
                <a:extLst>
                  <a:ext uri="{0D108BD9-81ED-4DB2-BD59-A6C34878D82A}">
                    <a16:rowId xmlns:a16="http://schemas.microsoft.com/office/drawing/2014/main" val="3146658874"/>
                  </a:ext>
                </a:extLst>
              </a:tr>
              <a:tr h="645347">
                <a:tc>
                  <a:txBody>
                    <a:bodyPr/>
                    <a:lstStyle/>
                    <a:p>
                      <a:r>
                        <a:rPr lang="en-IN" sz="2400"/>
                        <a:t>Continuous Integration (CI)</a:t>
                      </a:r>
                    </a:p>
                  </a:txBody>
                  <a:tcPr anchor="ctr"/>
                </a:tc>
                <a:tc>
                  <a:txBody>
                    <a:bodyPr/>
                    <a:lstStyle/>
                    <a:p>
                      <a:r>
                        <a:rPr lang="en-IN" sz="2400" dirty="0"/>
                        <a:t>Automated testing and building</a:t>
                      </a:r>
                    </a:p>
                  </a:txBody>
                  <a:tcPr anchor="ctr"/>
                </a:tc>
                <a:extLst>
                  <a:ext uri="{0D108BD9-81ED-4DB2-BD59-A6C34878D82A}">
                    <a16:rowId xmlns:a16="http://schemas.microsoft.com/office/drawing/2014/main" val="12382409"/>
                  </a:ext>
                </a:extLst>
              </a:tr>
            </a:tbl>
          </a:graphicData>
        </a:graphic>
      </p:graphicFrame>
    </p:spTree>
    <p:extLst>
      <p:ext uri="{BB962C8B-B14F-4D97-AF65-F5344CB8AC3E}">
        <p14:creationId xmlns:p14="http://schemas.microsoft.com/office/powerpoint/2010/main" val="4200292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Best Practices for Contributors</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20000"/>
          </a:bodyPr>
          <a:lstStyle/>
          <a:p>
            <a:pPr algn="just"/>
            <a:r>
              <a:rPr lang="en-US" dirty="0"/>
              <a:t>Read the contribution guidelines before making changes.</a:t>
            </a:r>
          </a:p>
          <a:p>
            <a:pPr algn="just"/>
            <a:r>
              <a:rPr lang="en-US" dirty="0"/>
              <a:t>Follow the project's coding standards.</a:t>
            </a:r>
          </a:p>
          <a:p>
            <a:pPr algn="just"/>
            <a:r>
              <a:rPr lang="en-US" dirty="0"/>
              <a:t>Start with small tasks before tackling larger features.</a:t>
            </a:r>
          </a:p>
          <a:p>
            <a:pPr algn="just"/>
            <a:r>
              <a:rPr lang="en-US" dirty="0"/>
              <a:t>Write clear and descriptive commit messages.</a:t>
            </a:r>
          </a:p>
          <a:p>
            <a:pPr algn="just"/>
            <a:r>
              <a:rPr lang="en-US" dirty="0"/>
              <a:t>Test your changes thoroughly.</a:t>
            </a:r>
          </a:p>
          <a:p>
            <a:pPr algn="just"/>
            <a:r>
              <a:rPr lang="en-US" dirty="0"/>
              <a:t>Keep pull requests focused on a single purpose.</a:t>
            </a:r>
          </a:p>
          <a:p>
            <a:pPr algn="just"/>
            <a:r>
              <a:rPr lang="en-US" dirty="0"/>
              <a:t>Be respectful during code reviews and discussions.</a:t>
            </a:r>
          </a:p>
          <a:p>
            <a:pPr algn="just"/>
            <a:r>
              <a:rPr lang="en-US" dirty="0"/>
              <a:t>Ask questions if requirements are unclear.</a:t>
            </a:r>
          </a:p>
          <a:p>
            <a:pPr algn="just"/>
            <a:r>
              <a:rPr lang="en-US" dirty="0"/>
              <a:t>Credit others where appropriate.</a:t>
            </a:r>
          </a:p>
          <a:p>
            <a:pPr algn="just"/>
            <a:r>
              <a:rPr lang="en-US" dirty="0"/>
              <a:t>Continue learning from community feedback.</a:t>
            </a:r>
            <a:endParaRPr lang="en-IN" dirty="0"/>
          </a:p>
        </p:txBody>
      </p:sp>
    </p:spTree>
    <p:extLst>
      <p:ext uri="{BB962C8B-B14F-4D97-AF65-F5344CB8AC3E}">
        <p14:creationId xmlns:p14="http://schemas.microsoft.com/office/powerpoint/2010/main" val="25490524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Benefits of Contributing to Open Source</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lnSpcReduction="10000"/>
          </a:bodyPr>
          <a:lstStyle/>
          <a:p>
            <a:pPr algn="just"/>
            <a:r>
              <a:rPr lang="en-US" sz="3600" b="1" dirty="0"/>
              <a:t>For Individuals</a:t>
            </a:r>
          </a:p>
          <a:p>
            <a:pPr lvl="1" algn="just"/>
            <a:r>
              <a:rPr lang="en-US" sz="3200" dirty="0"/>
              <a:t>Improves programming skills. </a:t>
            </a:r>
          </a:p>
          <a:p>
            <a:pPr lvl="1" algn="just"/>
            <a:r>
              <a:rPr lang="en-US" sz="3200" dirty="0"/>
              <a:t>Builds a strong portfolio. </a:t>
            </a:r>
          </a:p>
          <a:p>
            <a:pPr lvl="1" algn="just"/>
            <a:r>
              <a:rPr lang="en-US" sz="3200" dirty="0"/>
              <a:t>Provides real-world software development experience. </a:t>
            </a:r>
          </a:p>
          <a:p>
            <a:pPr lvl="1" algn="just"/>
            <a:r>
              <a:rPr lang="en-US" sz="3200" dirty="0"/>
              <a:t>Enhances teamwork and communication skills. </a:t>
            </a:r>
          </a:p>
          <a:p>
            <a:pPr lvl="1" algn="just"/>
            <a:r>
              <a:rPr lang="en-US" sz="3200" dirty="0"/>
              <a:t>Increases career opportunities. </a:t>
            </a:r>
          </a:p>
          <a:p>
            <a:pPr lvl="1" algn="just"/>
            <a:r>
              <a:rPr lang="en-US" sz="3200" dirty="0"/>
              <a:t>Expands professional networks. </a:t>
            </a:r>
          </a:p>
          <a:p>
            <a:pPr lvl="1" algn="just"/>
            <a:r>
              <a:rPr lang="en-US" sz="3200" dirty="0"/>
              <a:t>Offers opportunities to learn from experienced developers.</a:t>
            </a:r>
          </a:p>
          <a:p>
            <a:pPr algn="just"/>
            <a:endParaRPr lang="en-IN" sz="3600" dirty="0"/>
          </a:p>
        </p:txBody>
      </p:sp>
    </p:spTree>
    <p:extLst>
      <p:ext uri="{BB962C8B-B14F-4D97-AF65-F5344CB8AC3E}">
        <p14:creationId xmlns:p14="http://schemas.microsoft.com/office/powerpoint/2010/main" val="808289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Benefits of Contributing to Open Source</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r>
              <a:rPr lang="en-US" sz="4000" b="1" dirty="0"/>
              <a:t>For Organizations</a:t>
            </a:r>
          </a:p>
          <a:p>
            <a:pPr lvl="1"/>
            <a:r>
              <a:rPr lang="en-US" sz="3200" dirty="0"/>
              <a:t>Reduces software development costs. </a:t>
            </a:r>
          </a:p>
          <a:p>
            <a:pPr lvl="1"/>
            <a:r>
              <a:rPr lang="en-US" sz="3200" dirty="0"/>
              <a:t>Encourages innovation. </a:t>
            </a:r>
          </a:p>
          <a:p>
            <a:pPr lvl="1"/>
            <a:r>
              <a:rPr lang="en-US" sz="3200" dirty="0"/>
              <a:t>Improves software quality. </a:t>
            </a:r>
          </a:p>
          <a:p>
            <a:pPr lvl="1"/>
            <a:r>
              <a:rPr lang="en-US" sz="3200" dirty="0"/>
              <a:t>Accelerates feature development. </a:t>
            </a:r>
          </a:p>
          <a:p>
            <a:pPr lvl="1"/>
            <a:r>
              <a:rPr lang="en-US" sz="3200" dirty="0"/>
              <a:t>Builds customer trust through transparency.</a:t>
            </a:r>
          </a:p>
          <a:p>
            <a:pPr algn="just"/>
            <a:endParaRPr lang="en-IN" sz="5400" dirty="0"/>
          </a:p>
        </p:txBody>
      </p:sp>
    </p:spTree>
    <p:extLst>
      <p:ext uri="{BB962C8B-B14F-4D97-AF65-F5344CB8AC3E}">
        <p14:creationId xmlns:p14="http://schemas.microsoft.com/office/powerpoint/2010/main" val="29453633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Benefits of Open-source contributions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lnSpcReduction="10000"/>
          </a:bodyPr>
          <a:lstStyle/>
          <a:p>
            <a:pPr algn="just" fontAlgn="base">
              <a:buFont typeface="Arial" panose="020B0604020202020204" pitchFamily="34" charset="0"/>
              <a:buChar char="•"/>
            </a:pPr>
            <a:r>
              <a:rPr lang="en-US" b="0" i="0" dirty="0">
                <a:solidFill>
                  <a:srgbClr val="273239"/>
                </a:solidFill>
                <a:effectLst/>
                <a:latin typeface="Nunito" pitchFamily="2" charset="0"/>
              </a:rPr>
              <a:t>We code for real-world open-source projects.</a:t>
            </a:r>
          </a:p>
          <a:p>
            <a:pPr algn="just" fontAlgn="base">
              <a:buFont typeface="Arial" panose="020B0604020202020204" pitchFamily="34" charset="0"/>
              <a:buChar char="•"/>
            </a:pPr>
            <a:r>
              <a:rPr lang="en-US" b="0" i="0" dirty="0">
                <a:solidFill>
                  <a:srgbClr val="273239"/>
                </a:solidFill>
                <a:effectLst/>
                <a:latin typeface="Nunito" pitchFamily="2" charset="0"/>
              </a:rPr>
              <a:t>It refines our existing knowledge of programming and also helps us to learn new skills.</a:t>
            </a:r>
          </a:p>
          <a:p>
            <a:pPr algn="just" fontAlgn="base">
              <a:buFont typeface="Arial" panose="020B0604020202020204" pitchFamily="34" charset="0"/>
              <a:buChar char="•"/>
            </a:pPr>
            <a:r>
              <a:rPr lang="en-US" b="0" i="0" dirty="0">
                <a:solidFill>
                  <a:srgbClr val="273239"/>
                </a:solidFill>
                <a:effectLst/>
                <a:latin typeface="Nunito" pitchFamily="2" charset="0"/>
              </a:rPr>
              <a:t>Many open-source projects offer mentorship programs to guide and help us through our first few contributions.</a:t>
            </a:r>
          </a:p>
          <a:p>
            <a:pPr algn="just" fontAlgn="base">
              <a:buFont typeface="Arial" panose="020B0604020202020204" pitchFamily="34" charset="0"/>
              <a:buChar char="•"/>
            </a:pPr>
            <a:r>
              <a:rPr lang="en-US" b="0" i="0" dirty="0">
                <a:solidFill>
                  <a:srgbClr val="273239"/>
                </a:solidFill>
                <a:effectLst/>
                <a:latin typeface="Nunito" pitchFamily="2" charset="0"/>
              </a:rPr>
              <a:t>We need not develop the whole thing from scratch, we just have to fork our favorite projects and start experimenting with them.</a:t>
            </a:r>
          </a:p>
          <a:p>
            <a:pPr algn="just" fontAlgn="base">
              <a:buFont typeface="Arial" panose="020B0604020202020204" pitchFamily="34" charset="0"/>
              <a:buChar char="•"/>
            </a:pPr>
            <a:r>
              <a:rPr lang="en-US" b="0" i="0" dirty="0">
                <a:solidFill>
                  <a:srgbClr val="273239"/>
                </a:solidFill>
                <a:effectLst/>
                <a:latin typeface="Nunito" pitchFamily="2" charset="0"/>
              </a:rPr>
              <a:t>After making any open-source contribution, we get immediate feedback regarding our developmental work.</a:t>
            </a:r>
          </a:p>
          <a:p>
            <a:pPr algn="just"/>
            <a:endParaRPr lang="en-IN" dirty="0"/>
          </a:p>
        </p:txBody>
      </p:sp>
    </p:spTree>
    <p:extLst>
      <p:ext uri="{BB962C8B-B14F-4D97-AF65-F5344CB8AC3E}">
        <p14:creationId xmlns:p14="http://schemas.microsoft.com/office/powerpoint/2010/main" val="4625207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Benefits of Open-source contributions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just" fontAlgn="base">
              <a:buFont typeface="Arial" panose="020B0604020202020204" pitchFamily="34" charset="0"/>
              <a:buChar char="•"/>
            </a:pPr>
            <a:r>
              <a:rPr lang="en-US" b="0" i="0" dirty="0">
                <a:solidFill>
                  <a:srgbClr val="273239"/>
                </a:solidFill>
                <a:effectLst/>
                <a:latin typeface="Nunito" pitchFamily="2" charset="0"/>
              </a:rPr>
              <a:t>While doing open-source contributions, we interact with like-minded developers from all over the world and build connections along the way.</a:t>
            </a:r>
          </a:p>
          <a:p>
            <a:pPr algn="just" fontAlgn="base">
              <a:buFont typeface="Arial" panose="020B0604020202020204" pitchFamily="34" charset="0"/>
              <a:buChar char="•"/>
            </a:pPr>
            <a:r>
              <a:rPr lang="en-US" b="0" i="0" dirty="0">
                <a:solidFill>
                  <a:srgbClr val="273239"/>
                </a:solidFill>
                <a:effectLst/>
                <a:latin typeface="Nunito" pitchFamily="2" charset="0"/>
              </a:rPr>
              <a:t>As we get more closer to the open-source community, we get to know much more about our field of interest and other related fields.</a:t>
            </a:r>
          </a:p>
          <a:p>
            <a:pPr algn="just" fontAlgn="base">
              <a:buFont typeface="Arial" panose="020B0604020202020204" pitchFamily="34" charset="0"/>
              <a:buChar char="•"/>
            </a:pPr>
            <a:r>
              <a:rPr lang="en-US" b="0" i="0" dirty="0">
                <a:solidFill>
                  <a:srgbClr val="273239"/>
                </a:solidFill>
                <a:effectLst/>
                <a:latin typeface="Nunito" pitchFamily="2" charset="0"/>
              </a:rPr>
              <a:t>The most important aspect of open-source contributions is It may fetch us a job in our field of interest.</a:t>
            </a:r>
          </a:p>
          <a:p>
            <a:pPr algn="just"/>
            <a:endParaRPr lang="en-IN" dirty="0"/>
          </a:p>
        </p:txBody>
      </p:sp>
    </p:spTree>
    <p:extLst>
      <p:ext uri="{BB962C8B-B14F-4D97-AF65-F5344CB8AC3E}">
        <p14:creationId xmlns:p14="http://schemas.microsoft.com/office/powerpoint/2010/main" val="11832362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Challenges in Open-Source Contributions</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just"/>
            <a:r>
              <a:rPr lang="en-US" dirty="0"/>
              <a:t>Large and complex codebases.</a:t>
            </a:r>
          </a:p>
          <a:p>
            <a:pPr algn="just"/>
            <a:r>
              <a:rPr lang="en-US" dirty="0"/>
              <a:t>Learning project architecture.</a:t>
            </a:r>
          </a:p>
          <a:p>
            <a:pPr algn="just"/>
            <a:r>
              <a:rPr lang="en-US" dirty="0"/>
              <a:t>Understanding coding standards.</a:t>
            </a:r>
          </a:p>
          <a:p>
            <a:pPr algn="just"/>
            <a:r>
              <a:rPr lang="en-US" dirty="0"/>
              <a:t>Communicating effectively with maintainers.</a:t>
            </a:r>
          </a:p>
          <a:p>
            <a:pPr algn="just"/>
            <a:r>
              <a:rPr lang="en-US" dirty="0"/>
              <a:t>Managing time zones in global communities.</a:t>
            </a:r>
          </a:p>
          <a:p>
            <a:pPr algn="just"/>
            <a:r>
              <a:rPr lang="en-US" dirty="0"/>
              <a:t>Receiving constructive feedback during reviews.</a:t>
            </a:r>
          </a:p>
          <a:p>
            <a:pPr algn="just"/>
            <a:r>
              <a:rPr lang="en-US" dirty="0"/>
              <a:t>Keeping up with frequent project updates.</a:t>
            </a:r>
            <a:endParaRPr lang="en-IN" dirty="0"/>
          </a:p>
        </p:txBody>
      </p:sp>
    </p:spTree>
    <p:extLst>
      <p:ext uri="{BB962C8B-B14F-4D97-AF65-F5344CB8AC3E}">
        <p14:creationId xmlns:p14="http://schemas.microsoft.com/office/powerpoint/2010/main" val="938839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484741" y="18255"/>
            <a:ext cx="11931267" cy="1325563"/>
          </a:xfrm>
        </p:spPr>
        <p:txBody>
          <a:bodyPr/>
          <a:lstStyle/>
          <a:p>
            <a:pPr algn="just"/>
            <a:r>
              <a:rPr lang="en-US" b="1" dirty="0"/>
              <a:t>Real-World Examples of Open-Source Communities</a:t>
            </a:r>
            <a:endParaRPr lang="en-IN" b="1" dirty="0"/>
          </a:p>
        </p:txBody>
      </p:sp>
      <p:graphicFrame>
        <p:nvGraphicFramePr>
          <p:cNvPr id="4" name="Content Placeholder 3">
            <a:extLst>
              <a:ext uri="{FF2B5EF4-FFF2-40B4-BE49-F238E27FC236}">
                <a16:creationId xmlns:a16="http://schemas.microsoft.com/office/drawing/2014/main" id="{0F831836-BBED-4353-80DC-BBC4E9BB9C63}"/>
              </a:ext>
            </a:extLst>
          </p:cNvPr>
          <p:cNvGraphicFramePr>
            <a:graphicFrameLocks noGrp="1"/>
          </p:cNvGraphicFramePr>
          <p:nvPr>
            <p:ph idx="1"/>
            <p:extLst>
              <p:ext uri="{D42A27DB-BD31-4B8C-83A1-F6EECF244321}">
                <p14:modId xmlns:p14="http://schemas.microsoft.com/office/powerpoint/2010/main" val="987410306"/>
              </p:ext>
            </p:extLst>
          </p:nvPr>
        </p:nvGraphicFramePr>
        <p:xfrm>
          <a:off x="606845" y="1130962"/>
          <a:ext cx="10806630" cy="5684486"/>
        </p:xfrm>
        <a:graphic>
          <a:graphicData uri="http://schemas.openxmlformats.org/drawingml/2006/table">
            <a:tbl>
              <a:tblPr>
                <a:tableStyleId>{284E427A-3D55-4303-BF80-6455036E1DE7}</a:tableStyleId>
              </a:tblPr>
              <a:tblGrid>
                <a:gridCol w="2477878">
                  <a:extLst>
                    <a:ext uri="{9D8B030D-6E8A-4147-A177-3AD203B41FA5}">
                      <a16:colId xmlns:a16="http://schemas.microsoft.com/office/drawing/2014/main" val="1603781961"/>
                    </a:ext>
                  </a:extLst>
                </a:gridCol>
                <a:gridCol w="8328752">
                  <a:extLst>
                    <a:ext uri="{9D8B030D-6E8A-4147-A177-3AD203B41FA5}">
                      <a16:colId xmlns:a16="http://schemas.microsoft.com/office/drawing/2014/main" val="224279985"/>
                    </a:ext>
                  </a:extLst>
                </a:gridCol>
              </a:tblGrid>
              <a:tr h="533366">
                <a:tc>
                  <a:txBody>
                    <a:bodyPr/>
                    <a:lstStyle/>
                    <a:p>
                      <a:pPr algn="just"/>
                      <a:r>
                        <a:rPr lang="en-IN" sz="2800" b="1" dirty="0"/>
                        <a:t>Project</a:t>
                      </a:r>
                    </a:p>
                  </a:txBody>
                  <a:tcPr anchor="ctr"/>
                </a:tc>
                <a:tc>
                  <a:txBody>
                    <a:bodyPr/>
                    <a:lstStyle/>
                    <a:p>
                      <a:pPr algn="just"/>
                      <a:r>
                        <a:rPr lang="en-IN" sz="2800" b="1" dirty="0"/>
                        <a:t>Community Contributions</a:t>
                      </a:r>
                    </a:p>
                  </a:txBody>
                  <a:tcPr anchor="ctr"/>
                </a:tc>
                <a:extLst>
                  <a:ext uri="{0D108BD9-81ED-4DB2-BD59-A6C34878D82A}">
                    <a16:rowId xmlns:a16="http://schemas.microsoft.com/office/drawing/2014/main" val="3043514111"/>
                  </a:ext>
                </a:extLst>
              </a:tr>
              <a:tr h="933390">
                <a:tc>
                  <a:txBody>
                    <a:bodyPr/>
                    <a:lstStyle/>
                    <a:p>
                      <a:pPr algn="just"/>
                      <a:r>
                        <a:rPr lang="en-IN" sz="2800"/>
                        <a:t>Linux Kernel</a:t>
                      </a:r>
                    </a:p>
                  </a:txBody>
                  <a:tcPr anchor="ctr"/>
                </a:tc>
                <a:tc>
                  <a:txBody>
                    <a:bodyPr/>
                    <a:lstStyle/>
                    <a:p>
                      <a:pPr algn="just"/>
                      <a:r>
                        <a:rPr lang="en-US" sz="2800"/>
                        <a:t>Thousands of developers contribute kernel improvements and hardware support.</a:t>
                      </a:r>
                    </a:p>
                  </a:txBody>
                  <a:tcPr anchor="ctr"/>
                </a:tc>
                <a:extLst>
                  <a:ext uri="{0D108BD9-81ED-4DB2-BD59-A6C34878D82A}">
                    <a16:rowId xmlns:a16="http://schemas.microsoft.com/office/drawing/2014/main" val="1118394710"/>
                  </a:ext>
                </a:extLst>
              </a:tr>
              <a:tr h="933390">
                <a:tc>
                  <a:txBody>
                    <a:bodyPr/>
                    <a:lstStyle/>
                    <a:p>
                      <a:pPr algn="just"/>
                      <a:r>
                        <a:rPr lang="en-IN" sz="2800"/>
                        <a:t>Apache HTTP Server</a:t>
                      </a:r>
                    </a:p>
                  </a:txBody>
                  <a:tcPr anchor="ctr"/>
                </a:tc>
                <a:tc>
                  <a:txBody>
                    <a:bodyPr/>
                    <a:lstStyle/>
                    <a:p>
                      <a:pPr algn="just"/>
                      <a:r>
                        <a:rPr lang="en-US" sz="2800"/>
                        <a:t>Volunteers maintain web server features, documentation, and security updates.</a:t>
                      </a:r>
                    </a:p>
                  </a:txBody>
                  <a:tcPr anchor="ctr"/>
                </a:tc>
                <a:extLst>
                  <a:ext uri="{0D108BD9-81ED-4DB2-BD59-A6C34878D82A}">
                    <a16:rowId xmlns:a16="http://schemas.microsoft.com/office/drawing/2014/main" val="748484459"/>
                  </a:ext>
                </a:extLst>
              </a:tr>
              <a:tr h="933390">
                <a:tc>
                  <a:txBody>
                    <a:bodyPr/>
                    <a:lstStyle/>
                    <a:p>
                      <a:pPr algn="just"/>
                      <a:r>
                        <a:rPr lang="en-IN" sz="2800"/>
                        <a:t>Mozilla Firefox</a:t>
                      </a:r>
                    </a:p>
                  </a:txBody>
                  <a:tcPr anchor="ctr"/>
                </a:tc>
                <a:tc>
                  <a:txBody>
                    <a:bodyPr/>
                    <a:lstStyle/>
                    <a:p>
                      <a:pPr algn="just"/>
                      <a:r>
                        <a:rPr lang="en-US" sz="2800" dirty="0"/>
                        <a:t>Contributors develop browser features, fix bugs, and improve privacy.</a:t>
                      </a:r>
                    </a:p>
                  </a:txBody>
                  <a:tcPr anchor="ctr"/>
                </a:tc>
                <a:extLst>
                  <a:ext uri="{0D108BD9-81ED-4DB2-BD59-A6C34878D82A}">
                    <a16:rowId xmlns:a16="http://schemas.microsoft.com/office/drawing/2014/main" val="2065146712"/>
                  </a:ext>
                </a:extLst>
              </a:tr>
              <a:tr h="1333415">
                <a:tc>
                  <a:txBody>
                    <a:bodyPr/>
                    <a:lstStyle/>
                    <a:p>
                      <a:pPr algn="just"/>
                      <a:r>
                        <a:rPr lang="en-IN" sz="2800"/>
                        <a:t>Python</a:t>
                      </a:r>
                    </a:p>
                  </a:txBody>
                  <a:tcPr anchor="ctr"/>
                </a:tc>
                <a:tc>
                  <a:txBody>
                    <a:bodyPr/>
                    <a:lstStyle/>
                    <a:p>
                      <a:pPr algn="just"/>
                      <a:r>
                        <a:rPr lang="en-US" sz="2800"/>
                        <a:t>Community members enhance the language, libraries, and documentation through the Python Enhancement Proposal (PEP) process.</a:t>
                      </a:r>
                    </a:p>
                  </a:txBody>
                  <a:tcPr anchor="ctr"/>
                </a:tc>
                <a:extLst>
                  <a:ext uri="{0D108BD9-81ED-4DB2-BD59-A6C34878D82A}">
                    <a16:rowId xmlns:a16="http://schemas.microsoft.com/office/drawing/2014/main" val="1940324211"/>
                  </a:ext>
                </a:extLst>
              </a:tr>
              <a:tr h="933390">
                <a:tc>
                  <a:txBody>
                    <a:bodyPr/>
                    <a:lstStyle/>
                    <a:p>
                      <a:pPr algn="just"/>
                      <a:r>
                        <a:rPr lang="en-IN" sz="2800"/>
                        <a:t>LibreOffice</a:t>
                      </a:r>
                    </a:p>
                  </a:txBody>
                  <a:tcPr anchor="ctr"/>
                </a:tc>
                <a:tc>
                  <a:txBody>
                    <a:bodyPr/>
                    <a:lstStyle/>
                    <a:p>
                      <a:pPr algn="just"/>
                      <a:r>
                        <a:rPr lang="en-IN" sz="2800" dirty="0"/>
                        <a:t>Volunteers improve office applications, documentation, translations, and accessibility.</a:t>
                      </a:r>
                    </a:p>
                  </a:txBody>
                  <a:tcPr anchor="ctr"/>
                </a:tc>
                <a:extLst>
                  <a:ext uri="{0D108BD9-81ED-4DB2-BD59-A6C34878D82A}">
                    <a16:rowId xmlns:a16="http://schemas.microsoft.com/office/drawing/2014/main" val="200099420"/>
                  </a:ext>
                </a:extLst>
              </a:tr>
            </a:tbl>
          </a:graphicData>
        </a:graphic>
      </p:graphicFrame>
    </p:spTree>
    <p:extLst>
      <p:ext uri="{BB962C8B-B14F-4D97-AF65-F5344CB8AC3E}">
        <p14:creationId xmlns:p14="http://schemas.microsoft.com/office/powerpoint/2010/main" val="138818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Difference Between User and Contributor</a:t>
            </a:r>
            <a:endParaRPr lang="en-IN" b="1" dirty="0"/>
          </a:p>
        </p:txBody>
      </p:sp>
      <p:graphicFrame>
        <p:nvGraphicFramePr>
          <p:cNvPr id="4" name="Content Placeholder 3">
            <a:extLst>
              <a:ext uri="{FF2B5EF4-FFF2-40B4-BE49-F238E27FC236}">
                <a16:creationId xmlns:a16="http://schemas.microsoft.com/office/drawing/2014/main" id="{3648438E-C053-4314-81C2-5C4483FD3DA2}"/>
              </a:ext>
            </a:extLst>
          </p:cNvPr>
          <p:cNvGraphicFramePr>
            <a:graphicFrameLocks noGrp="1"/>
          </p:cNvGraphicFramePr>
          <p:nvPr>
            <p:ph idx="1"/>
            <p:extLst>
              <p:ext uri="{D42A27DB-BD31-4B8C-83A1-F6EECF244321}">
                <p14:modId xmlns:p14="http://schemas.microsoft.com/office/powerpoint/2010/main" val="3144456337"/>
              </p:ext>
            </p:extLst>
          </p:nvPr>
        </p:nvGraphicFramePr>
        <p:xfrm>
          <a:off x="838200" y="1544825"/>
          <a:ext cx="10515600" cy="4657500"/>
        </p:xfrm>
        <a:graphic>
          <a:graphicData uri="http://schemas.openxmlformats.org/drawingml/2006/table">
            <a:tbl>
              <a:tblPr>
                <a:tableStyleId>{284E427A-3D55-4303-BF80-6455036E1DE7}</a:tableStyleId>
              </a:tblPr>
              <a:tblGrid>
                <a:gridCol w="4471930">
                  <a:extLst>
                    <a:ext uri="{9D8B030D-6E8A-4147-A177-3AD203B41FA5}">
                      <a16:colId xmlns:a16="http://schemas.microsoft.com/office/drawing/2014/main" val="2036152162"/>
                    </a:ext>
                  </a:extLst>
                </a:gridCol>
                <a:gridCol w="6043670">
                  <a:extLst>
                    <a:ext uri="{9D8B030D-6E8A-4147-A177-3AD203B41FA5}">
                      <a16:colId xmlns:a16="http://schemas.microsoft.com/office/drawing/2014/main" val="1873413967"/>
                    </a:ext>
                  </a:extLst>
                </a:gridCol>
              </a:tblGrid>
              <a:tr h="776250">
                <a:tc>
                  <a:txBody>
                    <a:bodyPr/>
                    <a:lstStyle/>
                    <a:p>
                      <a:r>
                        <a:rPr lang="en-IN" sz="3200" b="1" dirty="0"/>
                        <a:t>User</a:t>
                      </a:r>
                    </a:p>
                  </a:txBody>
                  <a:tcPr anchor="ctr"/>
                </a:tc>
                <a:tc>
                  <a:txBody>
                    <a:bodyPr/>
                    <a:lstStyle/>
                    <a:p>
                      <a:r>
                        <a:rPr lang="en-IN" sz="3200" b="1" dirty="0"/>
                        <a:t>Contributor</a:t>
                      </a:r>
                    </a:p>
                  </a:txBody>
                  <a:tcPr anchor="ctr"/>
                </a:tc>
                <a:extLst>
                  <a:ext uri="{0D108BD9-81ED-4DB2-BD59-A6C34878D82A}">
                    <a16:rowId xmlns:a16="http://schemas.microsoft.com/office/drawing/2014/main" val="4174434244"/>
                  </a:ext>
                </a:extLst>
              </a:tr>
              <a:tr h="776250">
                <a:tc>
                  <a:txBody>
                    <a:bodyPr/>
                    <a:lstStyle/>
                    <a:p>
                      <a:r>
                        <a:rPr lang="en-IN" sz="3200" dirty="0"/>
                        <a:t>Uses the software</a:t>
                      </a:r>
                    </a:p>
                  </a:txBody>
                  <a:tcPr anchor="ctr"/>
                </a:tc>
                <a:tc>
                  <a:txBody>
                    <a:bodyPr/>
                    <a:lstStyle/>
                    <a:p>
                      <a:r>
                        <a:rPr lang="en-IN" sz="3200"/>
                        <a:t>Improves the software</a:t>
                      </a:r>
                    </a:p>
                  </a:txBody>
                  <a:tcPr anchor="ctr"/>
                </a:tc>
                <a:extLst>
                  <a:ext uri="{0D108BD9-81ED-4DB2-BD59-A6C34878D82A}">
                    <a16:rowId xmlns:a16="http://schemas.microsoft.com/office/drawing/2014/main" val="105223520"/>
                  </a:ext>
                </a:extLst>
              </a:tr>
              <a:tr h="776250">
                <a:tc>
                  <a:txBody>
                    <a:bodyPr/>
                    <a:lstStyle/>
                    <a:p>
                      <a:r>
                        <a:rPr lang="en-IN" sz="3200"/>
                        <a:t>Reports issues</a:t>
                      </a:r>
                    </a:p>
                  </a:txBody>
                  <a:tcPr anchor="ctr"/>
                </a:tc>
                <a:tc>
                  <a:txBody>
                    <a:bodyPr/>
                    <a:lstStyle/>
                    <a:p>
                      <a:r>
                        <a:rPr lang="en-IN" sz="3200"/>
                        <a:t>Fixes issues</a:t>
                      </a:r>
                    </a:p>
                  </a:txBody>
                  <a:tcPr anchor="ctr"/>
                </a:tc>
                <a:extLst>
                  <a:ext uri="{0D108BD9-81ED-4DB2-BD59-A6C34878D82A}">
                    <a16:rowId xmlns:a16="http://schemas.microsoft.com/office/drawing/2014/main" val="48234776"/>
                  </a:ext>
                </a:extLst>
              </a:tr>
              <a:tr h="776250">
                <a:tc>
                  <a:txBody>
                    <a:bodyPr/>
                    <a:lstStyle/>
                    <a:p>
                      <a:r>
                        <a:rPr lang="en-IN" sz="3200"/>
                        <a:t>Reads documentation</a:t>
                      </a:r>
                    </a:p>
                  </a:txBody>
                  <a:tcPr anchor="ctr"/>
                </a:tc>
                <a:tc>
                  <a:txBody>
                    <a:bodyPr/>
                    <a:lstStyle/>
                    <a:p>
                      <a:r>
                        <a:rPr lang="en-IN" sz="3200"/>
                        <a:t>Writes or updates documentation</a:t>
                      </a:r>
                    </a:p>
                  </a:txBody>
                  <a:tcPr anchor="ctr"/>
                </a:tc>
                <a:extLst>
                  <a:ext uri="{0D108BD9-81ED-4DB2-BD59-A6C34878D82A}">
                    <a16:rowId xmlns:a16="http://schemas.microsoft.com/office/drawing/2014/main" val="3502961291"/>
                  </a:ext>
                </a:extLst>
              </a:tr>
              <a:tr h="776250">
                <a:tc>
                  <a:txBody>
                    <a:bodyPr/>
                    <a:lstStyle/>
                    <a:p>
                      <a:r>
                        <a:rPr lang="en-IN" sz="3200"/>
                        <a:t>Provides feedback</a:t>
                      </a:r>
                    </a:p>
                  </a:txBody>
                  <a:tcPr anchor="ctr"/>
                </a:tc>
                <a:tc>
                  <a:txBody>
                    <a:bodyPr/>
                    <a:lstStyle/>
                    <a:p>
                      <a:r>
                        <a:rPr lang="en-IN" sz="3200"/>
                        <a:t>Implements improvements</a:t>
                      </a:r>
                    </a:p>
                  </a:txBody>
                  <a:tcPr anchor="ctr"/>
                </a:tc>
                <a:extLst>
                  <a:ext uri="{0D108BD9-81ED-4DB2-BD59-A6C34878D82A}">
                    <a16:rowId xmlns:a16="http://schemas.microsoft.com/office/drawing/2014/main" val="300316245"/>
                  </a:ext>
                </a:extLst>
              </a:tr>
              <a:tr h="776250">
                <a:tc>
                  <a:txBody>
                    <a:bodyPr/>
                    <a:lstStyle/>
                    <a:p>
                      <a:r>
                        <a:rPr lang="en-IN" sz="3200"/>
                        <a:t>Learns from the project</a:t>
                      </a:r>
                    </a:p>
                  </a:txBody>
                  <a:tcPr anchor="ctr"/>
                </a:tc>
                <a:tc>
                  <a:txBody>
                    <a:bodyPr/>
                    <a:lstStyle/>
                    <a:p>
                      <a:r>
                        <a:rPr lang="en-IN" sz="3200" dirty="0"/>
                        <a:t>Helps the project grow</a:t>
                      </a:r>
                    </a:p>
                  </a:txBody>
                  <a:tcPr anchor="ctr"/>
                </a:tc>
                <a:extLst>
                  <a:ext uri="{0D108BD9-81ED-4DB2-BD59-A6C34878D82A}">
                    <a16:rowId xmlns:a16="http://schemas.microsoft.com/office/drawing/2014/main" val="3622964958"/>
                  </a:ext>
                </a:extLst>
              </a:tr>
            </a:tbl>
          </a:graphicData>
        </a:graphic>
      </p:graphicFrame>
    </p:spTree>
    <p:extLst>
      <p:ext uri="{BB962C8B-B14F-4D97-AF65-F5344CB8AC3E}">
        <p14:creationId xmlns:p14="http://schemas.microsoft.com/office/powerpoint/2010/main" val="17981082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Code of Conduct</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10000"/>
          </a:bodyPr>
          <a:lstStyle/>
          <a:p>
            <a:pPr algn="just"/>
            <a:r>
              <a:rPr lang="en-US" sz="3200" dirty="0"/>
              <a:t>Most open-source projects adopt a </a:t>
            </a:r>
            <a:r>
              <a:rPr lang="en-US" sz="3200" b="1" dirty="0"/>
              <a:t>Code of Conduct</a:t>
            </a:r>
            <a:r>
              <a:rPr lang="en-US" sz="3200" dirty="0"/>
              <a:t>, which defines expected behavior within the community. </a:t>
            </a:r>
          </a:p>
          <a:p>
            <a:pPr algn="just"/>
            <a:r>
              <a:rPr lang="en-US" sz="3200" dirty="0"/>
              <a:t>Common principles include:</a:t>
            </a:r>
          </a:p>
          <a:p>
            <a:pPr lvl="1" algn="just"/>
            <a:r>
              <a:rPr lang="en-US" sz="2800" dirty="0"/>
              <a:t>Treat everyone with respect. </a:t>
            </a:r>
          </a:p>
          <a:p>
            <a:pPr lvl="1" algn="just"/>
            <a:r>
              <a:rPr lang="en-US" sz="2800" dirty="0"/>
              <a:t>Be welcoming and inclusive. </a:t>
            </a:r>
          </a:p>
          <a:p>
            <a:pPr lvl="1" algn="just"/>
            <a:r>
              <a:rPr lang="en-US" sz="2800" dirty="0"/>
              <a:t>Accept constructive criticism. </a:t>
            </a:r>
          </a:p>
          <a:p>
            <a:pPr lvl="1" algn="just"/>
            <a:r>
              <a:rPr lang="en-US" sz="2800" dirty="0"/>
              <a:t>Avoid harassment or discrimination. </a:t>
            </a:r>
          </a:p>
          <a:p>
            <a:pPr lvl="1" algn="just"/>
            <a:r>
              <a:rPr lang="en-US" sz="2800" dirty="0"/>
              <a:t>Focus discussions on technical issues. </a:t>
            </a:r>
          </a:p>
          <a:p>
            <a:pPr lvl="1" algn="just"/>
            <a:r>
              <a:rPr lang="en-US" sz="2800" dirty="0"/>
              <a:t>Follow community rules and guidelines. </a:t>
            </a:r>
          </a:p>
          <a:p>
            <a:pPr algn="just"/>
            <a:r>
              <a:rPr lang="en-US" sz="3200" dirty="0"/>
              <a:t>A healthy community depends on respectful and professional interactions.</a:t>
            </a:r>
            <a:endParaRPr lang="en-IN" sz="3200" dirty="0"/>
          </a:p>
        </p:txBody>
      </p:sp>
    </p:spTree>
    <p:extLst>
      <p:ext uri="{BB962C8B-B14F-4D97-AF65-F5344CB8AC3E}">
        <p14:creationId xmlns:p14="http://schemas.microsoft.com/office/powerpoint/2010/main" val="30769773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2675731"/>
            <a:ext cx="10515600" cy="1325563"/>
          </a:xfrm>
        </p:spPr>
        <p:txBody>
          <a:bodyPr/>
          <a:lstStyle/>
          <a:p>
            <a:pPr algn="ctr"/>
            <a:r>
              <a:rPr lang="en-IN" b="1" dirty="0"/>
              <a:t>Key Open Source Licenses</a:t>
            </a:r>
          </a:p>
        </p:txBody>
      </p:sp>
    </p:spTree>
    <p:extLst>
      <p:ext uri="{BB962C8B-B14F-4D97-AF65-F5344CB8AC3E}">
        <p14:creationId xmlns:p14="http://schemas.microsoft.com/office/powerpoint/2010/main" val="21877044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44058"/>
            <a:ext cx="10515600" cy="5513942"/>
          </a:xfrm>
        </p:spPr>
        <p:txBody>
          <a:bodyPr>
            <a:normAutofit lnSpcReduction="10000"/>
          </a:bodyPr>
          <a:lstStyle/>
          <a:p>
            <a:pPr algn="just"/>
            <a:r>
              <a:rPr lang="en-US" sz="3000" dirty="0"/>
              <a:t>Open-source software allows users to view, modify, and distribute source code. However, </a:t>
            </a:r>
            <a:r>
              <a:rPr lang="en-US" sz="3000" b="1" dirty="0"/>
              <a:t>open source does not mean "no rules."</a:t>
            </a:r>
            <a:r>
              <a:rPr lang="en-US" sz="3000" dirty="0"/>
              <a:t> Every open-source project is distributed under a </a:t>
            </a:r>
            <a:r>
              <a:rPr lang="en-US" sz="3000" b="1" dirty="0"/>
              <a:t>software license</a:t>
            </a:r>
            <a:r>
              <a:rPr lang="en-US" sz="3000" dirty="0"/>
              <a:t> that defines the legal rights and responsibilities of users and developers.</a:t>
            </a:r>
          </a:p>
          <a:p>
            <a:pPr algn="just"/>
            <a:r>
              <a:rPr lang="en-US" sz="3000" dirty="0"/>
              <a:t>A software license answers important questions such as:</a:t>
            </a:r>
          </a:p>
          <a:p>
            <a:pPr lvl="1" algn="just"/>
            <a:r>
              <a:rPr lang="en-US" sz="2200" dirty="0"/>
              <a:t>Can I use this software for commercial purposes? </a:t>
            </a:r>
          </a:p>
          <a:p>
            <a:pPr lvl="1" algn="just"/>
            <a:r>
              <a:rPr lang="en-US" sz="2200" dirty="0"/>
              <a:t>Can I modify the source code? </a:t>
            </a:r>
          </a:p>
          <a:p>
            <a:pPr lvl="1" algn="just"/>
            <a:r>
              <a:rPr lang="en-US" sz="2200" dirty="0"/>
              <a:t>Can I distribute modified versions? </a:t>
            </a:r>
          </a:p>
          <a:p>
            <a:pPr lvl="1" algn="just"/>
            <a:r>
              <a:rPr lang="en-US" sz="2200" dirty="0"/>
              <a:t>Must I share my modifications? </a:t>
            </a:r>
          </a:p>
          <a:p>
            <a:pPr lvl="1" algn="just"/>
            <a:r>
              <a:rPr lang="en-US" sz="2200" dirty="0"/>
              <a:t>Can I include this code in proprietary software? </a:t>
            </a:r>
          </a:p>
          <a:p>
            <a:pPr algn="just"/>
            <a:r>
              <a:rPr lang="en-US" sz="3000" dirty="0"/>
              <a:t>Without a license, software is protected by copyright law, and others generally do not have permission to copy, modify, or redistribute it.</a:t>
            </a:r>
          </a:p>
          <a:p>
            <a:pPr algn="just"/>
            <a:endParaRPr lang="en-IN" sz="3200" dirty="0"/>
          </a:p>
        </p:txBody>
      </p:sp>
    </p:spTree>
    <p:extLst>
      <p:ext uri="{BB962C8B-B14F-4D97-AF65-F5344CB8AC3E}">
        <p14:creationId xmlns:p14="http://schemas.microsoft.com/office/powerpoint/2010/main" val="315690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What is a Software License?</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10000"/>
          </a:bodyPr>
          <a:lstStyle/>
          <a:p>
            <a:pPr algn="just"/>
            <a:r>
              <a:rPr lang="en-US" sz="3200" b="1" dirty="0"/>
              <a:t>Definition</a:t>
            </a:r>
          </a:p>
          <a:p>
            <a:pPr lvl="1" algn="just"/>
            <a:r>
              <a:rPr lang="en-US" sz="3000" dirty="0"/>
              <a:t>A </a:t>
            </a:r>
            <a:r>
              <a:rPr lang="en-US" sz="3000" b="1" dirty="0"/>
              <a:t>software license</a:t>
            </a:r>
            <a:r>
              <a:rPr lang="en-US" sz="3000" dirty="0"/>
              <a:t> is a legal agreement between the software creator (licensor) and the user (licensee) that specifies how the software can be used, modified, copied, and distributed.</a:t>
            </a:r>
          </a:p>
          <a:p>
            <a:pPr algn="just"/>
            <a:r>
              <a:rPr lang="en-US" sz="3200" b="1" dirty="0"/>
              <a:t>Example</a:t>
            </a:r>
          </a:p>
          <a:p>
            <a:pPr algn="just"/>
            <a:r>
              <a:rPr lang="en-US" sz="3200" dirty="0"/>
              <a:t>Suppose a developer creates a calculator application.</a:t>
            </a:r>
          </a:p>
          <a:p>
            <a:pPr lvl="1" algn="just"/>
            <a:r>
              <a:rPr lang="en-US" sz="2800" dirty="0"/>
              <a:t>Without a license, no one else can legally copy or modify it. </a:t>
            </a:r>
          </a:p>
          <a:p>
            <a:pPr lvl="1" algn="just"/>
            <a:r>
              <a:rPr lang="en-US" sz="2800" dirty="0"/>
              <a:t>With an open-source license, the developer grants specific permissions while retaining copyright. </a:t>
            </a:r>
          </a:p>
          <a:p>
            <a:pPr algn="just"/>
            <a:r>
              <a:rPr lang="en-US" sz="3200" dirty="0"/>
              <a:t>Thus, an open-source license provides legal permission for collaboration.</a:t>
            </a:r>
          </a:p>
        </p:txBody>
      </p:sp>
    </p:spTree>
    <p:extLst>
      <p:ext uri="{BB962C8B-B14F-4D97-AF65-F5344CB8AC3E}">
        <p14:creationId xmlns:p14="http://schemas.microsoft.com/office/powerpoint/2010/main" val="10932820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Why Are Open Source Licenses Important?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marL="0" indent="0" algn="just">
              <a:buNone/>
            </a:pPr>
            <a:r>
              <a:rPr lang="en-US" sz="3600" dirty="0"/>
              <a:t>Open-source licenses are important because they:</a:t>
            </a:r>
          </a:p>
          <a:p>
            <a:pPr lvl="1" algn="just"/>
            <a:r>
              <a:rPr lang="en-US" sz="2800" dirty="0"/>
              <a:t>Protect the rights of the original author. </a:t>
            </a:r>
          </a:p>
          <a:p>
            <a:pPr lvl="1" algn="just"/>
            <a:r>
              <a:rPr lang="en-US" sz="2800" dirty="0"/>
              <a:t>Clearly define how software may be used. </a:t>
            </a:r>
          </a:p>
          <a:p>
            <a:pPr lvl="1" algn="just"/>
            <a:r>
              <a:rPr lang="en-US" sz="2800" dirty="0"/>
              <a:t>Encourage collaboration and innovation. </a:t>
            </a:r>
          </a:p>
          <a:p>
            <a:pPr lvl="1" algn="just"/>
            <a:r>
              <a:rPr lang="en-US" sz="2800" dirty="0"/>
              <a:t>Prevent legal disputes. </a:t>
            </a:r>
          </a:p>
          <a:p>
            <a:pPr lvl="1" algn="just"/>
            <a:r>
              <a:rPr lang="en-US" sz="2800" dirty="0"/>
              <a:t>Enable software sharing and redistribution. </a:t>
            </a:r>
          </a:p>
          <a:p>
            <a:pPr lvl="1" algn="just"/>
            <a:r>
              <a:rPr lang="en-US" sz="2800" dirty="0"/>
              <a:t>Ensure compliance with copyright laws. </a:t>
            </a:r>
          </a:p>
          <a:p>
            <a:pPr lvl="1" algn="just"/>
            <a:r>
              <a:rPr lang="en-US" sz="2800" dirty="0"/>
              <a:t>Help organizations understand their obligations when using open-source software. </a:t>
            </a:r>
          </a:p>
        </p:txBody>
      </p:sp>
    </p:spTree>
    <p:extLst>
      <p:ext uri="{BB962C8B-B14F-4D97-AF65-F5344CB8AC3E}">
        <p14:creationId xmlns:p14="http://schemas.microsoft.com/office/powerpoint/2010/main" val="22480965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Copyright and Licensing</a:t>
            </a:r>
          </a:p>
        </p:txBody>
      </p:sp>
      <p:sp>
        <p:nvSpPr>
          <p:cNvPr id="6" name="Rectangle 3">
            <a:extLst>
              <a:ext uri="{FF2B5EF4-FFF2-40B4-BE49-F238E27FC236}">
                <a16:creationId xmlns:a16="http://schemas.microsoft.com/office/drawing/2014/main" id="{E1EA80CB-9841-445A-93D4-7466B6E80D58}"/>
              </a:ext>
            </a:extLst>
          </p:cNvPr>
          <p:cNvSpPr>
            <a:spLocks noGrp="1" noChangeArrowheads="1"/>
          </p:cNvSpPr>
          <p:nvPr>
            <p:ph idx="1"/>
          </p:nvPr>
        </p:nvSpPr>
        <p:spPr bwMode="auto">
          <a:xfrm>
            <a:off x="838201" y="1709616"/>
            <a:ext cx="1101594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Copyright and Licensing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Arial" panose="020B0604020202020204" pitchFamily="34" charset="0"/>
              </a:rPr>
              <a:t>Many beginners think "open source" means "public domain," but this is incorrect.</a:t>
            </a:r>
            <a:endParaRPr kumimoji="0" lang="en-US" altLang="en-US" sz="2400" b="1"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Copyright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Arial" panose="020B0604020202020204" pitchFamily="34" charset="0"/>
              </a:rPr>
              <a:t>When a developer writes software, they automatically own the copyright.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Arial" panose="020B0604020202020204" pitchFamily="34" charset="0"/>
              </a:rPr>
              <a:t>Copyright gives the owner exclusive rights to:</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cs typeface="Arial" panose="020B0604020202020204" pitchFamily="34" charset="0"/>
              </a:rPr>
              <a:t>Copy the software </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cs typeface="Arial" panose="020B0604020202020204" pitchFamily="34" charset="0"/>
              </a:rPr>
              <a:t>Modify the software </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cs typeface="Arial" panose="020B0604020202020204" pitchFamily="34" charset="0"/>
              </a:rPr>
              <a:t>Distribute copies </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cs typeface="Arial" panose="020B0604020202020204" pitchFamily="34" charset="0"/>
              </a:rPr>
              <a:t>Create derivative works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Open Source License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Arial" panose="020B0604020202020204" pitchFamily="34" charset="0"/>
              </a:rPr>
              <a:t>The license grants others permission to exercise some of these rights under specified conditions.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Therefore:</a:t>
            </a:r>
            <a:endParaRPr kumimoji="0" lang="en-US" altLang="en-US" sz="2400"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Copyright protects the software, while the license grants permissions to others.</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30889933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sz="4400" b="1" dirty="0"/>
              <a:t>Categories of Open Source Licenses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66092"/>
            <a:ext cx="10515600" cy="5244027"/>
          </a:xfrm>
        </p:spPr>
        <p:txBody>
          <a:bodyPr>
            <a:normAutofit fontScale="92500" lnSpcReduction="10000"/>
          </a:bodyPr>
          <a:lstStyle/>
          <a:p>
            <a:r>
              <a:rPr lang="en-US" sz="3200" dirty="0"/>
              <a:t>Open-source licenses are generally classified into two categories.</a:t>
            </a:r>
          </a:p>
          <a:p>
            <a:pPr marL="0" indent="0">
              <a:buNone/>
            </a:pPr>
            <a:r>
              <a:rPr lang="en-US" sz="3200" b="1" dirty="0"/>
              <a:t>A. Permissive Licenses</a:t>
            </a:r>
          </a:p>
          <a:p>
            <a:r>
              <a:rPr lang="en-US" sz="3200" dirty="0"/>
              <a:t>Permissive licenses impose relatively few restrictions.</a:t>
            </a:r>
          </a:p>
          <a:p>
            <a:r>
              <a:rPr lang="en-US" sz="3200" dirty="0"/>
              <a:t>Users may:</a:t>
            </a:r>
          </a:p>
          <a:p>
            <a:pPr lvl="1"/>
            <a:r>
              <a:rPr lang="en-US" dirty="0"/>
              <a:t>Use the software freely </a:t>
            </a:r>
          </a:p>
          <a:p>
            <a:pPr lvl="1"/>
            <a:r>
              <a:rPr lang="en-US" dirty="0"/>
              <a:t>Modify the software </a:t>
            </a:r>
          </a:p>
          <a:p>
            <a:pPr lvl="1"/>
            <a:r>
              <a:rPr lang="en-US" dirty="0"/>
              <a:t>Distribute modified versions </a:t>
            </a:r>
          </a:p>
          <a:p>
            <a:pPr lvl="1"/>
            <a:r>
              <a:rPr lang="en-US" dirty="0"/>
              <a:t>Use it in commercial products </a:t>
            </a:r>
          </a:p>
          <a:p>
            <a:pPr lvl="1"/>
            <a:r>
              <a:rPr lang="en-US" dirty="0"/>
              <a:t>Incorporate it into proprietary software (subject to license terms) </a:t>
            </a:r>
          </a:p>
          <a:p>
            <a:r>
              <a:rPr lang="en-US" sz="3200" dirty="0"/>
              <a:t>Examples:</a:t>
            </a:r>
          </a:p>
          <a:p>
            <a:pPr lvl="1"/>
            <a:r>
              <a:rPr lang="en-US" dirty="0"/>
              <a:t>MIT License </a:t>
            </a:r>
          </a:p>
          <a:p>
            <a:pPr lvl="1"/>
            <a:r>
              <a:rPr lang="en-US" dirty="0"/>
              <a:t>BSD License </a:t>
            </a:r>
          </a:p>
          <a:p>
            <a:pPr lvl="1"/>
            <a:r>
              <a:rPr lang="en-US" dirty="0"/>
              <a:t>Apache License 2.0</a:t>
            </a:r>
          </a:p>
          <a:p>
            <a:pPr algn="just"/>
            <a:endParaRPr lang="en-IN" sz="4400" dirty="0"/>
          </a:p>
        </p:txBody>
      </p:sp>
    </p:spTree>
    <p:extLst>
      <p:ext uri="{BB962C8B-B14F-4D97-AF65-F5344CB8AC3E}">
        <p14:creationId xmlns:p14="http://schemas.microsoft.com/office/powerpoint/2010/main" val="3534640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sz="4400" b="1" dirty="0"/>
              <a:t>Categories of Open Source Licenses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66092"/>
            <a:ext cx="10515600" cy="5491908"/>
          </a:xfrm>
        </p:spPr>
        <p:txBody>
          <a:bodyPr>
            <a:normAutofit fontScale="92500"/>
          </a:bodyPr>
          <a:lstStyle/>
          <a:p>
            <a:pPr marL="0" indent="0">
              <a:buNone/>
            </a:pPr>
            <a:r>
              <a:rPr lang="en-US" sz="3000" b="1" dirty="0"/>
              <a:t>B. Copyleft Licenses</a:t>
            </a:r>
          </a:p>
          <a:p>
            <a:r>
              <a:rPr lang="en-US" sz="2400" dirty="0"/>
              <a:t>Copyleft licenses require that modified or derivative versions remain under the same (or a compatible) open-source license when distributed.</a:t>
            </a:r>
          </a:p>
          <a:p>
            <a:r>
              <a:rPr lang="en-US" sz="2400" dirty="0"/>
              <a:t>Users may:</a:t>
            </a:r>
          </a:p>
          <a:p>
            <a:pPr lvl="1"/>
            <a:r>
              <a:rPr lang="en-US" dirty="0"/>
              <a:t>Modify software </a:t>
            </a:r>
          </a:p>
          <a:p>
            <a:pPr lvl="1"/>
            <a:r>
              <a:rPr lang="en-US" dirty="0"/>
              <a:t>Redistribute software </a:t>
            </a:r>
          </a:p>
          <a:p>
            <a:pPr lvl="1"/>
            <a:r>
              <a:rPr lang="en-US" dirty="0"/>
              <a:t>Use it commercially </a:t>
            </a:r>
          </a:p>
          <a:p>
            <a:r>
              <a:rPr lang="en-US" sz="2400" dirty="0"/>
              <a:t>However:</a:t>
            </a:r>
          </a:p>
          <a:p>
            <a:pPr lvl="1"/>
            <a:r>
              <a:rPr lang="en-US" dirty="0"/>
              <a:t>Source code must be made available when distributing derivative works. </a:t>
            </a:r>
          </a:p>
          <a:p>
            <a:pPr lvl="1"/>
            <a:r>
              <a:rPr lang="en-US" dirty="0"/>
              <a:t>The same license must generally be applied to redistributed modified versions. </a:t>
            </a:r>
          </a:p>
          <a:p>
            <a:r>
              <a:rPr lang="en-US" sz="2400" dirty="0"/>
              <a:t>Examples:</a:t>
            </a:r>
          </a:p>
          <a:p>
            <a:pPr lvl="1"/>
            <a:r>
              <a:rPr lang="en-US" dirty="0"/>
              <a:t>GNU GPL </a:t>
            </a:r>
          </a:p>
          <a:p>
            <a:pPr lvl="1"/>
            <a:r>
              <a:rPr lang="en-US" dirty="0"/>
              <a:t>GNU LGPL </a:t>
            </a:r>
          </a:p>
          <a:p>
            <a:pPr lvl="1"/>
            <a:r>
              <a:rPr lang="en-US" dirty="0"/>
              <a:t>AGPL</a:t>
            </a:r>
          </a:p>
          <a:p>
            <a:pPr marL="0" indent="0" algn="just">
              <a:buNone/>
            </a:pPr>
            <a:endParaRPr lang="en-IN" sz="3600" dirty="0"/>
          </a:p>
        </p:txBody>
      </p:sp>
    </p:spTree>
    <p:extLst>
      <p:ext uri="{BB962C8B-B14F-4D97-AF65-F5344CB8AC3E}">
        <p14:creationId xmlns:p14="http://schemas.microsoft.com/office/powerpoint/2010/main" val="21989388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350968"/>
            <a:ext cx="10515600" cy="1325563"/>
          </a:xfrm>
        </p:spPr>
        <p:txBody>
          <a:bodyPr/>
          <a:lstStyle/>
          <a:p>
            <a:r>
              <a:rPr lang="en-US" b="1" dirty="0"/>
              <a:t>Overview of Major Open Source Licenses</a:t>
            </a:r>
            <a:endParaRPr lang="en-IN" b="1" dirty="0"/>
          </a:p>
        </p:txBody>
      </p:sp>
      <p:graphicFrame>
        <p:nvGraphicFramePr>
          <p:cNvPr id="4" name="Content Placeholder 3">
            <a:extLst>
              <a:ext uri="{FF2B5EF4-FFF2-40B4-BE49-F238E27FC236}">
                <a16:creationId xmlns:a16="http://schemas.microsoft.com/office/drawing/2014/main" id="{17D0D58D-DE2F-4183-B407-D4FE3D170EDF}"/>
              </a:ext>
            </a:extLst>
          </p:cNvPr>
          <p:cNvGraphicFramePr>
            <a:graphicFrameLocks noGrp="1"/>
          </p:cNvGraphicFramePr>
          <p:nvPr>
            <p:ph idx="1"/>
            <p:extLst>
              <p:ext uri="{D42A27DB-BD31-4B8C-83A1-F6EECF244321}">
                <p14:modId xmlns:p14="http://schemas.microsoft.com/office/powerpoint/2010/main" val="2783574424"/>
              </p:ext>
            </p:extLst>
          </p:nvPr>
        </p:nvGraphicFramePr>
        <p:xfrm>
          <a:off x="234472" y="613770"/>
          <a:ext cx="11957526" cy="6268027"/>
        </p:xfrm>
        <a:graphic>
          <a:graphicData uri="http://schemas.openxmlformats.org/drawingml/2006/table">
            <a:tbl>
              <a:tblPr>
                <a:tableStyleId>{284E427A-3D55-4303-BF80-6455036E1DE7}</a:tableStyleId>
              </a:tblPr>
              <a:tblGrid>
                <a:gridCol w="1992921">
                  <a:extLst>
                    <a:ext uri="{9D8B030D-6E8A-4147-A177-3AD203B41FA5}">
                      <a16:colId xmlns:a16="http://schemas.microsoft.com/office/drawing/2014/main" val="1270739857"/>
                    </a:ext>
                  </a:extLst>
                </a:gridCol>
                <a:gridCol w="1992921">
                  <a:extLst>
                    <a:ext uri="{9D8B030D-6E8A-4147-A177-3AD203B41FA5}">
                      <a16:colId xmlns:a16="http://schemas.microsoft.com/office/drawing/2014/main" val="3648297146"/>
                    </a:ext>
                  </a:extLst>
                </a:gridCol>
                <a:gridCol w="1431339">
                  <a:extLst>
                    <a:ext uri="{9D8B030D-6E8A-4147-A177-3AD203B41FA5}">
                      <a16:colId xmlns:a16="http://schemas.microsoft.com/office/drawing/2014/main" val="217730500"/>
                    </a:ext>
                  </a:extLst>
                </a:gridCol>
                <a:gridCol w="1740665">
                  <a:extLst>
                    <a:ext uri="{9D8B030D-6E8A-4147-A177-3AD203B41FA5}">
                      <a16:colId xmlns:a16="http://schemas.microsoft.com/office/drawing/2014/main" val="1368907656"/>
                    </a:ext>
                  </a:extLst>
                </a:gridCol>
                <a:gridCol w="1564395">
                  <a:extLst>
                    <a:ext uri="{9D8B030D-6E8A-4147-A177-3AD203B41FA5}">
                      <a16:colId xmlns:a16="http://schemas.microsoft.com/office/drawing/2014/main" val="2216354825"/>
                    </a:ext>
                  </a:extLst>
                </a:gridCol>
                <a:gridCol w="3235285">
                  <a:extLst>
                    <a:ext uri="{9D8B030D-6E8A-4147-A177-3AD203B41FA5}">
                      <a16:colId xmlns:a16="http://schemas.microsoft.com/office/drawing/2014/main" val="2467612419"/>
                    </a:ext>
                  </a:extLst>
                </a:gridCol>
              </a:tblGrid>
              <a:tr h="1135315">
                <a:tc>
                  <a:txBody>
                    <a:bodyPr/>
                    <a:lstStyle/>
                    <a:p>
                      <a:r>
                        <a:rPr lang="en-IN" sz="2400" b="1" dirty="0"/>
                        <a:t>License</a:t>
                      </a:r>
                    </a:p>
                  </a:txBody>
                  <a:tcPr marL="86995" marR="86995" marT="43498" marB="43498" anchor="ctr"/>
                </a:tc>
                <a:tc>
                  <a:txBody>
                    <a:bodyPr/>
                    <a:lstStyle/>
                    <a:p>
                      <a:r>
                        <a:rPr lang="en-IN" sz="2400" b="1" dirty="0"/>
                        <a:t>Type</a:t>
                      </a:r>
                    </a:p>
                  </a:txBody>
                  <a:tcPr marL="86995" marR="86995" marT="43498" marB="43498" anchor="ctr"/>
                </a:tc>
                <a:tc>
                  <a:txBody>
                    <a:bodyPr/>
                    <a:lstStyle/>
                    <a:p>
                      <a:r>
                        <a:rPr lang="en-IN" sz="2400" b="1" dirty="0"/>
                        <a:t>Commercial Use</a:t>
                      </a:r>
                    </a:p>
                  </a:txBody>
                  <a:tcPr marL="86995" marR="86995" marT="43498" marB="43498" anchor="ctr"/>
                </a:tc>
                <a:tc>
                  <a:txBody>
                    <a:bodyPr/>
                    <a:lstStyle/>
                    <a:p>
                      <a:r>
                        <a:rPr lang="en-IN" sz="2400" b="1" dirty="0"/>
                        <a:t>Modification</a:t>
                      </a:r>
                    </a:p>
                  </a:txBody>
                  <a:tcPr marL="86995" marR="86995" marT="43498" marB="43498" anchor="ctr"/>
                </a:tc>
                <a:tc>
                  <a:txBody>
                    <a:bodyPr/>
                    <a:lstStyle/>
                    <a:p>
                      <a:r>
                        <a:rPr lang="en-IN" sz="2400" b="1" dirty="0"/>
                        <a:t>Redistribution</a:t>
                      </a:r>
                    </a:p>
                  </a:txBody>
                  <a:tcPr marL="86995" marR="86995" marT="43498" marB="43498" anchor="ctr"/>
                </a:tc>
                <a:tc>
                  <a:txBody>
                    <a:bodyPr/>
                    <a:lstStyle/>
                    <a:p>
                      <a:r>
                        <a:rPr lang="en-US" sz="2400" b="1" dirty="0"/>
                        <a:t>Must Release Source of Derivatives?</a:t>
                      </a:r>
                    </a:p>
                  </a:txBody>
                  <a:tcPr marL="86995" marR="86995" marT="43498" marB="43498" anchor="ctr"/>
                </a:tc>
                <a:extLst>
                  <a:ext uri="{0D108BD9-81ED-4DB2-BD59-A6C34878D82A}">
                    <a16:rowId xmlns:a16="http://schemas.microsoft.com/office/drawing/2014/main" val="4277359495"/>
                  </a:ext>
                </a:extLst>
              </a:tr>
              <a:tr h="454126">
                <a:tc>
                  <a:txBody>
                    <a:bodyPr/>
                    <a:lstStyle/>
                    <a:p>
                      <a:r>
                        <a:rPr lang="en-IN" sz="2400"/>
                        <a:t>MIT</a:t>
                      </a:r>
                    </a:p>
                  </a:txBody>
                  <a:tcPr marL="86995" marR="86995" marT="43498" marB="43498" anchor="ctr"/>
                </a:tc>
                <a:tc>
                  <a:txBody>
                    <a:bodyPr/>
                    <a:lstStyle/>
                    <a:p>
                      <a:r>
                        <a:rPr lang="en-IN" sz="2400"/>
                        <a:t>Permissive</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No</a:t>
                      </a:r>
                    </a:p>
                  </a:txBody>
                  <a:tcPr marL="86995" marR="86995" marT="43498" marB="43498" anchor="ctr"/>
                </a:tc>
                <a:extLst>
                  <a:ext uri="{0D108BD9-81ED-4DB2-BD59-A6C34878D82A}">
                    <a16:rowId xmlns:a16="http://schemas.microsoft.com/office/drawing/2014/main" val="3920636012"/>
                  </a:ext>
                </a:extLst>
              </a:tr>
              <a:tr h="794720">
                <a:tc>
                  <a:txBody>
                    <a:bodyPr/>
                    <a:lstStyle/>
                    <a:p>
                      <a:r>
                        <a:rPr lang="en-IN" sz="2400"/>
                        <a:t>BSD 2-Clause / 3-Clause</a:t>
                      </a:r>
                    </a:p>
                  </a:txBody>
                  <a:tcPr marL="86995" marR="86995" marT="43498" marB="43498" anchor="ctr"/>
                </a:tc>
                <a:tc>
                  <a:txBody>
                    <a:bodyPr/>
                    <a:lstStyle/>
                    <a:p>
                      <a:r>
                        <a:rPr lang="en-IN" sz="2400"/>
                        <a:t>Permissive</a:t>
                      </a:r>
                    </a:p>
                  </a:txBody>
                  <a:tcPr marL="86995" marR="86995" marT="43498" marB="43498" anchor="ctr"/>
                </a:tc>
                <a:tc>
                  <a:txBody>
                    <a:bodyPr/>
                    <a:lstStyle/>
                    <a:p>
                      <a:r>
                        <a:rPr lang="en-IN" sz="2400" dirty="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No</a:t>
                      </a:r>
                    </a:p>
                  </a:txBody>
                  <a:tcPr marL="86995" marR="86995" marT="43498" marB="43498" anchor="ctr"/>
                </a:tc>
                <a:extLst>
                  <a:ext uri="{0D108BD9-81ED-4DB2-BD59-A6C34878D82A}">
                    <a16:rowId xmlns:a16="http://schemas.microsoft.com/office/drawing/2014/main" val="1030234452"/>
                  </a:ext>
                </a:extLst>
              </a:tr>
              <a:tr h="454126">
                <a:tc>
                  <a:txBody>
                    <a:bodyPr/>
                    <a:lstStyle/>
                    <a:p>
                      <a:r>
                        <a:rPr lang="en-IN" sz="2400"/>
                        <a:t>Apache 2.0</a:t>
                      </a:r>
                    </a:p>
                  </a:txBody>
                  <a:tcPr marL="86995" marR="86995" marT="43498" marB="43498" anchor="ctr"/>
                </a:tc>
                <a:tc>
                  <a:txBody>
                    <a:bodyPr/>
                    <a:lstStyle/>
                    <a:p>
                      <a:r>
                        <a:rPr lang="en-IN" sz="2400"/>
                        <a:t>Permissive</a:t>
                      </a:r>
                    </a:p>
                  </a:txBody>
                  <a:tcPr marL="86995" marR="86995" marT="43498" marB="43498" anchor="ctr"/>
                </a:tc>
                <a:tc>
                  <a:txBody>
                    <a:bodyPr/>
                    <a:lstStyle/>
                    <a:p>
                      <a:r>
                        <a:rPr lang="en-IN" sz="2400" dirty="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dirty="0"/>
                        <a:t>No</a:t>
                      </a:r>
                    </a:p>
                  </a:txBody>
                  <a:tcPr marL="86995" marR="86995" marT="43498" marB="43498" anchor="ctr"/>
                </a:tc>
                <a:extLst>
                  <a:ext uri="{0D108BD9-81ED-4DB2-BD59-A6C34878D82A}">
                    <a16:rowId xmlns:a16="http://schemas.microsoft.com/office/drawing/2014/main" val="1813643983"/>
                  </a:ext>
                </a:extLst>
              </a:tr>
              <a:tr h="454126">
                <a:tc>
                  <a:txBody>
                    <a:bodyPr/>
                    <a:lstStyle/>
                    <a:p>
                      <a:r>
                        <a:rPr lang="en-IN" sz="2400"/>
                        <a:t>GNU GPL v3</a:t>
                      </a:r>
                    </a:p>
                  </a:txBody>
                  <a:tcPr marL="86995" marR="86995" marT="43498" marB="43498" anchor="ctr"/>
                </a:tc>
                <a:tc>
                  <a:txBody>
                    <a:bodyPr/>
                    <a:lstStyle/>
                    <a:p>
                      <a:r>
                        <a:rPr lang="en-IN" sz="2400"/>
                        <a:t>Copyleft</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extLst>
                  <a:ext uri="{0D108BD9-81ED-4DB2-BD59-A6C34878D82A}">
                    <a16:rowId xmlns:a16="http://schemas.microsoft.com/office/drawing/2014/main" val="460653028"/>
                  </a:ext>
                </a:extLst>
              </a:tr>
              <a:tr h="1475909">
                <a:tc>
                  <a:txBody>
                    <a:bodyPr/>
                    <a:lstStyle/>
                    <a:p>
                      <a:r>
                        <a:rPr lang="en-IN" sz="2400"/>
                        <a:t>GNU LGPL</a:t>
                      </a:r>
                    </a:p>
                  </a:txBody>
                  <a:tcPr marL="86995" marR="86995" marT="43498" marB="43498" anchor="ctr"/>
                </a:tc>
                <a:tc>
                  <a:txBody>
                    <a:bodyPr/>
                    <a:lstStyle/>
                    <a:p>
                      <a:r>
                        <a:rPr lang="en-IN" sz="2400"/>
                        <a:t>Weak Copyleft</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dirty="0"/>
                        <a:t>Yes</a:t>
                      </a:r>
                    </a:p>
                  </a:txBody>
                  <a:tcPr marL="86995" marR="86995" marT="43498" marB="43498" anchor="ctr"/>
                </a:tc>
                <a:tc>
                  <a:txBody>
                    <a:bodyPr/>
                    <a:lstStyle/>
                    <a:p>
                      <a:r>
                        <a:rPr lang="en-US" sz="2400"/>
                        <a:t>Only for modifications to the LGPL-covered library</a:t>
                      </a:r>
                    </a:p>
                  </a:txBody>
                  <a:tcPr marL="86995" marR="86995" marT="43498" marB="43498" anchor="ctr"/>
                </a:tc>
                <a:extLst>
                  <a:ext uri="{0D108BD9-81ED-4DB2-BD59-A6C34878D82A}">
                    <a16:rowId xmlns:a16="http://schemas.microsoft.com/office/drawing/2014/main" val="1998798574"/>
                  </a:ext>
                </a:extLst>
              </a:tr>
              <a:tr h="1475909">
                <a:tc>
                  <a:txBody>
                    <a:bodyPr/>
                    <a:lstStyle/>
                    <a:p>
                      <a:r>
                        <a:rPr lang="en-IN" sz="2400"/>
                        <a:t>GNU AGPL</a:t>
                      </a:r>
                    </a:p>
                  </a:txBody>
                  <a:tcPr marL="86995" marR="86995" marT="43498" marB="43498" anchor="ctr"/>
                </a:tc>
                <a:tc>
                  <a:txBody>
                    <a:bodyPr/>
                    <a:lstStyle/>
                    <a:p>
                      <a:r>
                        <a:rPr lang="en-IN" sz="2400"/>
                        <a:t>Strong Copyleft</a:t>
                      </a:r>
                    </a:p>
                  </a:txBody>
                  <a:tcPr marL="86995" marR="86995" marT="43498" marB="43498" anchor="ctr"/>
                </a:tc>
                <a:tc>
                  <a:txBody>
                    <a:bodyPr/>
                    <a:lstStyle/>
                    <a:p>
                      <a:r>
                        <a:rPr lang="en-IN" sz="2400"/>
                        <a:t>Yes</a:t>
                      </a:r>
                    </a:p>
                  </a:txBody>
                  <a:tcPr marL="86995" marR="86995" marT="43498" marB="43498" anchor="ctr"/>
                </a:tc>
                <a:tc>
                  <a:txBody>
                    <a:bodyPr/>
                    <a:lstStyle/>
                    <a:p>
                      <a:r>
                        <a:rPr lang="en-IN" sz="2400"/>
                        <a:t>Yes</a:t>
                      </a:r>
                    </a:p>
                  </a:txBody>
                  <a:tcPr marL="86995" marR="86995" marT="43498" marB="43498" anchor="ctr"/>
                </a:tc>
                <a:tc>
                  <a:txBody>
                    <a:bodyPr/>
                    <a:lstStyle/>
                    <a:p>
                      <a:r>
                        <a:rPr lang="en-IN" sz="2400" dirty="0"/>
                        <a:t>Yes</a:t>
                      </a:r>
                    </a:p>
                  </a:txBody>
                  <a:tcPr marL="86995" marR="86995" marT="43498" marB="43498" anchor="ctr"/>
                </a:tc>
                <a:tc>
                  <a:txBody>
                    <a:bodyPr/>
                    <a:lstStyle/>
                    <a:p>
                      <a:r>
                        <a:rPr lang="en-US" sz="2400" dirty="0"/>
                        <a:t>Yes, including software accessed over a network</a:t>
                      </a:r>
                    </a:p>
                  </a:txBody>
                  <a:tcPr marL="86995" marR="86995" marT="43498" marB="43498" anchor="ctr"/>
                </a:tc>
                <a:extLst>
                  <a:ext uri="{0D108BD9-81ED-4DB2-BD59-A6C34878D82A}">
                    <a16:rowId xmlns:a16="http://schemas.microsoft.com/office/drawing/2014/main" val="1465800666"/>
                  </a:ext>
                </a:extLst>
              </a:tr>
            </a:tbl>
          </a:graphicData>
        </a:graphic>
      </p:graphicFrame>
    </p:spTree>
    <p:extLst>
      <p:ext uri="{BB962C8B-B14F-4D97-AF65-F5344CB8AC3E}">
        <p14:creationId xmlns:p14="http://schemas.microsoft.com/office/powerpoint/2010/main" val="21301519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MIT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042"/>
            <a:ext cx="10515600" cy="5277078"/>
          </a:xfrm>
        </p:spPr>
        <p:txBody>
          <a:bodyPr>
            <a:normAutofit/>
          </a:bodyPr>
          <a:lstStyle/>
          <a:p>
            <a:pPr algn="just"/>
            <a:r>
              <a:rPr lang="en-US" sz="3200" b="1" dirty="0"/>
              <a:t>Overview</a:t>
            </a:r>
          </a:p>
          <a:p>
            <a:pPr algn="just"/>
            <a:r>
              <a:rPr lang="en-US" sz="3200" dirty="0"/>
              <a:t>The </a:t>
            </a:r>
            <a:r>
              <a:rPr lang="en-US" sz="3200" b="1" dirty="0"/>
              <a:t>MIT License</a:t>
            </a:r>
            <a:r>
              <a:rPr lang="en-US" sz="3200" dirty="0"/>
              <a:t> is one of the simplest and most widely used open-source licenses.</a:t>
            </a:r>
          </a:p>
          <a:p>
            <a:pPr algn="just"/>
            <a:r>
              <a:rPr lang="en-US" sz="3200" dirty="0"/>
              <a:t>It allows users to:</a:t>
            </a:r>
          </a:p>
          <a:p>
            <a:pPr lvl="1" algn="just"/>
            <a:r>
              <a:rPr lang="en-US" dirty="0"/>
              <a:t>Use software freely. </a:t>
            </a:r>
          </a:p>
          <a:p>
            <a:pPr lvl="1" algn="just"/>
            <a:r>
              <a:rPr lang="en-US" dirty="0"/>
              <a:t>Modify the software. </a:t>
            </a:r>
          </a:p>
          <a:p>
            <a:pPr lvl="1" algn="just"/>
            <a:r>
              <a:rPr lang="en-US" dirty="0"/>
              <a:t>Distribute copies. </a:t>
            </a:r>
          </a:p>
          <a:p>
            <a:pPr lvl="1" algn="just"/>
            <a:r>
              <a:rPr lang="en-US" dirty="0"/>
              <a:t>Sell software. </a:t>
            </a:r>
          </a:p>
          <a:p>
            <a:pPr lvl="1" algn="just"/>
            <a:r>
              <a:rPr lang="en-US" dirty="0"/>
              <a:t>Use it in proprietary applications. </a:t>
            </a:r>
          </a:p>
          <a:p>
            <a:pPr algn="just"/>
            <a:r>
              <a:rPr lang="en-US" sz="3200" dirty="0"/>
              <a:t>The primary obligation is to retain the original copyright notice and license text.</a:t>
            </a:r>
          </a:p>
        </p:txBody>
      </p:sp>
    </p:spTree>
    <p:extLst>
      <p:ext uri="{BB962C8B-B14F-4D97-AF65-F5344CB8AC3E}">
        <p14:creationId xmlns:p14="http://schemas.microsoft.com/office/powerpoint/2010/main" val="20419371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MIT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042"/>
            <a:ext cx="10515600" cy="5277078"/>
          </a:xfrm>
        </p:spPr>
        <p:txBody>
          <a:bodyPr>
            <a:normAutofit/>
          </a:bodyPr>
          <a:lstStyle/>
          <a:p>
            <a:r>
              <a:rPr lang="en-US" sz="3600" b="1" dirty="0"/>
              <a:t>Characteristics</a:t>
            </a:r>
          </a:p>
          <a:p>
            <a:pPr lvl="1"/>
            <a:r>
              <a:rPr lang="en-US" sz="3200" dirty="0"/>
              <a:t>Very short and easy to understand. </a:t>
            </a:r>
          </a:p>
          <a:p>
            <a:pPr lvl="1"/>
            <a:r>
              <a:rPr lang="en-US" sz="3200" dirty="0"/>
              <a:t>Highly permissive. </a:t>
            </a:r>
          </a:p>
          <a:p>
            <a:pPr lvl="1"/>
            <a:r>
              <a:rPr lang="en-US" sz="3200" dirty="0"/>
              <a:t>Minimal restrictions. </a:t>
            </a:r>
          </a:p>
          <a:p>
            <a:pPr lvl="1"/>
            <a:r>
              <a:rPr lang="en-US" sz="3200" dirty="0"/>
              <a:t>Popular among startups and independent developers. </a:t>
            </a:r>
          </a:p>
          <a:p>
            <a:r>
              <a:rPr lang="en-US" sz="3600" b="1" dirty="0"/>
              <a:t>Advantages</a:t>
            </a:r>
          </a:p>
          <a:p>
            <a:pPr lvl="1"/>
            <a:r>
              <a:rPr lang="en-US" sz="3200" dirty="0"/>
              <a:t>Easy to adopt. </a:t>
            </a:r>
          </a:p>
          <a:p>
            <a:pPr lvl="1"/>
            <a:r>
              <a:rPr lang="en-US" sz="3200" dirty="0"/>
              <a:t>Encourages widespread use. </a:t>
            </a:r>
          </a:p>
          <a:p>
            <a:pPr lvl="1"/>
            <a:r>
              <a:rPr lang="en-US" sz="3200" dirty="0"/>
              <a:t>Suitable for commercial software. </a:t>
            </a:r>
          </a:p>
          <a:p>
            <a:pPr lvl="1"/>
            <a:r>
              <a:rPr lang="en-US" sz="3200" dirty="0"/>
              <a:t>High compatibility with other licenses.</a:t>
            </a:r>
          </a:p>
        </p:txBody>
      </p:sp>
    </p:spTree>
    <p:extLst>
      <p:ext uri="{BB962C8B-B14F-4D97-AF65-F5344CB8AC3E}">
        <p14:creationId xmlns:p14="http://schemas.microsoft.com/office/powerpoint/2010/main" val="24992866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MIT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042"/>
            <a:ext cx="10515600" cy="5277078"/>
          </a:xfrm>
        </p:spPr>
        <p:txBody>
          <a:bodyPr>
            <a:normAutofit/>
          </a:bodyPr>
          <a:lstStyle/>
          <a:p>
            <a:r>
              <a:rPr lang="en-US" sz="3600" b="1" dirty="0"/>
              <a:t>Limitations</a:t>
            </a:r>
          </a:p>
          <a:p>
            <a:pPr lvl="1"/>
            <a:r>
              <a:rPr lang="en-US" sz="2800" dirty="0"/>
              <a:t>Does not require improvements to be shared publicly. </a:t>
            </a:r>
          </a:p>
          <a:p>
            <a:pPr lvl="1"/>
            <a:r>
              <a:rPr lang="en-US" sz="2800" dirty="0"/>
              <a:t>Offers limited patent protection compared to Apache 2.0. </a:t>
            </a:r>
          </a:p>
          <a:p>
            <a:r>
              <a:rPr lang="en-US" sz="3600" b="1" dirty="0"/>
              <a:t>Common Projects</a:t>
            </a:r>
          </a:p>
          <a:p>
            <a:pPr lvl="1"/>
            <a:r>
              <a:rPr lang="en-US" sz="2800" dirty="0"/>
              <a:t>React (historically MIT-licensed) </a:t>
            </a:r>
          </a:p>
          <a:p>
            <a:pPr lvl="1"/>
            <a:r>
              <a:rPr lang="en-US" sz="2800" dirty="0"/>
              <a:t>jQuery </a:t>
            </a:r>
          </a:p>
          <a:p>
            <a:pPr lvl="1"/>
            <a:r>
              <a:rPr lang="en-US" sz="2800" dirty="0"/>
              <a:t>Ruby on Rails </a:t>
            </a:r>
          </a:p>
          <a:p>
            <a:pPr lvl="1"/>
            <a:r>
              <a:rPr lang="en-US" sz="2800" dirty="0"/>
              <a:t>Many JavaScript libraries</a:t>
            </a:r>
          </a:p>
        </p:txBody>
      </p:sp>
    </p:spTree>
    <p:extLst>
      <p:ext uri="{BB962C8B-B14F-4D97-AF65-F5344CB8AC3E}">
        <p14:creationId xmlns:p14="http://schemas.microsoft.com/office/powerpoint/2010/main" val="17177997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BSD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040"/>
            <a:ext cx="10515600" cy="5277079"/>
          </a:xfrm>
        </p:spPr>
        <p:txBody>
          <a:bodyPr>
            <a:normAutofit fontScale="92500" lnSpcReduction="10000"/>
          </a:bodyPr>
          <a:lstStyle/>
          <a:p>
            <a:pPr marL="0" indent="0" algn="just">
              <a:buNone/>
            </a:pPr>
            <a:r>
              <a:rPr lang="en-US" sz="3600" b="1" dirty="0"/>
              <a:t>Overview</a:t>
            </a:r>
          </a:p>
          <a:p>
            <a:pPr algn="just"/>
            <a:r>
              <a:rPr lang="en-US" sz="3600" dirty="0"/>
              <a:t>The BSD (Berkeley Software Distribution) License originated at the University of California, Berkeley.</a:t>
            </a:r>
          </a:p>
          <a:p>
            <a:pPr algn="just"/>
            <a:r>
              <a:rPr lang="en-US" sz="3600" dirty="0"/>
              <a:t>Common variants:</a:t>
            </a:r>
          </a:p>
          <a:p>
            <a:pPr lvl="1" algn="just"/>
            <a:r>
              <a:rPr lang="en-US" sz="3200" dirty="0"/>
              <a:t>BSD 2-Clause License </a:t>
            </a:r>
          </a:p>
          <a:p>
            <a:pPr lvl="1" algn="just"/>
            <a:r>
              <a:rPr lang="en-US" sz="3200" dirty="0"/>
              <a:t>BSD 3-Clause License </a:t>
            </a:r>
          </a:p>
          <a:p>
            <a:pPr marL="0" indent="0" algn="just">
              <a:buNone/>
            </a:pPr>
            <a:r>
              <a:rPr lang="en-US" sz="3600" b="1" dirty="0"/>
              <a:t>Characteristics</a:t>
            </a:r>
          </a:p>
          <a:p>
            <a:pPr lvl="1" algn="just"/>
            <a:r>
              <a:rPr lang="en-US" sz="3200" dirty="0"/>
              <a:t>Highly permissive. </a:t>
            </a:r>
          </a:p>
          <a:p>
            <a:pPr lvl="1" algn="just"/>
            <a:r>
              <a:rPr lang="en-US" sz="3200" dirty="0"/>
              <a:t>Allows commercial use. </a:t>
            </a:r>
          </a:p>
          <a:p>
            <a:pPr lvl="1" algn="just"/>
            <a:r>
              <a:rPr lang="en-US" sz="3200" dirty="0"/>
              <a:t>Allows proprietary derivatives. </a:t>
            </a:r>
          </a:p>
          <a:p>
            <a:pPr lvl="1" algn="just"/>
            <a:r>
              <a:rPr lang="en-US" sz="3200" dirty="0"/>
              <a:t>Requires preservation of copyright notices.</a:t>
            </a:r>
          </a:p>
          <a:p>
            <a:pPr algn="just"/>
            <a:endParaRPr lang="en-IN" sz="4800" dirty="0"/>
          </a:p>
        </p:txBody>
      </p:sp>
    </p:spTree>
    <p:extLst>
      <p:ext uri="{BB962C8B-B14F-4D97-AF65-F5344CB8AC3E}">
        <p14:creationId xmlns:p14="http://schemas.microsoft.com/office/powerpoint/2010/main" val="16629354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BSD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040"/>
            <a:ext cx="10515600" cy="5277079"/>
          </a:xfrm>
        </p:spPr>
        <p:txBody>
          <a:bodyPr>
            <a:normAutofit/>
          </a:bodyPr>
          <a:lstStyle/>
          <a:p>
            <a:r>
              <a:rPr lang="en-US" sz="3600" b="1" dirty="0"/>
              <a:t>Advantages</a:t>
            </a:r>
          </a:p>
          <a:p>
            <a:pPr lvl="1"/>
            <a:r>
              <a:rPr lang="en-US" sz="3200" dirty="0"/>
              <a:t>Minimal restrictions. </a:t>
            </a:r>
          </a:p>
          <a:p>
            <a:pPr lvl="1"/>
            <a:r>
              <a:rPr lang="en-US" sz="3200" dirty="0"/>
              <a:t>Business friendly. </a:t>
            </a:r>
          </a:p>
          <a:p>
            <a:pPr lvl="1"/>
            <a:r>
              <a:rPr lang="en-US" sz="3200" dirty="0"/>
              <a:t>Easy to combine with proprietary software. </a:t>
            </a:r>
          </a:p>
          <a:p>
            <a:r>
              <a:rPr lang="en-US" sz="3600" b="1" dirty="0"/>
              <a:t>Common Uses</a:t>
            </a:r>
          </a:p>
          <a:p>
            <a:pPr lvl="1"/>
            <a:r>
              <a:rPr lang="en-US" sz="3200" dirty="0"/>
              <a:t>FreeBSD </a:t>
            </a:r>
          </a:p>
          <a:p>
            <a:pPr lvl="1"/>
            <a:r>
              <a:rPr lang="en-US" sz="3200" dirty="0"/>
              <a:t>OpenBSD </a:t>
            </a:r>
          </a:p>
          <a:p>
            <a:pPr lvl="1"/>
            <a:r>
              <a:rPr lang="en-US" sz="3200" dirty="0"/>
              <a:t>NetBSD</a:t>
            </a:r>
          </a:p>
          <a:p>
            <a:pPr algn="just"/>
            <a:endParaRPr lang="en-IN" sz="4800" dirty="0"/>
          </a:p>
        </p:txBody>
      </p:sp>
    </p:spTree>
    <p:extLst>
      <p:ext uri="{BB962C8B-B14F-4D97-AF65-F5344CB8AC3E}">
        <p14:creationId xmlns:p14="http://schemas.microsoft.com/office/powerpoint/2010/main" val="11293662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Apache License 2.0</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476260"/>
            <a:ext cx="10515600" cy="5188945"/>
          </a:xfrm>
        </p:spPr>
        <p:txBody>
          <a:bodyPr>
            <a:normAutofit lnSpcReduction="10000"/>
          </a:bodyPr>
          <a:lstStyle/>
          <a:p>
            <a:pPr marL="0" indent="0" algn="just">
              <a:buNone/>
            </a:pPr>
            <a:r>
              <a:rPr lang="en-US" b="1" dirty="0"/>
              <a:t>Overview</a:t>
            </a:r>
          </a:p>
          <a:p>
            <a:pPr algn="just"/>
            <a:r>
              <a:rPr lang="en-US" dirty="0"/>
              <a:t>The Apache License 2.0 is a permissive license designed to encourage commercial and open-source use while also addressing patent concerns.</a:t>
            </a:r>
          </a:p>
          <a:p>
            <a:pPr marL="0" indent="0" algn="just">
              <a:buNone/>
            </a:pPr>
            <a:r>
              <a:rPr lang="en-US" b="1" dirty="0"/>
              <a:t>Permissions</a:t>
            </a:r>
          </a:p>
          <a:p>
            <a:pPr algn="just"/>
            <a:r>
              <a:rPr lang="en-US" dirty="0"/>
              <a:t>Users may:</a:t>
            </a:r>
          </a:p>
          <a:p>
            <a:pPr lvl="1" algn="just"/>
            <a:r>
              <a:rPr lang="en-US" sz="2000" dirty="0"/>
              <a:t>Use software commercially. </a:t>
            </a:r>
          </a:p>
          <a:p>
            <a:pPr lvl="1" algn="just"/>
            <a:r>
              <a:rPr lang="en-US" sz="2000" dirty="0"/>
              <a:t>Modify software. </a:t>
            </a:r>
          </a:p>
          <a:p>
            <a:pPr lvl="1" algn="just"/>
            <a:r>
              <a:rPr lang="en-US" sz="2000" dirty="0"/>
              <a:t>Redistribute software. </a:t>
            </a:r>
          </a:p>
          <a:p>
            <a:pPr lvl="1" algn="just"/>
            <a:r>
              <a:rPr lang="en-US" sz="2000" dirty="0"/>
              <a:t>Create proprietary products. </a:t>
            </a:r>
          </a:p>
          <a:p>
            <a:pPr algn="just"/>
            <a:r>
              <a:rPr lang="en-US" b="1" dirty="0"/>
              <a:t>Requirements</a:t>
            </a:r>
          </a:p>
          <a:p>
            <a:pPr lvl="1" algn="just"/>
            <a:r>
              <a:rPr lang="en-US" sz="2000" dirty="0"/>
              <a:t>Preserve copyright notices. </a:t>
            </a:r>
          </a:p>
          <a:p>
            <a:pPr lvl="1" algn="just"/>
            <a:r>
              <a:rPr lang="en-US" sz="2000" dirty="0"/>
              <a:t>Include the license text. </a:t>
            </a:r>
          </a:p>
          <a:p>
            <a:pPr lvl="1" algn="just"/>
            <a:r>
              <a:rPr lang="en-US" sz="2000" dirty="0"/>
              <a:t>Document significant changes made to the software.</a:t>
            </a:r>
            <a:endParaRPr lang="en-IN" sz="4000" dirty="0"/>
          </a:p>
        </p:txBody>
      </p:sp>
    </p:spTree>
    <p:extLst>
      <p:ext uri="{BB962C8B-B14F-4D97-AF65-F5344CB8AC3E}">
        <p14:creationId xmlns:p14="http://schemas.microsoft.com/office/powerpoint/2010/main" val="2353967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Apache License 2.0</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476260"/>
            <a:ext cx="10515600" cy="5381740"/>
          </a:xfrm>
        </p:spPr>
        <p:txBody>
          <a:bodyPr>
            <a:normAutofit fontScale="92500" lnSpcReduction="10000"/>
          </a:bodyPr>
          <a:lstStyle/>
          <a:p>
            <a:pPr marL="0" indent="0">
              <a:buNone/>
            </a:pPr>
            <a:r>
              <a:rPr lang="en-US" sz="3200" b="1" dirty="0"/>
              <a:t>Patent Grant</a:t>
            </a:r>
          </a:p>
          <a:p>
            <a:r>
              <a:rPr lang="en-US" sz="3200" dirty="0"/>
              <a:t>One important feature is that contributors grant users a license to any patents necessarily infringed by their contributions, helping reduce patent-related legal risks.</a:t>
            </a:r>
          </a:p>
          <a:p>
            <a:pPr marL="0" indent="0">
              <a:buNone/>
            </a:pPr>
            <a:r>
              <a:rPr lang="en-US" sz="3200" b="1" dirty="0"/>
              <a:t>Advantages</a:t>
            </a:r>
          </a:p>
          <a:p>
            <a:pPr lvl="1"/>
            <a:r>
              <a:rPr lang="en-US" sz="2800"/>
              <a:t>Business-friendly</a:t>
            </a:r>
            <a:r>
              <a:rPr lang="en-US" sz="2800" dirty="0"/>
              <a:t>. </a:t>
            </a:r>
          </a:p>
          <a:p>
            <a:pPr lvl="1"/>
            <a:r>
              <a:rPr lang="en-US" sz="2800" dirty="0"/>
              <a:t>Patent protection. </a:t>
            </a:r>
          </a:p>
          <a:p>
            <a:pPr lvl="1"/>
            <a:r>
              <a:rPr lang="en-US" sz="2800" dirty="0"/>
              <a:t>Suitable for enterprise software. </a:t>
            </a:r>
          </a:p>
          <a:p>
            <a:r>
              <a:rPr lang="en-US" sz="3200" b="1" dirty="0"/>
              <a:t>Common Projects</a:t>
            </a:r>
          </a:p>
          <a:p>
            <a:pPr lvl="1"/>
            <a:r>
              <a:rPr lang="en-US" sz="2800" dirty="0"/>
              <a:t>Apache HTTP Server </a:t>
            </a:r>
          </a:p>
          <a:p>
            <a:pPr lvl="1"/>
            <a:r>
              <a:rPr lang="en-US" sz="2800" dirty="0"/>
              <a:t>Hadoop </a:t>
            </a:r>
          </a:p>
          <a:p>
            <a:pPr lvl="1"/>
            <a:r>
              <a:rPr lang="en-US" sz="2800" dirty="0"/>
              <a:t>Kafka </a:t>
            </a:r>
          </a:p>
          <a:p>
            <a:pPr lvl="1"/>
            <a:r>
              <a:rPr lang="en-US" sz="2800" dirty="0"/>
              <a:t>Kubernetes</a:t>
            </a:r>
            <a:endParaRPr lang="en-IN" sz="4400" dirty="0"/>
          </a:p>
        </p:txBody>
      </p:sp>
    </p:spTree>
    <p:extLst>
      <p:ext uri="{BB962C8B-B14F-4D97-AF65-F5344CB8AC3E}">
        <p14:creationId xmlns:p14="http://schemas.microsoft.com/office/powerpoint/2010/main" val="28333797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GNU General Public License (GPL)</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10000"/>
          </a:bodyPr>
          <a:lstStyle/>
          <a:p>
            <a:pPr marL="0" indent="0" algn="just">
              <a:buNone/>
            </a:pPr>
            <a:r>
              <a:rPr lang="en-US" sz="3600" b="1" dirty="0"/>
              <a:t>Overview</a:t>
            </a:r>
          </a:p>
          <a:p>
            <a:pPr algn="just"/>
            <a:r>
              <a:rPr lang="en-US" sz="3600" dirty="0"/>
              <a:t>The GNU GPL is one of the best-known copyleft licenses.</a:t>
            </a:r>
          </a:p>
          <a:p>
            <a:pPr algn="just"/>
            <a:r>
              <a:rPr lang="en-US" sz="3600" dirty="0"/>
              <a:t>It guarantees users the freedom to:</a:t>
            </a:r>
          </a:p>
          <a:p>
            <a:pPr lvl="1" algn="just"/>
            <a:r>
              <a:rPr lang="en-US" sz="3200" dirty="0"/>
              <a:t>Run software. </a:t>
            </a:r>
          </a:p>
          <a:p>
            <a:pPr lvl="1" algn="just"/>
            <a:r>
              <a:rPr lang="en-US" sz="3200" dirty="0"/>
              <a:t>Study software. </a:t>
            </a:r>
          </a:p>
          <a:p>
            <a:pPr lvl="1" algn="just"/>
            <a:r>
              <a:rPr lang="en-US" sz="3200" dirty="0"/>
              <a:t>Modify software. </a:t>
            </a:r>
          </a:p>
          <a:p>
            <a:pPr lvl="1" algn="just"/>
            <a:r>
              <a:rPr lang="en-US" sz="3200" dirty="0"/>
              <a:t>Redistribute software. </a:t>
            </a:r>
          </a:p>
          <a:p>
            <a:pPr marL="0" indent="0" algn="just">
              <a:buNone/>
            </a:pPr>
            <a:r>
              <a:rPr lang="en-US" sz="3600" b="1" dirty="0"/>
              <a:t>Key Rule</a:t>
            </a:r>
          </a:p>
          <a:p>
            <a:pPr algn="just"/>
            <a:r>
              <a:rPr lang="en-US" sz="3600" dirty="0"/>
              <a:t>If you distribute a modified version, you must also make the corresponding source code available under the GPL.</a:t>
            </a:r>
          </a:p>
        </p:txBody>
      </p:sp>
    </p:spTree>
    <p:extLst>
      <p:ext uri="{BB962C8B-B14F-4D97-AF65-F5344CB8AC3E}">
        <p14:creationId xmlns:p14="http://schemas.microsoft.com/office/powerpoint/2010/main" val="6962256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GNU General Public License (GPL)</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r>
              <a:rPr lang="en-US" sz="3600" b="1" dirty="0"/>
              <a:t>Characteristics</a:t>
            </a:r>
          </a:p>
          <a:p>
            <a:pPr lvl="1"/>
            <a:r>
              <a:rPr lang="en-US" sz="3200" dirty="0"/>
              <a:t>Strong copyleft. </a:t>
            </a:r>
          </a:p>
          <a:p>
            <a:pPr lvl="1"/>
            <a:r>
              <a:rPr lang="en-US" sz="3200" dirty="0"/>
              <a:t>Encourages software freedom. </a:t>
            </a:r>
          </a:p>
          <a:p>
            <a:pPr lvl="1"/>
            <a:r>
              <a:rPr lang="en-US" sz="3200" dirty="0"/>
              <a:t>Prevents proprietary forks of GPL-covered code. </a:t>
            </a:r>
          </a:p>
          <a:p>
            <a:r>
              <a:rPr lang="en-US" sz="3600" b="1" dirty="0"/>
              <a:t>Advantages</a:t>
            </a:r>
          </a:p>
          <a:p>
            <a:pPr lvl="1"/>
            <a:r>
              <a:rPr lang="en-US" sz="3200" dirty="0"/>
              <a:t>Ensures software remains open. </a:t>
            </a:r>
          </a:p>
          <a:p>
            <a:pPr lvl="1"/>
            <a:r>
              <a:rPr lang="en-US" sz="3200" dirty="0"/>
              <a:t>Encourages community collaboration. </a:t>
            </a:r>
          </a:p>
          <a:p>
            <a:pPr lvl="1"/>
            <a:r>
              <a:rPr lang="en-US" sz="3200" dirty="0"/>
              <a:t>Protects user freedoms.</a:t>
            </a:r>
          </a:p>
          <a:p>
            <a:pPr marL="0" indent="0" algn="just">
              <a:buNone/>
            </a:pPr>
            <a:endParaRPr lang="en-US" sz="4800" dirty="0"/>
          </a:p>
        </p:txBody>
      </p:sp>
    </p:spTree>
    <p:extLst>
      <p:ext uri="{BB962C8B-B14F-4D97-AF65-F5344CB8AC3E}">
        <p14:creationId xmlns:p14="http://schemas.microsoft.com/office/powerpoint/2010/main" val="26320370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GNU General Public License (GPL)</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600" b="1" dirty="0"/>
              <a:t>Limitations</a:t>
            </a:r>
          </a:p>
          <a:p>
            <a:pPr lvl="1" algn="just"/>
            <a:r>
              <a:rPr lang="en-US" sz="3200" dirty="0"/>
              <a:t>Not suitable for organizations wishing to keep derivative source code closed. </a:t>
            </a:r>
          </a:p>
          <a:p>
            <a:pPr lvl="1" algn="just"/>
            <a:r>
              <a:rPr lang="en-US" sz="3200" dirty="0"/>
              <a:t>License compatibility requires careful consideration. </a:t>
            </a:r>
          </a:p>
          <a:p>
            <a:pPr algn="just"/>
            <a:r>
              <a:rPr lang="en-US" sz="3600" b="1" dirty="0"/>
              <a:t>Common Projects</a:t>
            </a:r>
          </a:p>
          <a:p>
            <a:pPr lvl="1" algn="just"/>
            <a:r>
              <a:rPr lang="en-US" sz="3200" dirty="0"/>
              <a:t>GNU utilities </a:t>
            </a:r>
          </a:p>
          <a:p>
            <a:pPr lvl="1" algn="just"/>
            <a:r>
              <a:rPr lang="en-US" sz="3200" dirty="0"/>
              <a:t>WordPress </a:t>
            </a:r>
          </a:p>
          <a:p>
            <a:pPr lvl="1" algn="just"/>
            <a:r>
              <a:rPr lang="en-US" sz="3200" dirty="0"/>
              <a:t>GNU Compiler Collection (GCC)</a:t>
            </a:r>
            <a:endParaRPr lang="en-US" sz="4800" dirty="0"/>
          </a:p>
        </p:txBody>
      </p:sp>
    </p:spTree>
    <p:extLst>
      <p:ext uri="{BB962C8B-B14F-4D97-AF65-F5344CB8AC3E}">
        <p14:creationId xmlns:p14="http://schemas.microsoft.com/office/powerpoint/2010/main" val="28519439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GNU Lesser General Public License (LGPL)</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lnSpcReduction="10000"/>
          </a:bodyPr>
          <a:lstStyle/>
          <a:p>
            <a:pPr marL="0" indent="0" algn="just">
              <a:buNone/>
            </a:pPr>
            <a:r>
              <a:rPr lang="en-US" sz="3200" b="1" dirty="0"/>
              <a:t>Overview</a:t>
            </a:r>
          </a:p>
          <a:p>
            <a:pPr lvl="1" algn="just"/>
            <a:r>
              <a:rPr lang="en-US" dirty="0"/>
              <a:t>The LGPL is a </a:t>
            </a:r>
            <a:r>
              <a:rPr lang="en-US" b="1" dirty="0"/>
              <a:t>weak copyleft</a:t>
            </a:r>
            <a:r>
              <a:rPr lang="en-US" dirty="0"/>
              <a:t> license.</a:t>
            </a:r>
          </a:p>
          <a:p>
            <a:pPr lvl="1" algn="just"/>
            <a:r>
              <a:rPr lang="en-US" dirty="0"/>
              <a:t>It is commonly used for software libraries.</a:t>
            </a:r>
          </a:p>
          <a:p>
            <a:pPr lvl="1" algn="just"/>
            <a:r>
              <a:rPr lang="en-US" dirty="0"/>
              <a:t>Applications can generally link to an LGPL library without requiring the entire application to become LGPL, provided the license's conditions are met.</a:t>
            </a:r>
          </a:p>
          <a:p>
            <a:pPr marL="0" indent="0" algn="just">
              <a:buNone/>
            </a:pPr>
            <a:r>
              <a:rPr lang="en-US" sz="3200" b="1" dirty="0"/>
              <a:t>Suitable For</a:t>
            </a:r>
          </a:p>
          <a:p>
            <a:pPr lvl="1" algn="just"/>
            <a:r>
              <a:rPr lang="en-US" dirty="0"/>
              <a:t>Shared libraries </a:t>
            </a:r>
          </a:p>
          <a:p>
            <a:pPr lvl="1" algn="just"/>
            <a:r>
              <a:rPr lang="en-US" dirty="0"/>
              <a:t>Frameworks </a:t>
            </a:r>
          </a:p>
          <a:p>
            <a:pPr lvl="1" algn="just"/>
            <a:r>
              <a:rPr lang="en-US" dirty="0"/>
              <a:t>Reusable components </a:t>
            </a:r>
          </a:p>
          <a:p>
            <a:pPr algn="just"/>
            <a:r>
              <a:rPr lang="en-US" sz="3200" b="1" dirty="0"/>
              <a:t>Example</a:t>
            </a:r>
          </a:p>
          <a:p>
            <a:pPr lvl="1" algn="just"/>
            <a:r>
              <a:rPr lang="en-US" dirty="0"/>
              <a:t>Many multimedia and utility libraries use LGPL to encourage broader adoption.</a:t>
            </a:r>
          </a:p>
        </p:txBody>
      </p:sp>
    </p:spTree>
    <p:extLst>
      <p:ext uri="{BB962C8B-B14F-4D97-AF65-F5344CB8AC3E}">
        <p14:creationId xmlns:p14="http://schemas.microsoft.com/office/powerpoint/2010/main" val="30338171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GNU </a:t>
            </a:r>
            <a:r>
              <a:rPr lang="en-IN" b="1" dirty="0" err="1"/>
              <a:t>Affero</a:t>
            </a:r>
            <a:r>
              <a:rPr lang="en-IN" b="1" dirty="0"/>
              <a:t> General Public License (AGPL)</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421176"/>
            <a:ext cx="10515600" cy="5436824"/>
          </a:xfrm>
        </p:spPr>
        <p:txBody>
          <a:bodyPr>
            <a:normAutofit lnSpcReduction="10000"/>
          </a:bodyPr>
          <a:lstStyle/>
          <a:p>
            <a:pPr marL="0" indent="0" algn="just">
              <a:buNone/>
            </a:pPr>
            <a:r>
              <a:rPr lang="en-US" b="1" dirty="0"/>
              <a:t>Overview</a:t>
            </a:r>
          </a:p>
          <a:p>
            <a:pPr algn="just"/>
            <a:r>
              <a:rPr lang="en-US" dirty="0"/>
              <a:t>The AGPL extends the GPL to software provided over a network.</a:t>
            </a:r>
          </a:p>
          <a:p>
            <a:pPr algn="just"/>
            <a:r>
              <a:rPr lang="en-US" dirty="0"/>
              <a:t>If users interact with a modified AGPL application over a network, the source code of those modifications must generally be offered to those users.</a:t>
            </a:r>
          </a:p>
          <a:p>
            <a:pPr marL="0" indent="0" algn="just">
              <a:buNone/>
            </a:pPr>
            <a:r>
              <a:rPr lang="en-US" b="1" dirty="0"/>
              <a:t>Purpose</a:t>
            </a:r>
          </a:p>
          <a:p>
            <a:pPr algn="just"/>
            <a:r>
              <a:rPr lang="en-US" dirty="0"/>
              <a:t>Prevent organizations from modifying software and offering it as an online service without sharing those modifications.</a:t>
            </a:r>
          </a:p>
          <a:p>
            <a:pPr marL="0" indent="0" algn="just">
              <a:buNone/>
            </a:pPr>
            <a:r>
              <a:rPr lang="en-US" b="1" dirty="0"/>
              <a:t>Common Uses</a:t>
            </a:r>
          </a:p>
          <a:p>
            <a:pPr algn="just">
              <a:buFont typeface="Arial" panose="020B0604020202020204" pitchFamily="34" charset="0"/>
              <a:buChar char="•"/>
            </a:pPr>
            <a:r>
              <a:rPr lang="en-US" dirty="0"/>
              <a:t>Network server applications </a:t>
            </a:r>
          </a:p>
          <a:p>
            <a:pPr algn="just">
              <a:buFont typeface="Arial" panose="020B0604020202020204" pitchFamily="34" charset="0"/>
              <a:buChar char="•"/>
            </a:pPr>
            <a:r>
              <a:rPr lang="en-US" dirty="0"/>
              <a:t>Web-based platforms </a:t>
            </a:r>
          </a:p>
          <a:p>
            <a:pPr algn="just">
              <a:buFont typeface="Arial" panose="020B0604020202020204" pitchFamily="34" charset="0"/>
              <a:buChar char="•"/>
            </a:pPr>
            <a:r>
              <a:rPr lang="en-US" dirty="0"/>
              <a:t>Cloud-hosted software </a:t>
            </a:r>
            <a:endParaRPr lang="en-IN" sz="4000" dirty="0"/>
          </a:p>
        </p:txBody>
      </p:sp>
    </p:spTree>
    <p:extLst>
      <p:ext uri="{BB962C8B-B14F-4D97-AF65-F5344CB8AC3E}">
        <p14:creationId xmlns:p14="http://schemas.microsoft.com/office/powerpoint/2010/main" val="15508387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317915"/>
            <a:ext cx="10515600" cy="1325563"/>
          </a:xfrm>
        </p:spPr>
        <p:txBody>
          <a:bodyPr/>
          <a:lstStyle/>
          <a:p>
            <a:r>
              <a:rPr lang="en-IN" b="1" dirty="0"/>
              <a:t>Comparison of Major Licenses</a:t>
            </a:r>
          </a:p>
        </p:txBody>
      </p:sp>
      <p:graphicFrame>
        <p:nvGraphicFramePr>
          <p:cNvPr id="4" name="Content Placeholder 3">
            <a:extLst>
              <a:ext uri="{FF2B5EF4-FFF2-40B4-BE49-F238E27FC236}">
                <a16:creationId xmlns:a16="http://schemas.microsoft.com/office/drawing/2014/main" id="{C0235E41-483C-4CC1-A5BC-989EA1169AC6}"/>
              </a:ext>
            </a:extLst>
          </p:cNvPr>
          <p:cNvGraphicFramePr>
            <a:graphicFrameLocks noGrp="1"/>
          </p:cNvGraphicFramePr>
          <p:nvPr>
            <p:ph idx="1"/>
            <p:extLst>
              <p:ext uri="{D42A27DB-BD31-4B8C-83A1-F6EECF244321}">
                <p14:modId xmlns:p14="http://schemas.microsoft.com/office/powerpoint/2010/main" val="675211335"/>
              </p:ext>
            </p:extLst>
          </p:nvPr>
        </p:nvGraphicFramePr>
        <p:xfrm>
          <a:off x="0" y="715724"/>
          <a:ext cx="12191998" cy="6144305"/>
        </p:xfrm>
        <a:graphic>
          <a:graphicData uri="http://schemas.openxmlformats.org/drawingml/2006/table">
            <a:tbl>
              <a:tblPr>
                <a:tableStyleId>{284E427A-3D55-4303-BF80-6455036E1DE7}</a:tableStyleId>
              </a:tblPr>
              <a:tblGrid>
                <a:gridCol w="1741714">
                  <a:extLst>
                    <a:ext uri="{9D8B030D-6E8A-4147-A177-3AD203B41FA5}">
                      <a16:colId xmlns:a16="http://schemas.microsoft.com/office/drawing/2014/main" val="2128362554"/>
                    </a:ext>
                  </a:extLst>
                </a:gridCol>
                <a:gridCol w="968435">
                  <a:extLst>
                    <a:ext uri="{9D8B030D-6E8A-4147-A177-3AD203B41FA5}">
                      <a16:colId xmlns:a16="http://schemas.microsoft.com/office/drawing/2014/main" val="3540754796"/>
                    </a:ext>
                  </a:extLst>
                </a:gridCol>
                <a:gridCol w="1189822">
                  <a:extLst>
                    <a:ext uri="{9D8B030D-6E8A-4147-A177-3AD203B41FA5}">
                      <a16:colId xmlns:a16="http://schemas.microsoft.com/office/drawing/2014/main" val="608783120"/>
                    </a:ext>
                  </a:extLst>
                </a:gridCol>
                <a:gridCol w="1817783">
                  <a:extLst>
                    <a:ext uri="{9D8B030D-6E8A-4147-A177-3AD203B41FA5}">
                      <a16:colId xmlns:a16="http://schemas.microsoft.com/office/drawing/2014/main" val="1664512805"/>
                    </a:ext>
                  </a:extLst>
                </a:gridCol>
                <a:gridCol w="2115239">
                  <a:extLst>
                    <a:ext uri="{9D8B030D-6E8A-4147-A177-3AD203B41FA5}">
                      <a16:colId xmlns:a16="http://schemas.microsoft.com/office/drawing/2014/main" val="1864299753"/>
                    </a:ext>
                  </a:extLst>
                </a:gridCol>
                <a:gridCol w="1972019">
                  <a:extLst>
                    <a:ext uri="{9D8B030D-6E8A-4147-A177-3AD203B41FA5}">
                      <a16:colId xmlns:a16="http://schemas.microsoft.com/office/drawing/2014/main" val="3196504861"/>
                    </a:ext>
                  </a:extLst>
                </a:gridCol>
                <a:gridCol w="2386986">
                  <a:extLst>
                    <a:ext uri="{9D8B030D-6E8A-4147-A177-3AD203B41FA5}">
                      <a16:colId xmlns:a16="http://schemas.microsoft.com/office/drawing/2014/main" val="3671965434"/>
                    </a:ext>
                  </a:extLst>
                </a:gridCol>
              </a:tblGrid>
              <a:tr h="534111">
                <a:tc>
                  <a:txBody>
                    <a:bodyPr/>
                    <a:lstStyle/>
                    <a:p>
                      <a:r>
                        <a:rPr lang="en-IN" sz="2400" b="1" dirty="0"/>
                        <a:t>Feature</a:t>
                      </a:r>
                    </a:p>
                  </a:txBody>
                  <a:tcPr anchor="ctr"/>
                </a:tc>
                <a:tc>
                  <a:txBody>
                    <a:bodyPr/>
                    <a:lstStyle/>
                    <a:p>
                      <a:r>
                        <a:rPr lang="en-IN" sz="2400" b="1" dirty="0"/>
                        <a:t>MIT</a:t>
                      </a:r>
                    </a:p>
                  </a:txBody>
                  <a:tcPr anchor="ctr"/>
                </a:tc>
                <a:tc>
                  <a:txBody>
                    <a:bodyPr/>
                    <a:lstStyle/>
                    <a:p>
                      <a:r>
                        <a:rPr lang="en-IN" sz="2400" b="1" dirty="0"/>
                        <a:t>BSD</a:t>
                      </a:r>
                    </a:p>
                  </a:txBody>
                  <a:tcPr anchor="ctr"/>
                </a:tc>
                <a:tc>
                  <a:txBody>
                    <a:bodyPr/>
                    <a:lstStyle/>
                    <a:p>
                      <a:r>
                        <a:rPr lang="en-IN" sz="2400" b="1" dirty="0"/>
                        <a:t>Apache 2.0</a:t>
                      </a:r>
                    </a:p>
                  </a:txBody>
                  <a:tcPr anchor="ctr"/>
                </a:tc>
                <a:tc>
                  <a:txBody>
                    <a:bodyPr/>
                    <a:lstStyle/>
                    <a:p>
                      <a:r>
                        <a:rPr lang="en-IN" sz="2400" b="1" dirty="0"/>
                        <a:t>GPL v3</a:t>
                      </a:r>
                    </a:p>
                  </a:txBody>
                  <a:tcPr anchor="ctr"/>
                </a:tc>
                <a:tc>
                  <a:txBody>
                    <a:bodyPr/>
                    <a:lstStyle/>
                    <a:p>
                      <a:r>
                        <a:rPr lang="en-IN" sz="2400" b="1" dirty="0"/>
                        <a:t>LGPL</a:t>
                      </a:r>
                    </a:p>
                  </a:txBody>
                  <a:tcPr anchor="ctr"/>
                </a:tc>
                <a:tc>
                  <a:txBody>
                    <a:bodyPr/>
                    <a:lstStyle/>
                    <a:p>
                      <a:r>
                        <a:rPr lang="en-IN" sz="2400" b="1" dirty="0"/>
                        <a:t>AGPL</a:t>
                      </a:r>
                    </a:p>
                  </a:txBody>
                  <a:tcPr anchor="ctr"/>
                </a:tc>
                <a:extLst>
                  <a:ext uri="{0D108BD9-81ED-4DB2-BD59-A6C34878D82A}">
                    <a16:rowId xmlns:a16="http://schemas.microsoft.com/office/drawing/2014/main" val="606737321"/>
                  </a:ext>
                </a:extLst>
              </a:tr>
              <a:tr h="534111">
                <a:tc>
                  <a:txBody>
                    <a:bodyPr/>
                    <a:lstStyle/>
                    <a:p>
                      <a:r>
                        <a:rPr lang="en-IN" sz="2400"/>
                        <a:t>Open Source</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extLst>
                  <a:ext uri="{0D108BD9-81ED-4DB2-BD59-A6C34878D82A}">
                    <a16:rowId xmlns:a16="http://schemas.microsoft.com/office/drawing/2014/main" val="3270716601"/>
                  </a:ext>
                </a:extLst>
              </a:tr>
              <a:tr h="934694">
                <a:tc>
                  <a:txBody>
                    <a:bodyPr/>
                    <a:lstStyle/>
                    <a:p>
                      <a:r>
                        <a:rPr lang="en-IN" sz="2400" dirty="0"/>
                        <a:t>Commercial Use</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extLst>
                  <a:ext uri="{0D108BD9-81ED-4DB2-BD59-A6C34878D82A}">
                    <a16:rowId xmlns:a16="http://schemas.microsoft.com/office/drawing/2014/main" val="2853716929"/>
                  </a:ext>
                </a:extLst>
              </a:tr>
              <a:tr h="934694">
                <a:tc>
                  <a:txBody>
                    <a:bodyPr/>
                    <a:lstStyle/>
                    <a:p>
                      <a:r>
                        <a:rPr lang="en-IN" sz="2400"/>
                        <a:t>Modify Software</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dirty="0"/>
                        <a:t>Yes</a:t>
                      </a:r>
                    </a:p>
                  </a:txBody>
                  <a:tcPr anchor="ctr"/>
                </a:tc>
                <a:tc>
                  <a:txBody>
                    <a:bodyPr/>
                    <a:lstStyle/>
                    <a:p>
                      <a:r>
                        <a:rPr lang="en-IN" sz="2400"/>
                        <a:t>Yes</a:t>
                      </a:r>
                    </a:p>
                  </a:txBody>
                  <a:tcPr anchor="ctr"/>
                </a:tc>
                <a:tc>
                  <a:txBody>
                    <a:bodyPr/>
                    <a:lstStyle/>
                    <a:p>
                      <a:r>
                        <a:rPr lang="en-IN" sz="2400"/>
                        <a:t>Yes</a:t>
                      </a:r>
                    </a:p>
                  </a:txBody>
                  <a:tcPr anchor="ctr"/>
                </a:tc>
                <a:extLst>
                  <a:ext uri="{0D108BD9-81ED-4DB2-BD59-A6C34878D82A}">
                    <a16:rowId xmlns:a16="http://schemas.microsoft.com/office/drawing/2014/main" val="2311019317"/>
                  </a:ext>
                </a:extLst>
              </a:tr>
              <a:tr h="1048458">
                <a:tc>
                  <a:txBody>
                    <a:bodyPr/>
                    <a:lstStyle/>
                    <a:p>
                      <a:r>
                        <a:rPr lang="en-IN" sz="2400"/>
                        <a:t>Proprietary Distribution</a:t>
                      </a:r>
                    </a:p>
                  </a:txBody>
                  <a:tcPr anchor="ctr"/>
                </a:tc>
                <a:tc>
                  <a:txBody>
                    <a:bodyPr/>
                    <a:lstStyle/>
                    <a:p>
                      <a:r>
                        <a:rPr lang="en-IN" sz="2400"/>
                        <a:t>Yes</a:t>
                      </a:r>
                    </a:p>
                  </a:txBody>
                  <a:tcPr anchor="ctr"/>
                </a:tc>
                <a:tc>
                  <a:txBody>
                    <a:bodyPr/>
                    <a:lstStyle/>
                    <a:p>
                      <a:r>
                        <a:rPr lang="en-IN" sz="2400"/>
                        <a:t>Yes</a:t>
                      </a:r>
                    </a:p>
                  </a:txBody>
                  <a:tcPr anchor="ctr"/>
                </a:tc>
                <a:tc>
                  <a:txBody>
                    <a:bodyPr/>
                    <a:lstStyle/>
                    <a:p>
                      <a:r>
                        <a:rPr lang="en-IN" sz="2400" dirty="0"/>
                        <a:t>Yes</a:t>
                      </a:r>
                    </a:p>
                  </a:txBody>
                  <a:tcPr anchor="ctr"/>
                </a:tc>
                <a:tc>
                  <a:txBody>
                    <a:bodyPr/>
                    <a:lstStyle/>
                    <a:p>
                      <a:r>
                        <a:rPr lang="en-US" sz="2000" dirty="0"/>
                        <a:t>Generally No (for derivative works)</a:t>
                      </a:r>
                    </a:p>
                  </a:txBody>
                  <a:tcPr anchor="ctr"/>
                </a:tc>
                <a:tc>
                  <a:txBody>
                    <a:bodyPr/>
                    <a:lstStyle/>
                    <a:p>
                      <a:r>
                        <a:rPr lang="en-US" sz="2000" dirty="0"/>
                        <a:t>Often Yes (under library conditions)</a:t>
                      </a:r>
                    </a:p>
                  </a:txBody>
                  <a:tcPr anchor="ctr"/>
                </a:tc>
                <a:tc>
                  <a:txBody>
                    <a:bodyPr/>
                    <a:lstStyle/>
                    <a:p>
                      <a:r>
                        <a:rPr lang="en-US" sz="2000" dirty="0"/>
                        <a:t>Generally No (for derivative works)</a:t>
                      </a:r>
                    </a:p>
                  </a:txBody>
                  <a:tcPr anchor="ctr"/>
                </a:tc>
                <a:extLst>
                  <a:ext uri="{0D108BD9-81ED-4DB2-BD59-A6C34878D82A}">
                    <a16:rowId xmlns:a16="http://schemas.microsoft.com/office/drawing/2014/main" val="407847583"/>
                  </a:ext>
                </a:extLst>
              </a:tr>
              <a:tr h="934694">
                <a:tc>
                  <a:txBody>
                    <a:bodyPr/>
                    <a:lstStyle/>
                    <a:p>
                      <a:r>
                        <a:rPr lang="en-IN" sz="2400"/>
                        <a:t>Patent Grant</a:t>
                      </a:r>
                    </a:p>
                  </a:txBody>
                  <a:tcPr anchor="ctr"/>
                </a:tc>
                <a:tc>
                  <a:txBody>
                    <a:bodyPr/>
                    <a:lstStyle/>
                    <a:p>
                      <a:r>
                        <a:rPr lang="en-IN" sz="2400"/>
                        <a:t>No</a:t>
                      </a:r>
                    </a:p>
                  </a:txBody>
                  <a:tcPr anchor="ctr"/>
                </a:tc>
                <a:tc>
                  <a:txBody>
                    <a:bodyPr/>
                    <a:lstStyle/>
                    <a:p>
                      <a:r>
                        <a:rPr lang="en-IN" sz="2400"/>
                        <a:t>No</a:t>
                      </a:r>
                    </a:p>
                  </a:txBody>
                  <a:tcPr anchor="ctr"/>
                </a:tc>
                <a:tc>
                  <a:txBody>
                    <a:bodyPr/>
                    <a:lstStyle/>
                    <a:p>
                      <a:r>
                        <a:rPr lang="en-IN" sz="2400"/>
                        <a:t>Yes</a:t>
                      </a:r>
                    </a:p>
                  </a:txBody>
                  <a:tcPr anchor="ctr"/>
                </a:tc>
                <a:tc>
                  <a:txBody>
                    <a:bodyPr/>
                    <a:lstStyle/>
                    <a:p>
                      <a:r>
                        <a:rPr lang="en-IN" sz="2400" dirty="0"/>
                        <a:t>Limited/Implicit provisions</a:t>
                      </a:r>
                    </a:p>
                  </a:txBody>
                  <a:tcPr anchor="ctr"/>
                </a:tc>
                <a:tc>
                  <a:txBody>
                    <a:bodyPr/>
                    <a:lstStyle/>
                    <a:p>
                      <a:r>
                        <a:rPr lang="en-IN" sz="2400"/>
                        <a:t>Limited</a:t>
                      </a:r>
                    </a:p>
                  </a:txBody>
                  <a:tcPr anchor="ctr"/>
                </a:tc>
                <a:tc>
                  <a:txBody>
                    <a:bodyPr/>
                    <a:lstStyle/>
                    <a:p>
                      <a:r>
                        <a:rPr lang="en-IN" sz="2400" dirty="0"/>
                        <a:t>Limited</a:t>
                      </a:r>
                    </a:p>
                  </a:txBody>
                  <a:tcPr anchor="ctr"/>
                </a:tc>
                <a:extLst>
                  <a:ext uri="{0D108BD9-81ED-4DB2-BD59-A6C34878D82A}">
                    <a16:rowId xmlns:a16="http://schemas.microsoft.com/office/drawing/2014/main" val="2714858655"/>
                  </a:ext>
                </a:extLst>
              </a:tr>
              <a:tr h="934694">
                <a:tc>
                  <a:txBody>
                    <a:bodyPr/>
                    <a:lstStyle/>
                    <a:p>
                      <a:r>
                        <a:rPr lang="en-IN" sz="2400"/>
                        <a:t>Strong Copyleft</a:t>
                      </a:r>
                    </a:p>
                  </a:txBody>
                  <a:tcPr anchor="ctr"/>
                </a:tc>
                <a:tc>
                  <a:txBody>
                    <a:bodyPr/>
                    <a:lstStyle/>
                    <a:p>
                      <a:r>
                        <a:rPr lang="en-IN" sz="2400"/>
                        <a:t>No</a:t>
                      </a:r>
                    </a:p>
                  </a:txBody>
                  <a:tcPr anchor="ctr"/>
                </a:tc>
                <a:tc>
                  <a:txBody>
                    <a:bodyPr/>
                    <a:lstStyle/>
                    <a:p>
                      <a:r>
                        <a:rPr lang="en-IN" sz="2400"/>
                        <a:t>No</a:t>
                      </a:r>
                    </a:p>
                  </a:txBody>
                  <a:tcPr anchor="ctr"/>
                </a:tc>
                <a:tc>
                  <a:txBody>
                    <a:bodyPr/>
                    <a:lstStyle/>
                    <a:p>
                      <a:r>
                        <a:rPr lang="en-IN" sz="2400"/>
                        <a:t>No</a:t>
                      </a:r>
                    </a:p>
                  </a:txBody>
                  <a:tcPr anchor="ctr"/>
                </a:tc>
                <a:tc>
                  <a:txBody>
                    <a:bodyPr/>
                    <a:lstStyle/>
                    <a:p>
                      <a:r>
                        <a:rPr lang="en-IN" sz="2400"/>
                        <a:t>Yes</a:t>
                      </a:r>
                    </a:p>
                  </a:txBody>
                  <a:tcPr anchor="ctr"/>
                </a:tc>
                <a:tc>
                  <a:txBody>
                    <a:bodyPr/>
                    <a:lstStyle/>
                    <a:p>
                      <a:r>
                        <a:rPr lang="en-IN" sz="2400"/>
                        <a:t>No</a:t>
                      </a:r>
                    </a:p>
                  </a:txBody>
                  <a:tcPr anchor="ctr"/>
                </a:tc>
                <a:tc>
                  <a:txBody>
                    <a:bodyPr/>
                    <a:lstStyle/>
                    <a:p>
                      <a:r>
                        <a:rPr lang="en-IN" sz="2400" dirty="0"/>
                        <a:t>Yes</a:t>
                      </a:r>
                    </a:p>
                  </a:txBody>
                  <a:tcPr anchor="ctr"/>
                </a:tc>
                <a:extLst>
                  <a:ext uri="{0D108BD9-81ED-4DB2-BD59-A6C34878D82A}">
                    <a16:rowId xmlns:a16="http://schemas.microsoft.com/office/drawing/2014/main" val="1603773396"/>
                  </a:ext>
                </a:extLst>
              </a:tr>
            </a:tbl>
          </a:graphicData>
        </a:graphic>
      </p:graphicFrame>
    </p:spTree>
    <p:extLst>
      <p:ext uri="{BB962C8B-B14F-4D97-AF65-F5344CB8AC3E}">
        <p14:creationId xmlns:p14="http://schemas.microsoft.com/office/powerpoint/2010/main" val="3992613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Choosing the Right License</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22024"/>
            <a:ext cx="10515600" cy="5288095"/>
          </a:xfrm>
        </p:spPr>
        <p:txBody>
          <a:bodyPr>
            <a:normAutofit/>
          </a:bodyPr>
          <a:lstStyle/>
          <a:p>
            <a:pPr algn="just"/>
            <a:r>
              <a:rPr lang="en-US" sz="3200" dirty="0"/>
              <a:t>The appropriate license depends on the project's goals.</a:t>
            </a:r>
            <a:endParaRPr lang="en-IN" sz="3200" dirty="0"/>
          </a:p>
        </p:txBody>
      </p:sp>
      <p:graphicFrame>
        <p:nvGraphicFramePr>
          <p:cNvPr id="6" name="Table 5">
            <a:extLst>
              <a:ext uri="{FF2B5EF4-FFF2-40B4-BE49-F238E27FC236}">
                <a16:creationId xmlns:a16="http://schemas.microsoft.com/office/drawing/2014/main" id="{B2434ED3-812D-4986-95E7-35F3E5BEED02}"/>
              </a:ext>
            </a:extLst>
          </p:cNvPr>
          <p:cNvGraphicFramePr>
            <a:graphicFrameLocks noGrp="1"/>
          </p:cNvGraphicFramePr>
          <p:nvPr>
            <p:extLst>
              <p:ext uri="{D42A27DB-BD31-4B8C-83A1-F6EECF244321}">
                <p14:modId xmlns:p14="http://schemas.microsoft.com/office/powerpoint/2010/main" val="4005280834"/>
              </p:ext>
            </p:extLst>
          </p:nvPr>
        </p:nvGraphicFramePr>
        <p:xfrm>
          <a:off x="838200" y="1857443"/>
          <a:ext cx="10295264" cy="4847858"/>
        </p:xfrm>
        <a:graphic>
          <a:graphicData uri="http://schemas.openxmlformats.org/drawingml/2006/table">
            <a:tbl>
              <a:tblPr>
                <a:tableStyleId>{284E427A-3D55-4303-BF80-6455036E1DE7}</a:tableStyleId>
              </a:tblPr>
              <a:tblGrid>
                <a:gridCol w="6763439">
                  <a:extLst>
                    <a:ext uri="{9D8B030D-6E8A-4147-A177-3AD203B41FA5}">
                      <a16:colId xmlns:a16="http://schemas.microsoft.com/office/drawing/2014/main" val="3284274652"/>
                    </a:ext>
                  </a:extLst>
                </a:gridCol>
                <a:gridCol w="3531825">
                  <a:extLst>
                    <a:ext uri="{9D8B030D-6E8A-4147-A177-3AD203B41FA5}">
                      <a16:colId xmlns:a16="http://schemas.microsoft.com/office/drawing/2014/main" val="875907973"/>
                    </a:ext>
                  </a:extLst>
                </a:gridCol>
              </a:tblGrid>
              <a:tr h="578219">
                <a:tc>
                  <a:txBody>
                    <a:bodyPr/>
                    <a:lstStyle/>
                    <a:p>
                      <a:r>
                        <a:rPr lang="en-IN" sz="2800" b="1" dirty="0"/>
                        <a:t>Goal</a:t>
                      </a:r>
                    </a:p>
                  </a:txBody>
                  <a:tcPr anchor="ctr"/>
                </a:tc>
                <a:tc>
                  <a:txBody>
                    <a:bodyPr/>
                    <a:lstStyle/>
                    <a:p>
                      <a:r>
                        <a:rPr lang="en-IN" sz="2800" b="1" dirty="0"/>
                        <a:t>Suggested License</a:t>
                      </a:r>
                    </a:p>
                  </a:txBody>
                  <a:tcPr anchor="ctr"/>
                </a:tc>
                <a:extLst>
                  <a:ext uri="{0D108BD9-81ED-4DB2-BD59-A6C34878D82A}">
                    <a16:rowId xmlns:a16="http://schemas.microsoft.com/office/drawing/2014/main" val="1780025882"/>
                  </a:ext>
                </a:extLst>
              </a:tr>
              <a:tr h="578219">
                <a:tc>
                  <a:txBody>
                    <a:bodyPr/>
                    <a:lstStyle/>
                    <a:p>
                      <a:r>
                        <a:rPr lang="en-US" sz="2800"/>
                        <a:t>Maximum adoption with minimal restrictions</a:t>
                      </a:r>
                    </a:p>
                  </a:txBody>
                  <a:tcPr anchor="ctr"/>
                </a:tc>
                <a:tc>
                  <a:txBody>
                    <a:bodyPr/>
                    <a:lstStyle/>
                    <a:p>
                      <a:r>
                        <a:rPr lang="en-IN" sz="2800"/>
                        <a:t>MIT</a:t>
                      </a:r>
                    </a:p>
                  </a:txBody>
                  <a:tcPr anchor="ctr"/>
                </a:tc>
                <a:extLst>
                  <a:ext uri="{0D108BD9-81ED-4DB2-BD59-A6C34878D82A}">
                    <a16:rowId xmlns:a16="http://schemas.microsoft.com/office/drawing/2014/main" val="3368444329"/>
                  </a:ext>
                </a:extLst>
              </a:tr>
              <a:tr h="578219">
                <a:tc>
                  <a:txBody>
                    <a:bodyPr/>
                    <a:lstStyle/>
                    <a:p>
                      <a:r>
                        <a:rPr lang="en-IN" sz="2800" dirty="0"/>
                        <a:t>Simple permissive license</a:t>
                      </a:r>
                    </a:p>
                  </a:txBody>
                  <a:tcPr anchor="ctr"/>
                </a:tc>
                <a:tc>
                  <a:txBody>
                    <a:bodyPr/>
                    <a:lstStyle/>
                    <a:p>
                      <a:r>
                        <a:rPr lang="en-IN" sz="2800"/>
                        <a:t>BSD</a:t>
                      </a:r>
                    </a:p>
                  </a:txBody>
                  <a:tcPr anchor="ctr"/>
                </a:tc>
                <a:extLst>
                  <a:ext uri="{0D108BD9-81ED-4DB2-BD59-A6C34878D82A}">
                    <a16:rowId xmlns:a16="http://schemas.microsoft.com/office/drawing/2014/main" val="138135255"/>
                  </a:ext>
                </a:extLst>
              </a:tr>
              <a:tr h="578219">
                <a:tc>
                  <a:txBody>
                    <a:bodyPr/>
                    <a:lstStyle/>
                    <a:p>
                      <a:r>
                        <a:rPr lang="en-IN" sz="2800" dirty="0"/>
                        <a:t>Business-friendly with patent protection</a:t>
                      </a:r>
                    </a:p>
                  </a:txBody>
                  <a:tcPr anchor="ctr"/>
                </a:tc>
                <a:tc>
                  <a:txBody>
                    <a:bodyPr/>
                    <a:lstStyle/>
                    <a:p>
                      <a:r>
                        <a:rPr lang="en-IN" sz="2800" dirty="0"/>
                        <a:t>Apache 2.0</a:t>
                      </a:r>
                    </a:p>
                  </a:txBody>
                  <a:tcPr anchor="ctr"/>
                </a:tc>
                <a:extLst>
                  <a:ext uri="{0D108BD9-81ED-4DB2-BD59-A6C34878D82A}">
                    <a16:rowId xmlns:a16="http://schemas.microsoft.com/office/drawing/2014/main" val="997880377"/>
                  </a:ext>
                </a:extLst>
              </a:tr>
              <a:tr h="578219">
                <a:tc>
                  <a:txBody>
                    <a:bodyPr/>
                    <a:lstStyle/>
                    <a:p>
                      <a:r>
                        <a:rPr lang="en-IN" sz="2800"/>
                        <a:t>Ensure derivatives remain open source</a:t>
                      </a:r>
                    </a:p>
                  </a:txBody>
                  <a:tcPr anchor="ctr"/>
                </a:tc>
                <a:tc>
                  <a:txBody>
                    <a:bodyPr/>
                    <a:lstStyle/>
                    <a:p>
                      <a:r>
                        <a:rPr lang="en-IN" sz="2800" dirty="0"/>
                        <a:t>GPL</a:t>
                      </a:r>
                    </a:p>
                  </a:txBody>
                  <a:tcPr anchor="ctr"/>
                </a:tc>
                <a:extLst>
                  <a:ext uri="{0D108BD9-81ED-4DB2-BD59-A6C34878D82A}">
                    <a16:rowId xmlns:a16="http://schemas.microsoft.com/office/drawing/2014/main" val="2532957817"/>
                  </a:ext>
                </a:extLst>
              </a:tr>
              <a:tr h="1011883">
                <a:tc>
                  <a:txBody>
                    <a:bodyPr/>
                    <a:lstStyle/>
                    <a:p>
                      <a:r>
                        <a:rPr lang="en-US" sz="2800"/>
                        <a:t>Open-source library with broader application compatibility</a:t>
                      </a:r>
                    </a:p>
                  </a:txBody>
                  <a:tcPr anchor="ctr"/>
                </a:tc>
                <a:tc>
                  <a:txBody>
                    <a:bodyPr/>
                    <a:lstStyle/>
                    <a:p>
                      <a:r>
                        <a:rPr lang="en-IN" sz="2800" dirty="0"/>
                        <a:t>LGPL</a:t>
                      </a:r>
                    </a:p>
                  </a:txBody>
                  <a:tcPr anchor="ctr"/>
                </a:tc>
                <a:extLst>
                  <a:ext uri="{0D108BD9-81ED-4DB2-BD59-A6C34878D82A}">
                    <a16:rowId xmlns:a16="http://schemas.microsoft.com/office/drawing/2014/main" val="673442040"/>
                  </a:ext>
                </a:extLst>
              </a:tr>
              <a:tr h="578219">
                <a:tc>
                  <a:txBody>
                    <a:bodyPr/>
                    <a:lstStyle/>
                    <a:p>
                      <a:r>
                        <a:rPr lang="en-IN" sz="2800"/>
                        <a:t>Ensure cloud service modifications remain open</a:t>
                      </a:r>
                    </a:p>
                  </a:txBody>
                  <a:tcPr anchor="ctr"/>
                </a:tc>
                <a:tc>
                  <a:txBody>
                    <a:bodyPr/>
                    <a:lstStyle/>
                    <a:p>
                      <a:r>
                        <a:rPr lang="en-IN" sz="2800" dirty="0"/>
                        <a:t>AGPL</a:t>
                      </a:r>
                    </a:p>
                  </a:txBody>
                  <a:tcPr anchor="ctr"/>
                </a:tc>
                <a:extLst>
                  <a:ext uri="{0D108BD9-81ED-4DB2-BD59-A6C34878D82A}">
                    <a16:rowId xmlns:a16="http://schemas.microsoft.com/office/drawing/2014/main" val="3792398721"/>
                  </a:ext>
                </a:extLst>
              </a:tr>
            </a:tbl>
          </a:graphicData>
        </a:graphic>
      </p:graphicFrame>
    </p:spTree>
    <p:extLst>
      <p:ext uri="{BB962C8B-B14F-4D97-AF65-F5344CB8AC3E}">
        <p14:creationId xmlns:p14="http://schemas.microsoft.com/office/powerpoint/2010/main" val="39269208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1551542" y="1553284"/>
            <a:ext cx="2207046" cy="3722133"/>
          </a:xfrm>
        </p:spPr>
        <p:txBody>
          <a:bodyPr/>
          <a:lstStyle/>
          <a:p>
            <a:r>
              <a:rPr lang="en-IN" b="1" dirty="0"/>
              <a:t>License Selection Flow</a:t>
            </a:r>
          </a:p>
        </p:txBody>
      </p:sp>
      <p:pic>
        <p:nvPicPr>
          <p:cNvPr id="9" name="Picture 8">
            <a:extLst>
              <a:ext uri="{FF2B5EF4-FFF2-40B4-BE49-F238E27FC236}">
                <a16:creationId xmlns:a16="http://schemas.microsoft.com/office/drawing/2014/main" id="{69AEAC3D-20A8-4DD4-9066-35B081CF4FC5}"/>
              </a:ext>
            </a:extLst>
          </p:cNvPr>
          <p:cNvPicPr>
            <a:picLocks noChangeAspect="1"/>
          </p:cNvPicPr>
          <p:nvPr/>
        </p:nvPicPr>
        <p:blipFill>
          <a:blip r:embed="rId2"/>
          <a:stretch>
            <a:fillRect/>
          </a:stretch>
        </p:blipFill>
        <p:spPr>
          <a:xfrm>
            <a:off x="4298740" y="46821"/>
            <a:ext cx="6035082" cy="6735060"/>
          </a:xfrm>
          <a:prstGeom prst="rect">
            <a:avLst/>
          </a:prstGeom>
        </p:spPr>
      </p:pic>
    </p:spTree>
    <p:extLst>
      <p:ext uri="{BB962C8B-B14F-4D97-AF65-F5344CB8AC3E}">
        <p14:creationId xmlns:p14="http://schemas.microsoft.com/office/powerpoint/2010/main" val="9541918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Real-World Examples</a:t>
            </a:r>
          </a:p>
        </p:txBody>
      </p:sp>
      <p:graphicFrame>
        <p:nvGraphicFramePr>
          <p:cNvPr id="4" name="Content Placeholder 3">
            <a:extLst>
              <a:ext uri="{FF2B5EF4-FFF2-40B4-BE49-F238E27FC236}">
                <a16:creationId xmlns:a16="http://schemas.microsoft.com/office/drawing/2014/main" id="{D7DAE42E-A7CE-40D8-804E-488499542A05}"/>
              </a:ext>
            </a:extLst>
          </p:cNvPr>
          <p:cNvGraphicFramePr>
            <a:graphicFrameLocks noGrp="1"/>
          </p:cNvGraphicFramePr>
          <p:nvPr>
            <p:ph idx="1"/>
            <p:extLst>
              <p:ext uri="{D42A27DB-BD31-4B8C-83A1-F6EECF244321}">
                <p14:modId xmlns:p14="http://schemas.microsoft.com/office/powerpoint/2010/main" val="1613178124"/>
              </p:ext>
            </p:extLst>
          </p:nvPr>
        </p:nvGraphicFramePr>
        <p:xfrm>
          <a:off x="838200" y="1602583"/>
          <a:ext cx="10123584" cy="4732119"/>
        </p:xfrm>
        <a:graphic>
          <a:graphicData uri="http://schemas.openxmlformats.org/drawingml/2006/table">
            <a:tbl>
              <a:tblPr>
                <a:tableStyleId>{284E427A-3D55-4303-BF80-6455036E1DE7}</a:tableStyleId>
              </a:tblPr>
              <a:tblGrid>
                <a:gridCol w="5061792">
                  <a:extLst>
                    <a:ext uri="{9D8B030D-6E8A-4147-A177-3AD203B41FA5}">
                      <a16:colId xmlns:a16="http://schemas.microsoft.com/office/drawing/2014/main" val="1705484722"/>
                    </a:ext>
                  </a:extLst>
                </a:gridCol>
                <a:gridCol w="5061792">
                  <a:extLst>
                    <a:ext uri="{9D8B030D-6E8A-4147-A177-3AD203B41FA5}">
                      <a16:colId xmlns:a16="http://schemas.microsoft.com/office/drawing/2014/main" val="3217079097"/>
                    </a:ext>
                  </a:extLst>
                </a:gridCol>
              </a:tblGrid>
              <a:tr h="525791">
                <a:tc>
                  <a:txBody>
                    <a:bodyPr/>
                    <a:lstStyle/>
                    <a:p>
                      <a:r>
                        <a:rPr lang="en-IN" sz="2800" b="1" dirty="0"/>
                        <a:t>Software</a:t>
                      </a:r>
                    </a:p>
                  </a:txBody>
                  <a:tcPr anchor="ctr"/>
                </a:tc>
                <a:tc>
                  <a:txBody>
                    <a:bodyPr/>
                    <a:lstStyle/>
                    <a:p>
                      <a:r>
                        <a:rPr lang="en-IN" sz="2800" b="1" dirty="0"/>
                        <a:t>License</a:t>
                      </a:r>
                    </a:p>
                  </a:txBody>
                  <a:tcPr anchor="ctr"/>
                </a:tc>
                <a:extLst>
                  <a:ext uri="{0D108BD9-81ED-4DB2-BD59-A6C34878D82A}">
                    <a16:rowId xmlns:a16="http://schemas.microsoft.com/office/drawing/2014/main" val="549490562"/>
                  </a:ext>
                </a:extLst>
              </a:tr>
              <a:tr h="525791">
                <a:tc>
                  <a:txBody>
                    <a:bodyPr/>
                    <a:lstStyle/>
                    <a:p>
                      <a:r>
                        <a:rPr lang="en-IN" sz="2800"/>
                        <a:t>Linux Kernel</a:t>
                      </a:r>
                    </a:p>
                  </a:txBody>
                  <a:tcPr anchor="ctr"/>
                </a:tc>
                <a:tc>
                  <a:txBody>
                    <a:bodyPr/>
                    <a:lstStyle/>
                    <a:p>
                      <a:r>
                        <a:rPr lang="en-IN" sz="2800"/>
                        <a:t>GPL v2</a:t>
                      </a:r>
                    </a:p>
                  </a:txBody>
                  <a:tcPr anchor="ctr"/>
                </a:tc>
                <a:extLst>
                  <a:ext uri="{0D108BD9-81ED-4DB2-BD59-A6C34878D82A}">
                    <a16:rowId xmlns:a16="http://schemas.microsoft.com/office/drawing/2014/main" val="2253150541"/>
                  </a:ext>
                </a:extLst>
              </a:tr>
              <a:tr h="525791">
                <a:tc>
                  <a:txBody>
                    <a:bodyPr/>
                    <a:lstStyle/>
                    <a:p>
                      <a:r>
                        <a:rPr lang="en-IN" sz="2800"/>
                        <a:t>Kubernetes</a:t>
                      </a:r>
                    </a:p>
                  </a:txBody>
                  <a:tcPr anchor="ctr"/>
                </a:tc>
                <a:tc>
                  <a:txBody>
                    <a:bodyPr/>
                    <a:lstStyle/>
                    <a:p>
                      <a:r>
                        <a:rPr lang="en-IN" sz="2800"/>
                        <a:t>Apache 2.0</a:t>
                      </a:r>
                    </a:p>
                  </a:txBody>
                  <a:tcPr anchor="ctr"/>
                </a:tc>
                <a:extLst>
                  <a:ext uri="{0D108BD9-81ED-4DB2-BD59-A6C34878D82A}">
                    <a16:rowId xmlns:a16="http://schemas.microsoft.com/office/drawing/2014/main" val="2362841788"/>
                  </a:ext>
                </a:extLst>
              </a:tr>
              <a:tr h="525791">
                <a:tc>
                  <a:txBody>
                    <a:bodyPr/>
                    <a:lstStyle/>
                    <a:p>
                      <a:r>
                        <a:rPr lang="en-IN" sz="2800"/>
                        <a:t>Apache HTTP Server</a:t>
                      </a:r>
                    </a:p>
                  </a:txBody>
                  <a:tcPr anchor="ctr"/>
                </a:tc>
                <a:tc>
                  <a:txBody>
                    <a:bodyPr/>
                    <a:lstStyle/>
                    <a:p>
                      <a:r>
                        <a:rPr lang="en-IN" sz="2800"/>
                        <a:t>Apache 2.0</a:t>
                      </a:r>
                    </a:p>
                  </a:txBody>
                  <a:tcPr anchor="ctr"/>
                </a:tc>
                <a:extLst>
                  <a:ext uri="{0D108BD9-81ED-4DB2-BD59-A6C34878D82A}">
                    <a16:rowId xmlns:a16="http://schemas.microsoft.com/office/drawing/2014/main" val="1695720650"/>
                  </a:ext>
                </a:extLst>
              </a:tr>
              <a:tr h="525791">
                <a:tc>
                  <a:txBody>
                    <a:bodyPr/>
                    <a:lstStyle/>
                    <a:p>
                      <a:r>
                        <a:rPr lang="en-IN" sz="2800"/>
                        <a:t>FreeBSD</a:t>
                      </a:r>
                    </a:p>
                  </a:txBody>
                  <a:tcPr anchor="ctr"/>
                </a:tc>
                <a:tc>
                  <a:txBody>
                    <a:bodyPr/>
                    <a:lstStyle/>
                    <a:p>
                      <a:r>
                        <a:rPr lang="en-IN" sz="2800"/>
                        <a:t>BSD 2-Clause</a:t>
                      </a:r>
                    </a:p>
                  </a:txBody>
                  <a:tcPr anchor="ctr"/>
                </a:tc>
                <a:extLst>
                  <a:ext uri="{0D108BD9-81ED-4DB2-BD59-A6C34878D82A}">
                    <a16:rowId xmlns:a16="http://schemas.microsoft.com/office/drawing/2014/main" val="4133021702"/>
                  </a:ext>
                </a:extLst>
              </a:tr>
              <a:tr h="525791">
                <a:tc>
                  <a:txBody>
                    <a:bodyPr/>
                    <a:lstStyle/>
                    <a:p>
                      <a:r>
                        <a:rPr lang="en-IN" sz="2800"/>
                        <a:t>OpenBSD</a:t>
                      </a:r>
                    </a:p>
                  </a:txBody>
                  <a:tcPr anchor="ctr"/>
                </a:tc>
                <a:tc>
                  <a:txBody>
                    <a:bodyPr/>
                    <a:lstStyle/>
                    <a:p>
                      <a:r>
                        <a:rPr lang="en-IN" sz="2800"/>
                        <a:t>BSD License</a:t>
                      </a:r>
                    </a:p>
                  </a:txBody>
                  <a:tcPr anchor="ctr"/>
                </a:tc>
                <a:extLst>
                  <a:ext uri="{0D108BD9-81ED-4DB2-BD59-A6C34878D82A}">
                    <a16:rowId xmlns:a16="http://schemas.microsoft.com/office/drawing/2014/main" val="1013158813"/>
                  </a:ext>
                </a:extLst>
              </a:tr>
              <a:tr h="525791">
                <a:tc>
                  <a:txBody>
                    <a:bodyPr/>
                    <a:lstStyle/>
                    <a:p>
                      <a:r>
                        <a:rPr lang="en-IN" sz="2800"/>
                        <a:t>WordPress</a:t>
                      </a:r>
                    </a:p>
                  </a:txBody>
                  <a:tcPr anchor="ctr"/>
                </a:tc>
                <a:tc>
                  <a:txBody>
                    <a:bodyPr/>
                    <a:lstStyle/>
                    <a:p>
                      <a:r>
                        <a:rPr lang="en-IN" sz="2800"/>
                        <a:t>GPL v2 or later</a:t>
                      </a:r>
                    </a:p>
                  </a:txBody>
                  <a:tcPr anchor="ctr"/>
                </a:tc>
                <a:extLst>
                  <a:ext uri="{0D108BD9-81ED-4DB2-BD59-A6C34878D82A}">
                    <a16:rowId xmlns:a16="http://schemas.microsoft.com/office/drawing/2014/main" val="3789488965"/>
                  </a:ext>
                </a:extLst>
              </a:tr>
              <a:tr h="525791">
                <a:tc>
                  <a:txBody>
                    <a:bodyPr/>
                    <a:lstStyle/>
                    <a:p>
                      <a:r>
                        <a:rPr lang="en-IN" sz="2800"/>
                        <a:t>LLVM</a:t>
                      </a:r>
                    </a:p>
                  </a:txBody>
                  <a:tcPr anchor="ctr"/>
                </a:tc>
                <a:tc>
                  <a:txBody>
                    <a:bodyPr/>
                    <a:lstStyle/>
                    <a:p>
                      <a:r>
                        <a:rPr lang="en-US" sz="2800"/>
                        <a:t>Apache 2.0 with LLVM exceptions</a:t>
                      </a:r>
                    </a:p>
                  </a:txBody>
                  <a:tcPr anchor="ctr"/>
                </a:tc>
                <a:extLst>
                  <a:ext uri="{0D108BD9-81ED-4DB2-BD59-A6C34878D82A}">
                    <a16:rowId xmlns:a16="http://schemas.microsoft.com/office/drawing/2014/main" val="1743828888"/>
                  </a:ext>
                </a:extLst>
              </a:tr>
              <a:tr h="525791">
                <a:tc>
                  <a:txBody>
                    <a:bodyPr/>
                    <a:lstStyle/>
                    <a:p>
                      <a:r>
                        <a:rPr lang="en-IN" sz="2800"/>
                        <a:t>React</a:t>
                      </a:r>
                    </a:p>
                  </a:txBody>
                  <a:tcPr anchor="ctr"/>
                </a:tc>
                <a:tc>
                  <a:txBody>
                    <a:bodyPr/>
                    <a:lstStyle/>
                    <a:p>
                      <a:r>
                        <a:rPr lang="en-IN" sz="2800" dirty="0"/>
                        <a:t>MIT</a:t>
                      </a:r>
                    </a:p>
                  </a:txBody>
                  <a:tcPr anchor="ctr"/>
                </a:tc>
                <a:extLst>
                  <a:ext uri="{0D108BD9-81ED-4DB2-BD59-A6C34878D82A}">
                    <a16:rowId xmlns:a16="http://schemas.microsoft.com/office/drawing/2014/main" val="2541999627"/>
                  </a:ext>
                </a:extLst>
              </a:tr>
            </a:tbl>
          </a:graphicData>
        </a:graphic>
      </p:graphicFrame>
    </p:spTree>
    <p:extLst>
      <p:ext uri="{BB962C8B-B14F-4D97-AF65-F5344CB8AC3E}">
        <p14:creationId xmlns:p14="http://schemas.microsoft.com/office/powerpoint/2010/main" val="13544173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pPr algn="just"/>
            <a:r>
              <a:rPr lang="en-US" b="1" dirty="0"/>
              <a:t>Best Practices When Using Open Source Licenses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200" dirty="0"/>
              <a:t>Read and understand the license before using the software.</a:t>
            </a:r>
          </a:p>
          <a:p>
            <a:pPr algn="just"/>
            <a:r>
              <a:rPr lang="en-US" sz="3200" dirty="0"/>
              <a:t>Preserve copyright notices and license files.</a:t>
            </a:r>
          </a:p>
          <a:p>
            <a:pPr algn="just"/>
            <a:r>
              <a:rPr lang="en-US" sz="3200" dirty="0"/>
              <a:t>Document any significant modifications where required.</a:t>
            </a:r>
          </a:p>
          <a:p>
            <a:pPr algn="just"/>
            <a:r>
              <a:rPr lang="en-US" sz="3200" dirty="0"/>
              <a:t>Verify license compatibility when combining software from different projects.</a:t>
            </a:r>
          </a:p>
          <a:p>
            <a:pPr algn="just"/>
            <a:r>
              <a:rPr lang="en-US" sz="3200" dirty="0"/>
              <a:t>Consult legal or compliance experts for commercial products with complex licensing requirements.</a:t>
            </a:r>
          </a:p>
          <a:p>
            <a:pPr algn="just"/>
            <a:r>
              <a:rPr lang="en-US" sz="3200" dirty="0"/>
              <a:t>Include a </a:t>
            </a:r>
            <a:r>
              <a:rPr lang="en-US" sz="3200" b="1" dirty="0"/>
              <a:t>LICENSE </a:t>
            </a:r>
            <a:r>
              <a:rPr lang="en-US" sz="3200" dirty="0"/>
              <a:t>file in your own open-source projects.</a:t>
            </a:r>
            <a:endParaRPr lang="en-IN" sz="3200" dirty="0"/>
          </a:p>
        </p:txBody>
      </p:sp>
    </p:spTree>
    <p:extLst>
      <p:ext uri="{BB962C8B-B14F-4D97-AF65-F5344CB8AC3E}">
        <p14:creationId xmlns:p14="http://schemas.microsoft.com/office/powerpoint/2010/main" val="17324827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Summary</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20000"/>
          </a:bodyPr>
          <a:lstStyle/>
          <a:p>
            <a:pPr algn="just"/>
            <a:r>
              <a:rPr lang="en-US" sz="3200" dirty="0"/>
              <a:t>A software license defines the legal conditions for using, modifying, and distributing software.</a:t>
            </a:r>
          </a:p>
          <a:p>
            <a:pPr algn="just"/>
            <a:r>
              <a:rPr lang="en-US" sz="3200" dirty="0"/>
              <a:t>Open-source software remains protected by copyright; the license grants permissions to users.</a:t>
            </a:r>
          </a:p>
          <a:p>
            <a:pPr algn="just"/>
            <a:r>
              <a:rPr lang="en-US" sz="3200" b="1" dirty="0"/>
              <a:t>Permissive licenses</a:t>
            </a:r>
            <a:r>
              <a:rPr lang="en-US" sz="3200" dirty="0"/>
              <a:t> (MIT, BSD, Apache 2.0) allow broad reuse with relatively few restrictions.</a:t>
            </a:r>
          </a:p>
          <a:p>
            <a:pPr algn="just"/>
            <a:r>
              <a:rPr lang="en-US" sz="3200" b="1" dirty="0"/>
              <a:t>Copyleft licenses </a:t>
            </a:r>
            <a:r>
              <a:rPr lang="en-US" sz="3200" dirty="0"/>
              <a:t>(GPL, LGPL, AGPL) require certain derivative works or network-deployed modifications to remain open source.</a:t>
            </a:r>
          </a:p>
          <a:p>
            <a:pPr algn="just"/>
            <a:r>
              <a:rPr lang="en-US" sz="3200" dirty="0"/>
              <a:t>Choosing an appropriate license depends on whether the primary goal is maximum adoption, ensuring openness of derivative works, or addressing patent and network-use considerations.</a:t>
            </a:r>
            <a:endParaRPr lang="en-IN" sz="3200" dirty="0"/>
          </a:p>
        </p:txBody>
      </p:sp>
    </p:spTree>
    <p:extLst>
      <p:ext uri="{BB962C8B-B14F-4D97-AF65-F5344CB8AC3E}">
        <p14:creationId xmlns:p14="http://schemas.microsoft.com/office/powerpoint/2010/main" val="22369325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Open Source vs Free Software vs Freeware vs Public Domain</a:t>
            </a:r>
            <a:endParaRPr lang="en-IN" b="1" dirty="0"/>
          </a:p>
        </p:txBody>
      </p:sp>
      <p:graphicFrame>
        <p:nvGraphicFramePr>
          <p:cNvPr id="4" name="Content Placeholder 3">
            <a:extLst>
              <a:ext uri="{FF2B5EF4-FFF2-40B4-BE49-F238E27FC236}">
                <a16:creationId xmlns:a16="http://schemas.microsoft.com/office/drawing/2014/main" id="{6B60582D-743E-467E-8B31-BA274A12F00F}"/>
              </a:ext>
            </a:extLst>
          </p:cNvPr>
          <p:cNvGraphicFramePr>
            <a:graphicFrameLocks noGrp="1"/>
          </p:cNvGraphicFramePr>
          <p:nvPr>
            <p:ph idx="1"/>
            <p:extLst>
              <p:ext uri="{D42A27DB-BD31-4B8C-83A1-F6EECF244321}">
                <p14:modId xmlns:p14="http://schemas.microsoft.com/office/powerpoint/2010/main" val="4101068126"/>
              </p:ext>
            </p:extLst>
          </p:nvPr>
        </p:nvGraphicFramePr>
        <p:xfrm>
          <a:off x="573794" y="1690688"/>
          <a:ext cx="11004935" cy="4491913"/>
        </p:xfrm>
        <a:graphic>
          <a:graphicData uri="http://schemas.openxmlformats.org/drawingml/2006/table">
            <a:tbl>
              <a:tblPr>
                <a:tableStyleId>{284E427A-3D55-4303-BF80-6455036E1DE7}</a:tableStyleId>
              </a:tblPr>
              <a:tblGrid>
                <a:gridCol w="2200987">
                  <a:extLst>
                    <a:ext uri="{9D8B030D-6E8A-4147-A177-3AD203B41FA5}">
                      <a16:colId xmlns:a16="http://schemas.microsoft.com/office/drawing/2014/main" val="2806926860"/>
                    </a:ext>
                  </a:extLst>
                </a:gridCol>
                <a:gridCol w="2200987">
                  <a:extLst>
                    <a:ext uri="{9D8B030D-6E8A-4147-A177-3AD203B41FA5}">
                      <a16:colId xmlns:a16="http://schemas.microsoft.com/office/drawing/2014/main" val="3200551951"/>
                    </a:ext>
                  </a:extLst>
                </a:gridCol>
                <a:gridCol w="2200987">
                  <a:extLst>
                    <a:ext uri="{9D8B030D-6E8A-4147-A177-3AD203B41FA5}">
                      <a16:colId xmlns:a16="http://schemas.microsoft.com/office/drawing/2014/main" val="364404582"/>
                    </a:ext>
                  </a:extLst>
                </a:gridCol>
                <a:gridCol w="2200987">
                  <a:extLst>
                    <a:ext uri="{9D8B030D-6E8A-4147-A177-3AD203B41FA5}">
                      <a16:colId xmlns:a16="http://schemas.microsoft.com/office/drawing/2014/main" val="3867695648"/>
                    </a:ext>
                  </a:extLst>
                </a:gridCol>
                <a:gridCol w="2200987">
                  <a:extLst>
                    <a:ext uri="{9D8B030D-6E8A-4147-A177-3AD203B41FA5}">
                      <a16:colId xmlns:a16="http://schemas.microsoft.com/office/drawing/2014/main" val="2133767217"/>
                    </a:ext>
                  </a:extLst>
                </a:gridCol>
              </a:tblGrid>
              <a:tr h="602645">
                <a:tc>
                  <a:txBody>
                    <a:bodyPr/>
                    <a:lstStyle/>
                    <a:p>
                      <a:r>
                        <a:rPr lang="en-IN" sz="2800" b="1" dirty="0"/>
                        <a:t>Feature</a:t>
                      </a:r>
                    </a:p>
                  </a:txBody>
                  <a:tcPr anchor="ctr"/>
                </a:tc>
                <a:tc>
                  <a:txBody>
                    <a:bodyPr/>
                    <a:lstStyle/>
                    <a:p>
                      <a:r>
                        <a:rPr lang="en-IN" sz="2800" b="1" dirty="0"/>
                        <a:t>Open Source</a:t>
                      </a:r>
                    </a:p>
                  </a:txBody>
                  <a:tcPr anchor="ctr"/>
                </a:tc>
                <a:tc>
                  <a:txBody>
                    <a:bodyPr/>
                    <a:lstStyle/>
                    <a:p>
                      <a:r>
                        <a:rPr lang="en-IN" sz="2800" b="1"/>
                        <a:t>Free Software</a:t>
                      </a:r>
                    </a:p>
                  </a:txBody>
                  <a:tcPr anchor="ctr"/>
                </a:tc>
                <a:tc>
                  <a:txBody>
                    <a:bodyPr/>
                    <a:lstStyle/>
                    <a:p>
                      <a:r>
                        <a:rPr lang="en-IN" sz="2800" b="1" dirty="0"/>
                        <a:t>Freeware</a:t>
                      </a:r>
                    </a:p>
                  </a:txBody>
                  <a:tcPr anchor="ctr"/>
                </a:tc>
                <a:tc>
                  <a:txBody>
                    <a:bodyPr/>
                    <a:lstStyle/>
                    <a:p>
                      <a:r>
                        <a:rPr lang="en-IN" sz="2800" b="1" dirty="0"/>
                        <a:t>Public Domain</a:t>
                      </a:r>
                    </a:p>
                  </a:txBody>
                  <a:tcPr anchor="ctr"/>
                </a:tc>
                <a:extLst>
                  <a:ext uri="{0D108BD9-81ED-4DB2-BD59-A6C34878D82A}">
                    <a16:rowId xmlns:a16="http://schemas.microsoft.com/office/drawing/2014/main" val="129221204"/>
                  </a:ext>
                </a:extLst>
              </a:tr>
              <a:tr h="1054628">
                <a:tc>
                  <a:txBody>
                    <a:bodyPr/>
                    <a:lstStyle/>
                    <a:p>
                      <a:r>
                        <a:rPr lang="en-IN" sz="2800"/>
                        <a:t>Source Code Available</a:t>
                      </a:r>
                    </a:p>
                  </a:txBody>
                  <a:tcPr anchor="ctr"/>
                </a:tc>
                <a:tc>
                  <a:txBody>
                    <a:bodyPr/>
                    <a:lstStyle/>
                    <a:p>
                      <a:r>
                        <a:rPr lang="en-IN" sz="2800"/>
                        <a:t>Yes</a:t>
                      </a:r>
                    </a:p>
                  </a:txBody>
                  <a:tcPr anchor="ctr"/>
                </a:tc>
                <a:tc>
                  <a:txBody>
                    <a:bodyPr/>
                    <a:lstStyle/>
                    <a:p>
                      <a:r>
                        <a:rPr lang="en-IN" sz="2800"/>
                        <a:t>Yes</a:t>
                      </a:r>
                    </a:p>
                  </a:txBody>
                  <a:tcPr anchor="ctr"/>
                </a:tc>
                <a:tc>
                  <a:txBody>
                    <a:bodyPr/>
                    <a:lstStyle/>
                    <a:p>
                      <a:r>
                        <a:rPr lang="en-IN" sz="2800"/>
                        <a:t>No</a:t>
                      </a:r>
                    </a:p>
                  </a:txBody>
                  <a:tcPr anchor="ctr"/>
                </a:tc>
                <a:tc>
                  <a:txBody>
                    <a:bodyPr/>
                    <a:lstStyle/>
                    <a:p>
                      <a:r>
                        <a:rPr lang="en-IN" sz="2800" dirty="0"/>
                        <a:t>Usually Yes</a:t>
                      </a:r>
                    </a:p>
                  </a:txBody>
                  <a:tcPr anchor="ctr"/>
                </a:tc>
                <a:extLst>
                  <a:ext uri="{0D108BD9-81ED-4DB2-BD59-A6C34878D82A}">
                    <a16:rowId xmlns:a16="http://schemas.microsoft.com/office/drawing/2014/main" val="4040487261"/>
                  </a:ext>
                </a:extLst>
              </a:tr>
              <a:tr h="602645">
                <a:tc>
                  <a:txBody>
                    <a:bodyPr/>
                    <a:lstStyle/>
                    <a:p>
                      <a:r>
                        <a:rPr lang="en-IN" sz="2800"/>
                        <a:t>Can Modify</a:t>
                      </a:r>
                    </a:p>
                  </a:txBody>
                  <a:tcPr anchor="ctr"/>
                </a:tc>
                <a:tc>
                  <a:txBody>
                    <a:bodyPr/>
                    <a:lstStyle/>
                    <a:p>
                      <a:r>
                        <a:rPr lang="en-IN" sz="2800"/>
                        <a:t>Yes</a:t>
                      </a:r>
                    </a:p>
                  </a:txBody>
                  <a:tcPr anchor="ctr"/>
                </a:tc>
                <a:tc>
                  <a:txBody>
                    <a:bodyPr/>
                    <a:lstStyle/>
                    <a:p>
                      <a:r>
                        <a:rPr lang="en-IN" sz="2800"/>
                        <a:t>Yes</a:t>
                      </a:r>
                    </a:p>
                  </a:txBody>
                  <a:tcPr anchor="ctr"/>
                </a:tc>
                <a:tc>
                  <a:txBody>
                    <a:bodyPr/>
                    <a:lstStyle/>
                    <a:p>
                      <a:r>
                        <a:rPr lang="en-IN" sz="2800"/>
                        <a:t>No</a:t>
                      </a:r>
                    </a:p>
                  </a:txBody>
                  <a:tcPr anchor="ctr"/>
                </a:tc>
                <a:tc>
                  <a:txBody>
                    <a:bodyPr/>
                    <a:lstStyle/>
                    <a:p>
                      <a:r>
                        <a:rPr lang="en-IN" sz="2800" dirty="0"/>
                        <a:t>Yes</a:t>
                      </a:r>
                    </a:p>
                  </a:txBody>
                  <a:tcPr anchor="ctr"/>
                </a:tc>
                <a:extLst>
                  <a:ext uri="{0D108BD9-81ED-4DB2-BD59-A6C34878D82A}">
                    <a16:rowId xmlns:a16="http://schemas.microsoft.com/office/drawing/2014/main" val="339907121"/>
                  </a:ext>
                </a:extLst>
              </a:tr>
              <a:tr h="602645">
                <a:tc>
                  <a:txBody>
                    <a:bodyPr/>
                    <a:lstStyle/>
                    <a:p>
                      <a:r>
                        <a:rPr lang="en-IN" sz="2800"/>
                        <a:t>Commercial Use</a:t>
                      </a:r>
                    </a:p>
                  </a:txBody>
                  <a:tcPr anchor="ctr"/>
                </a:tc>
                <a:tc>
                  <a:txBody>
                    <a:bodyPr/>
                    <a:lstStyle/>
                    <a:p>
                      <a:r>
                        <a:rPr lang="en-IN" sz="2800"/>
                        <a:t>Depends on License</a:t>
                      </a:r>
                    </a:p>
                  </a:txBody>
                  <a:tcPr anchor="ctr"/>
                </a:tc>
                <a:tc>
                  <a:txBody>
                    <a:bodyPr/>
                    <a:lstStyle/>
                    <a:p>
                      <a:r>
                        <a:rPr lang="en-IN" sz="2800"/>
                        <a:t>Yes</a:t>
                      </a:r>
                    </a:p>
                  </a:txBody>
                  <a:tcPr anchor="ctr"/>
                </a:tc>
                <a:tc>
                  <a:txBody>
                    <a:bodyPr/>
                    <a:lstStyle/>
                    <a:p>
                      <a:r>
                        <a:rPr lang="en-IN" sz="2800"/>
                        <a:t>Usually No</a:t>
                      </a:r>
                    </a:p>
                  </a:txBody>
                  <a:tcPr anchor="ctr"/>
                </a:tc>
                <a:tc>
                  <a:txBody>
                    <a:bodyPr/>
                    <a:lstStyle/>
                    <a:p>
                      <a:r>
                        <a:rPr lang="en-IN" sz="2800" dirty="0"/>
                        <a:t>Yes</a:t>
                      </a:r>
                    </a:p>
                  </a:txBody>
                  <a:tcPr anchor="ctr"/>
                </a:tc>
                <a:extLst>
                  <a:ext uri="{0D108BD9-81ED-4DB2-BD59-A6C34878D82A}">
                    <a16:rowId xmlns:a16="http://schemas.microsoft.com/office/drawing/2014/main" val="2202644093"/>
                  </a:ext>
                </a:extLst>
              </a:tr>
              <a:tr h="602645">
                <a:tc>
                  <a:txBody>
                    <a:bodyPr/>
                    <a:lstStyle/>
                    <a:p>
                      <a:r>
                        <a:rPr lang="en-IN" sz="2800"/>
                        <a:t>License Required</a:t>
                      </a:r>
                    </a:p>
                  </a:txBody>
                  <a:tcPr anchor="ctr"/>
                </a:tc>
                <a:tc>
                  <a:txBody>
                    <a:bodyPr/>
                    <a:lstStyle/>
                    <a:p>
                      <a:r>
                        <a:rPr lang="en-IN" sz="2800"/>
                        <a:t>Yes</a:t>
                      </a:r>
                    </a:p>
                  </a:txBody>
                  <a:tcPr anchor="ctr"/>
                </a:tc>
                <a:tc>
                  <a:txBody>
                    <a:bodyPr/>
                    <a:lstStyle/>
                    <a:p>
                      <a:r>
                        <a:rPr lang="en-IN" sz="2800"/>
                        <a:t>Yes</a:t>
                      </a:r>
                    </a:p>
                  </a:txBody>
                  <a:tcPr anchor="ctr"/>
                </a:tc>
                <a:tc>
                  <a:txBody>
                    <a:bodyPr/>
                    <a:lstStyle/>
                    <a:p>
                      <a:r>
                        <a:rPr lang="en-IN" sz="2800"/>
                        <a:t>Yes</a:t>
                      </a:r>
                    </a:p>
                  </a:txBody>
                  <a:tcPr anchor="ctr"/>
                </a:tc>
                <a:tc>
                  <a:txBody>
                    <a:bodyPr/>
                    <a:lstStyle/>
                    <a:p>
                      <a:r>
                        <a:rPr lang="en-IN" sz="2800" dirty="0"/>
                        <a:t>No Copyright</a:t>
                      </a:r>
                    </a:p>
                  </a:txBody>
                  <a:tcPr anchor="ctr"/>
                </a:tc>
                <a:extLst>
                  <a:ext uri="{0D108BD9-81ED-4DB2-BD59-A6C34878D82A}">
                    <a16:rowId xmlns:a16="http://schemas.microsoft.com/office/drawing/2014/main" val="810816505"/>
                  </a:ext>
                </a:extLst>
              </a:tr>
            </a:tbl>
          </a:graphicData>
        </a:graphic>
      </p:graphicFrame>
    </p:spTree>
    <p:extLst>
      <p:ext uri="{BB962C8B-B14F-4D97-AF65-F5344CB8AC3E}">
        <p14:creationId xmlns:p14="http://schemas.microsoft.com/office/powerpoint/2010/main" val="23046473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Open Source vs Free Software vs Freeware vs Public Domain</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marL="0" indent="0">
              <a:buNone/>
            </a:pPr>
            <a:r>
              <a:rPr lang="en-IN" sz="3200" b="1" dirty="0"/>
              <a:t>Example</a:t>
            </a:r>
            <a:r>
              <a:rPr lang="en-IN" sz="3200" dirty="0"/>
              <a:t>:</a:t>
            </a:r>
          </a:p>
          <a:p>
            <a:pPr>
              <a:buFont typeface="Arial" panose="020B0604020202020204" pitchFamily="34" charset="0"/>
              <a:buChar char="•"/>
            </a:pPr>
            <a:r>
              <a:rPr lang="en-IN" sz="3200" dirty="0"/>
              <a:t>Ubuntu → Open Source </a:t>
            </a:r>
          </a:p>
          <a:p>
            <a:pPr>
              <a:buFont typeface="Arial" panose="020B0604020202020204" pitchFamily="34" charset="0"/>
              <a:buChar char="•"/>
            </a:pPr>
            <a:r>
              <a:rPr lang="en-IN" sz="3200" dirty="0"/>
              <a:t>GNU Compiler → Free Software </a:t>
            </a:r>
          </a:p>
          <a:p>
            <a:pPr>
              <a:buFont typeface="Arial" panose="020B0604020202020204" pitchFamily="34" charset="0"/>
              <a:buChar char="•"/>
            </a:pPr>
            <a:r>
              <a:rPr lang="en-IN" sz="3200" dirty="0"/>
              <a:t>Adobe Acrobat Reader → Freeware </a:t>
            </a:r>
          </a:p>
          <a:p>
            <a:pPr>
              <a:buFont typeface="Arial" panose="020B0604020202020204" pitchFamily="34" charset="0"/>
              <a:buChar char="•"/>
            </a:pPr>
            <a:r>
              <a:rPr lang="en-IN" sz="3200" dirty="0"/>
              <a:t>Public domain utilities i.e. SQLite, Some ImageJ Plugins, Educational Sample Programs, Small GitHub Utilities→ Public Domain</a:t>
            </a:r>
          </a:p>
          <a:p>
            <a:pPr algn="just"/>
            <a:endParaRPr lang="en-IN" sz="3200" dirty="0"/>
          </a:p>
        </p:txBody>
      </p:sp>
    </p:spTree>
    <p:extLst>
      <p:ext uri="{BB962C8B-B14F-4D97-AF65-F5344CB8AC3E}">
        <p14:creationId xmlns:p14="http://schemas.microsoft.com/office/powerpoint/2010/main" val="30217488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Open Source Business Models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905682"/>
          </a:xfrm>
        </p:spPr>
        <p:txBody>
          <a:bodyPr>
            <a:normAutofit lnSpcReduction="10000"/>
          </a:bodyPr>
          <a:lstStyle/>
          <a:p>
            <a:pPr algn="just"/>
            <a:r>
              <a:rPr lang="en-US" sz="2400" dirty="0"/>
              <a:t>Open-source software allows users to access, modify, and redistribute source code. </a:t>
            </a:r>
          </a:p>
          <a:p>
            <a:pPr algn="just"/>
            <a:r>
              <a:rPr lang="en-US" sz="2400" dirty="0"/>
              <a:t>But companies can still generate revenue by offering:</a:t>
            </a:r>
          </a:p>
          <a:p>
            <a:pPr lvl="1" algn="just"/>
            <a:r>
              <a:rPr lang="en-US" sz="2000" dirty="0"/>
              <a:t>Services, </a:t>
            </a:r>
          </a:p>
          <a:p>
            <a:pPr lvl="1" algn="just"/>
            <a:r>
              <a:rPr lang="en-US" sz="2000" dirty="0"/>
              <a:t>Paid support </a:t>
            </a:r>
          </a:p>
          <a:p>
            <a:pPr lvl="1" algn="just"/>
            <a:r>
              <a:rPr lang="en-US" sz="2000" dirty="0"/>
              <a:t>Enterprise features/Edition </a:t>
            </a:r>
          </a:p>
          <a:p>
            <a:pPr lvl="1" algn="just"/>
            <a:r>
              <a:rPr lang="en-US" sz="2000" dirty="0"/>
              <a:t>Cloud hosting</a:t>
            </a:r>
          </a:p>
          <a:p>
            <a:pPr lvl="1" algn="just"/>
            <a:r>
              <a:rPr lang="en-US" sz="2000" dirty="0"/>
              <a:t>Consulting</a:t>
            </a:r>
          </a:p>
          <a:p>
            <a:pPr lvl="1" algn="just"/>
            <a:r>
              <a:rPr lang="en-US" sz="2000" dirty="0"/>
              <a:t>Training</a:t>
            </a:r>
          </a:p>
          <a:p>
            <a:pPr lvl="1" algn="just"/>
            <a:r>
              <a:rPr lang="en-US" sz="2000" dirty="0"/>
              <a:t>Certifications </a:t>
            </a:r>
          </a:p>
          <a:p>
            <a:pPr lvl="1"/>
            <a:r>
              <a:rPr lang="en-US" sz="2000" dirty="0"/>
              <a:t>Donations </a:t>
            </a:r>
          </a:p>
          <a:p>
            <a:pPr lvl="1"/>
            <a:r>
              <a:rPr lang="en-US" sz="2000" dirty="0"/>
              <a:t>Sponsorship </a:t>
            </a:r>
          </a:p>
          <a:p>
            <a:pPr lvl="1"/>
            <a:r>
              <a:rPr lang="en-US" sz="2000" dirty="0"/>
              <a:t>Dual Licensing </a:t>
            </a:r>
          </a:p>
          <a:p>
            <a:pPr lvl="1"/>
            <a:r>
              <a:rPr lang="en-US" sz="2000" dirty="0"/>
              <a:t>Open Core </a:t>
            </a:r>
          </a:p>
          <a:p>
            <a:pPr algn="just"/>
            <a:endParaRPr lang="en-IN" sz="3600" dirty="0"/>
          </a:p>
        </p:txBody>
      </p:sp>
      <p:sp>
        <p:nvSpPr>
          <p:cNvPr id="5" name="TextBox 4">
            <a:extLst>
              <a:ext uri="{FF2B5EF4-FFF2-40B4-BE49-F238E27FC236}">
                <a16:creationId xmlns:a16="http://schemas.microsoft.com/office/drawing/2014/main" id="{281CB0DB-8EC3-40CA-BD05-E12069CCA23D}"/>
              </a:ext>
            </a:extLst>
          </p:cNvPr>
          <p:cNvSpPr txBox="1"/>
          <p:nvPr/>
        </p:nvSpPr>
        <p:spPr>
          <a:xfrm>
            <a:off x="7250936" y="3164594"/>
            <a:ext cx="2763397" cy="3046988"/>
          </a:xfrm>
          <a:prstGeom prst="rect">
            <a:avLst/>
          </a:prstGeom>
          <a:noFill/>
        </p:spPr>
        <p:txBody>
          <a:bodyPr wrap="square">
            <a:spAutoFit/>
          </a:bodyPr>
          <a:lstStyle/>
          <a:p>
            <a:r>
              <a:rPr lang="en-IN" sz="2400" b="1" dirty="0"/>
              <a:t>Examples include:</a:t>
            </a:r>
            <a:endParaRPr lang="en-IN" sz="2400" dirty="0"/>
          </a:p>
          <a:p>
            <a:pPr>
              <a:buFont typeface="Arial" panose="020B0604020202020204" pitchFamily="34" charset="0"/>
              <a:buChar char="•"/>
            </a:pPr>
            <a:r>
              <a:rPr lang="en-IN" sz="2400" dirty="0"/>
              <a:t>Red Hat </a:t>
            </a:r>
          </a:p>
          <a:p>
            <a:pPr>
              <a:buFont typeface="Arial" panose="020B0604020202020204" pitchFamily="34" charset="0"/>
              <a:buChar char="•"/>
            </a:pPr>
            <a:r>
              <a:rPr lang="en-IN" sz="2400" dirty="0"/>
              <a:t>Canonical (Ubuntu) </a:t>
            </a:r>
          </a:p>
          <a:p>
            <a:pPr>
              <a:buFont typeface="Arial" panose="020B0604020202020204" pitchFamily="34" charset="0"/>
              <a:buChar char="•"/>
            </a:pPr>
            <a:r>
              <a:rPr lang="en-IN" sz="2400" dirty="0"/>
              <a:t>GitLab </a:t>
            </a:r>
          </a:p>
          <a:p>
            <a:pPr>
              <a:buFont typeface="Arial" panose="020B0604020202020204" pitchFamily="34" charset="0"/>
              <a:buChar char="•"/>
            </a:pPr>
            <a:r>
              <a:rPr lang="en-IN" sz="2400" dirty="0"/>
              <a:t>MongoDB </a:t>
            </a:r>
          </a:p>
          <a:p>
            <a:pPr>
              <a:buFont typeface="Arial" panose="020B0604020202020204" pitchFamily="34" charset="0"/>
              <a:buChar char="•"/>
            </a:pPr>
            <a:r>
              <a:rPr lang="en-IN" sz="2400" dirty="0"/>
              <a:t>Elastic </a:t>
            </a:r>
          </a:p>
          <a:p>
            <a:pPr>
              <a:buFont typeface="Arial" panose="020B0604020202020204" pitchFamily="34" charset="0"/>
              <a:buChar char="•"/>
            </a:pPr>
            <a:r>
              <a:rPr lang="en-IN" sz="2400" dirty="0"/>
              <a:t>Docker </a:t>
            </a:r>
          </a:p>
          <a:p>
            <a:pPr>
              <a:buFont typeface="Arial" panose="020B0604020202020204" pitchFamily="34" charset="0"/>
              <a:buChar char="•"/>
            </a:pPr>
            <a:r>
              <a:rPr lang="en-IN" sz="2400" dirty="0" err="1"/>
              <a:t>HashiCorp</a:t>
            </a:r>
            <a:endParaRPr lang="en-IN" sz="2400" dirty="0"/>
          </a:p>
        </p:txBody>
      </p:sp>
    </p:spTree>
    <p:extLst>
      <p:ext uri="{BB962C8B-B14F-4D97-AF65-F5344CB8AC3E}">
        <p14:creationId xmlns:p14="http://schemas.microsoft.com/office/powerpoint/2010/main" val="33932893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89703"/>
            <a:ext cx="10515600" cy="1325563"/>
          </a:xfrm>
        </p:spPr>
        <p:txBody>
          <a:bodyPr/>
          <a:lstStyle/>
          <a:p>
            <a:r>
              <a:rPr lang="en-US" b="1" dirty="0"/>
              <a:t>Comparison of Open Source Business Models</a:t>
            </a:r>
          </a:p>
        </p:txBody>
      </p:sp>
      <p:graphicFrame>
        <p:nvGraphicFramePr>
          <p:cNvPr id="6" name="Content Placeholder 5">
            <a:extLst>
              <a:ext uri="{FF2B5EF4-FFF2-40B4-BE49-F238E27FC236}">
                <a16:creationId xmlns:a16="http://schemas.microsoft.com/office/drawing/2014/main" id="{4ABBBF27-8D85-454A-84B0-B3B5EFD84D21}"/>
              </a:ext>
            </a:extLst>
          </p:cNvPr>
          <p:cNvGraphicFramePr>
            <a:graphicFrameLocks noGrp="1"/>
          </p:cNvGraphicFramePr>
          <p:nvPr>
            <p:ph idx="1"/>
            <p:extLst>
              <p:ext uri="{D42A27DB-BD31-4B8C-83A1-F6EECF244321}">
                <p14:modId xmlns:p14="http://schemas.microsoft.com/office/powerpoint/2010/main" val="4170622985"/>
              </p:ext>
            </p:extLst>
          </p:nvPr>
        </p:nvGraphicFramePr>
        <p:xfrm>
          <a:off x="494382" y="1259260"/>
          <a:ext cx="11203236" cy="5273137"/>
        </p:xfrm>
        <a:graphic>
          <a:graphicData uri="http://schemas.openxmlformats.org/drawingml/2006/table">
            <a:tbl>
              <a:tblPr>
                <a:tableStyleId>{284E427A-3D55-4303-BF80-6455036E1DE7}</a:tableStyleId>
              </a:tblPr>
              <a:tblGrid>
                <a:gridCol w="2800809">
                  <a:extLst>
                    <a:ext uri="{9D8B030D-6E8A-4147-A177-3AD203B41FA5}">
                      <a16:colId xmlns:a16="http://schemas.microsoft.com/office/drawing/2014/main" val="2708050296"/>
                    </a:ext>
                  </a:extLst>
                </a:gridCol>
                <a:gridCol w="2800809">
                  <a:extLst>
                    <a:ext uri="{9D8B030D-6E8A-4147-A177-3AD203B41FA5}">
                      <a16:colId xmlns:a16="http://schemas.microsoft.com/office/drawing/2014/main" val="4015121423"/>
                    </a:ext>
                  </a:extLst>
                </a:gridCol>
                <a:gridCol w="2800809">
                  <a:extLst>
                    <a:ext uri="{9D8B030D-6E8A-4147-A177-3AD203B41FA5}">
                      <a16:colId xmlns:a16="http://schemas.microsoft.com/office/drawing/2014/main" val="456252217"/>
                    </a:ext>
                  </a:extLst>
                </a:gridCol>
                <a:gridCol w="2800809">
                  <a:extLst>
                    <a:ext uri="{9D8B030D-6E8A-4147-A177-3AD203B41FA5}">
                      <a16:colId xmlns:a16="http://schemas.microsoft.com/office/drawing/2014/main" val="1598444501"/>
                    </a:ext>
                  </a:extLst>
                </a:gridCol>
              </a:tblGrid>
              <a:tr h="421851">
                <a:tc>
                  <a:txBody>
                    <a:bodyPr/>
                    <a:lstStyle/>
                    <a:p>
                      <a:r>
                        <a:rPr lang="en-IN" sz="2000" b="1" dirty="0"/>
                        <a:t>Business Model</a:t>
                      </a:r>
                    </a:p>
                  </a:txBody>
                  <a:tcPr anchor="ctr"/>
                </a:tc>
                <a:tc>
                  <a:txBody>
                    <a:bodyPr/>
                    <a:lstStyle/>
                    <a:p>
                      <a:r>
                        <a:rPr lang="en-IN" sz="2000" b="1" dirty="0"/>
                        <a:t>Software Free?</a:t>
                      </a:r>
                    </a:p>
                  </a:txBody>
                  <a:tcPr anchor="ctr"/>
                </a:tc>
                <a:tc>
                  <a:txBody>
                    <a:bodyPr/>
                    <a:lstStyle/>
                    <a:p>
                      <a:r>
                        <a:rPr lang="en-IN" sz="2000" b="1" dirty="0"/>
                        <a:t>Main Revenue Source</a:t>
                      </a:r>
                    </a:p>
                  </a:txBody>
                  <a:tcPr anchor="ctr"/>
                </a:tc>
                <a:tc>
                  <a:txBody>
                    <a:bodyPr/>
                    <a:lstStyle/>
                    <a:p>
                      <a:r>
                        <a:rPr lang="en-IN" sz="2000" b="1" dirty="0"/>
                        <a:t>Typical Customers</a:t>
                      </a:r>
                    </a:p>
                  </a:txBody>
                  <a:tcPr anchor="ctr"/>
                </a:tc>
                <a:extLst>
                  <a:ext uri="{0D108BD9-81ED-4DB2-BD59-A6C34878D82A}">
                    <a16:rowId xmlns:a16="http://schemas.microsoft.com/office/drawing/2014/main" val="137934492"/>
                  </a:ext>
                </a:extLst>
              </a:tr>
              <a:tr h="421851">
                <a:tc>
                  <a:txBody>
                    <a:bodyPr/>
                    <a:lstStyle/>
                    <a:p>
                      <a:r>
                        <a:rPr lang="en-IN" sz="2000" dirty="0"/>
                        <a:t>Paid Support</a:t>
                      </a:r>
                    </a:p>
                  </a:txBody>
                  <a:tcPr anchor="ctr"/>
                </a:tc>
                <a:tc>
                  <a:txBody>
                    <a:bodyPr/>
                    <a:lstStyle/>
                    <a:p>
                      <a:r>
                        <a:rPr lang="en-IN" sz="2000" dirty="0"/>
                        <a:t>Yes</a:t>
                      </a:r>
                    </a:p>
                  </a:txBody>
                  <a:tcPr anchor="ctr"/>
                </a:tc>
                <a:tc>
                  <a:txBody>
                    <a:bodyPr/>
                    <a:lstStyle/>
                    <a:p>
                      <a:r>
                        <a:rPr lang="en-IN" sz="2000" dirty="0"/>
                        <a:t>Technical support</a:t>
                      </a:r>
                    </a:p>
                  </a:txBody>
                  <a:tcPr anchor="ctr"/>
                </a:tc>
                <a:tc>
                  <a:txBody>
                    <a:bodyPr/>
                    <a:lstStyle/>
                    <a:p>
                      <a:r>
                        <a:rPr lang="en-IN" sz="2000"/>
                        <a:t>Enterprises</a:t>
                      </a:r>
                    </a:p>
                  </a:txBody>
                  <a:tcPr anchor="ctr"/>
                </a:tc>
                <a:extLst>
                  <a:ext uri="{0D108BD9-81ED-4DB2-BD59-A6C34878D82A}">
                    <a16:rowId xmlns:a16="http://schemas.microsoft.com/office/drawing/2014/main" val="3721222581"/>
                  </a:ext>
                </a:extLst>
              </a:tr>
              <a:tr h="421851">
                <a:tc>
                  <a:txBody>
                    <a:bodyPr/>
                    <a:lstStyle/>
                    <a:p>
                      <a:r>
                        <a:rPr lang="en-IN" sz="2000"/>
                        <a:t>Consulting</a:t>
                      </a:r>
                    </a:p>
                  </a:txBody>
                  <a:tcPr anchor="ctr"/>
                </a:tc>
                <a:tc>
                  <a:txBody>
                    <a:bodyPr/>
                    <a:lstStyle/>
                    <a:p>
                      <a:r>
                        <a:rPr lang="en-IN" sz="2000" dirty="0"/>
                        <a:t>Yes</a:t>
                      </a:r>
                    </a:p>
                  </a:txBody>
                  <a:tcPr anchor="ctr"/>
                </a:tc>
                <a:tc>
                  <a:txBody>
                    <a:bodyPr/>
                    <a:lstStyle/>
                    <a:p>
                      <a:r>
                        <a:rPr lang="en-IN" sz="2000"/>
                        <a:t>Professional services</a:t>
                      </a:r>
                    </a:p>
                  </a:txBody>
                  <a:tcPr anchor="ctr"/>
                </a:tc>
                <a:tc>
                  <a:txBody>
                    <a:bodyPr/>
                    <a:lstStyle/>
                    <a:p>
                      <a:r>
                        <a:rPr lang="en-IN" sz="2000"/>
                        <a:t>Businesses</a:t>
                      </a:r>
                    </a:p>
                  </a:txBody>
                  <a:tcPr anchor="ctr"/>
                </a:tc>
                <a:extLst>
                  <a:ext uri="{0D108BD9-81ED-4DB2-BD59-A6C34878D82A}">
                    <a16:rowId xmlns:a16="http://schemas.microsoft.com/office/drawing/2014/main" val="596169446"/>
                  </a:ext>
                </a:extLst>
              </a:tr>
              <a:tr h="738239">
                <a:tc>
                  <a:txBody>
                    <a:bodyPr/>
                    <a:lstStyle/>
                    <a:p>
                      <a:r>
                        <a:rPr lang="en-IN" sz="2000" dirty="0"/>
                        <a:t>Training</a:t>
                      </a:r>
                    </a:p>
                  </a:txBody>
                  <a:tcPr anchor="ctr"/>
                </a:tc>
                <a:tc>
                  <a:txBody>
                    <a:bodyPr/>
                    <a:lstStyle/>
                    <a:p>
                      <a:r>
                        <a:rPr lang="en-IN" sz="2000" dirty="0"/>
                        <a:t>Yes</a:t>
                      </a:r>
                    </a:p>
                  </a:txBody>
                  <a:tcPr anchor="ctr"/>
                </a:tc>
                <a:tc>
                  <a:txBody>
                    <a:bodyPr/>
                    <a:lstStyle/>
                    <a:p>
                      <a:r>
                        <a:rPr lang="en-IN" sz="2000"/>
                        <a:t>Courses &amp; certifications</a:t>
                      </a:r>
                    </a:p>
                  </a:txBody>
                  <a:tcPr anchor="ctr"/>
                </a:tc>
                <a:tc>
                  <a:txBody>
                    <a:bodyPr/>
                    <a:lstStyle/>
                    <a:p>
                      <a:r>
                        <a:rPr lang="en-IN" sz="2000"/>
                        <a:t>Students and professionals</a:t>
                      </a:r>
                    </a:p>
                  </a:txBody>
                  <a:tcPr anchor="ctr"/>
                </a:tc>
                <a:extLst>
                  <a:ext uri="{0D108BD9-81ED-4DB2-BD59-A6C34878D82A}">
                    <a16:rowId xmlns:a16="http://schemas.microsoft.com/office/drawing/2014/main" val="245139245"/>
                  </a:ext>
                </a:extLst>
              </a:tr>
              <a:tr h="421851">
                <a:tc>
                  <a:txBody>
                    <a:bodyPr/>
                    <a:lstStyle/>
                    <a:p>
                      <a:r>
                        <a:rPr lang="en-IN" sz="2000"/>
                        <a:t>Enterprise Edition</a:t>
                      </a:r>
                    </a:p>
                  </a:txBody>
                  <a:tcPr anchor="ctr"/>
                </a:tc>
                <a:tc>
                  <a:txBody>
                    <a:bodyPr/>
                    <a:lstStyle/>
                    <a:p>
                      <a:r>
                        <a:rPr lang="en-IN" sz="2000" dirty="0"/>
                        <a:t>Community edition</a:t>
                      </a:r>
                    </a:p>
                  </a:txBody>
                  <a:tcPr anchor="ctr"/>
                </a:tc>
                <a:tc>
                  <a:txBody>
                    <a:bodyPr/>
                    <a:lstStyle/>
                    <a:p>
                      <a:r>
                        <a:rPr lang="en-IN" sz="2000"/>
                        <a:t>Enterprise features</a:t>
                      </a:r>
                    </a:p>
                  </a:txBody>
                  <a:tcPr anchor="ctr"/>
                </a:tc>
                <a:tc>
                  <a:txBody>
                    <a:bodyPr/>
                    <a:lstStyle/>
                    <a:p>
                      <a:r>
                        <a:rPr lang="en-IN" sz="2000"/>
                        <a:t>Large organizations</a:t>
                      </a:r>
                    </a:p>
                  </a:txBody>
                  <a:tcPr anchor="ctr"/>
                </a:tc>
                <a:extLst>
                  <a:ext uri="{0D108BD9-81ED-4DB2-BD59-A6C34878D82A}">
                    <a16:rowId xmlns:a16="http://schemas.microsoft.com/office/drawing/2014/main" val="1264937987"/>
                  </a:ext>
                </a:extLst>
              </a:tr>
              <a:tr h="421851">
                <a:tc>
                  <a:txBody>
                    <a:bodyPr/>
                    <a:lstStyle/>
                    <a:p>
                      <a:r>
                        <a:rPr lang="en-IN" sz="2000"/>
                        <a:t>Open Core</a:t>
                      </a:r>
                    </a:p>
                  </a:txBody>
                  <a:tcPr anchor="ctr"/>
                </a:tc>
                <a:tc>
                  <a:txBody>
                    <a:bodyPr/>
                    <a:lstStyle/>
                    <a:p>
                      <a:r>
                        <a:rPr lang="en-IN" sz="2000" dirty="0"/>
                        <a:t>Core only</a:t>
                      </a:r>
                    </a:p>
                  </a:txBody>
                  <a:tcPr anchor="ctr"/>
                </a:tc>
                <a:tc>
                  <a:txBody>
                    <a:bodyPr/>
                    <a:lstStyle/>
                    <a:p>
                      <a:r>
                        <a:rPr lang="en-IN" sz="2000"/>
                        <a:t>Premium modules</a:t>
                      </a:r>
                    </a:p>
                  </a:txBody>
                  <a:tcPr anchor="ctr"/>
                </a:tc>
                <a:tc>
                  <a:txBody>
                    <a:bodyPr/>
                    <a:lstStyle/>
                    <a:p>
                      <a:r>
                        <a:rPr lang="en-IN" sz="2000"/>
                        <a:t>Businesses</a:t>
                      </a:r>
                    </a:p>
                  </a:txBody>
                  <a:tcPr anchor="ctr"/>
                </a:tc>
                <a:extLst>
                  <a:ext uri="{0D108BD9-81ED-4DB2-BD59-A6C34878D82A}">
                    <a16:rowId xmlns:a16="http://schemas.microsoft.com/office/drawing/2014/main" val="2008308756"/>
                  </a:ext>
                </a:extLst>
              </a:tr>
              <a:tr h="421851">
                <a:tc>
                  <a:txBody>
                    <a:bodyPr/>
                    <a:lstStyle/>
                    <a:p>
                      <a:r>
                        <a:rPr lang="en-IN" sz="2000"/>
                        <a:t>Dual Licensing</a:t>
                      </a:r>
                    </a:p>
                  </a:txBody>
                  <a:tcPr anchor="ctr"/>
                </a:tc>
                <a:tc>
                  <a:txBody>
                    <a:bodyPr/>
                    <a:lstStyle/>
                    <a:p>
                      <a:r>
                        <a:rPr lang="en-IN" sz="2000" dirty="0"/>
                        <a:t>Yes</a:t>
                      </a:r>
                    </a:p>
                  </a:txBody>
                  <a:tcPr anchor="ctr"/>
                </a:tc>
                <a:tc>
                  <a:txBody>
                    <a:bodyPr/>
                    <a:lstStyle/>
                    <a:p>
                      <a:r>
                        <a:rPr lang="en-IN" sz="2000"/>
                        <a:t>Commercial license</a:t>
                      </a:r>
                    </a:p>
                  </a:txBody>
                  <a:tcPr anchor="ctr"/>
                </a:tc>
                <a:tc>
                  <a:txBody>
                    <a:bodyPr/>
                    <a:lstStyle/>
                    <a:p>
                      <a:r>
                        <a:rPr lang="en-IN" sz="2000"/>
                        <a:t>Software vendors</a:t>
                      </a:r>
                    </a:p>
                  </a:txBody>
                  <a:tcPr anchor="ctr"/>
                </a:tc>
                <a:extLst>
                  <a:ext uri="{0D108BD9-81ED-4DB2-BD59-A6C34878D82A}">
                    <a16:rowId xmlns:a16="http://schemas.microsoft.com/office/drawing/2014/main" val="1883014309"/>
                  </a:ext>
                </a:extLst>
              </a:tr>
              <a:tr h="421851">
                <a:tc>
                  <a:txBody>
                    <a:bodyPr/>
                    <a:lstStyle/>
                    <a:p>
                      <a:r>
                        <a:rPr lang="en-IN" sz="2000"/>
                        <a:t>SaaS</a:t>
                      </a:r>
                    </a:p>
                  </a:txBody>
                  <a:tcPr anchor="ctr"/>
                </a:tc>
                <a:tc>
                  <a:txBody>
                    <a:bodyPr/>
                    <a:lstStyle/>
                    <a:p>
                      <a:r>
                        <a:rPr lang="en-IN" sz="2000"/>
                        <a:t>Often yes</a:t>
                      </a:r>
                    </a:p>
                  </a:txBody>
                  <a:tcPr anchor="ctr"/>
                </a:tc>
                <a:tc>
                  <a:txBody>
                    <a:bodyPr/>
                    <a:lstStyle/>
                    <a:p>
                      <a:r>
                        <a:rPr lang="en-IN" sz="2000" dirty="0"/>
                        <a:t>Subscription</a:t>
                      </a:r>
                    </a:p>
                  </a:txBody>
                  <a:tcPr anchor="ctr"/>
                </a:tc>
                <a:tc>
                  <a:txBody>
                    <a:bodyPr/>
                    <a:lstStyle/>
                    <a:p>
                      <a:r>
                        <a:rPr lang="en-IN" sz="2000"/>
                        <a:t>All customer segments</a:t>
                      </a:r>
                    </a:p>
                  </a:txBody>
                  <a:tcPr anchor="ctr"/>
                </a:tc>
                <a:extLst>
                  <a:ext uri="{0D108BD9-81ED-4DB2-BD59-A6C34878D82A}">
                    <a16:rowId xmlns:a16="http://schemas.microsoft.com/office/drawing/2014/main" val="3504165026"/>
                  </a:ext>
                </a:extLst>
              </a:tr>
              <a:tr h="421851">
                <a:tc>
                  <a:txBody>
                    <a:bodyPr/>
                    <a:lstStyle/>
                    <a:p>
                      <a:r>
                        <a:rPr lang="en-IN" sz="2000"/>
                        <a:t>Managed Services</a:t>
                      </a:r>
                    </a:p>
                  </a:txBody>
                  <a:tcPr anchor="ctr"/>
                </a:tc>
                <a:tc>
                  <a:txBody>
                    <a:bodyPr/>
                    <a:lstStyle/>
                    <a:p>
                      <a:r>
                        <a:rPr lang="en-IN" sz="2000"/>
                        <a:t>Yes</a:t>
                      </a:r>
                    </a:p>
                  </a:txBody>
                  <a:tcPr anchor="ctr"/>
                </a:tc>
                <a:tc>
                  <a:txBody>
                    <a:bodyPr/>
                    <a:lstStyle/>
                    <a:p>
                      <a:r>
                        <a:rPr lang="en-IN" sz="2000" dirty="0"/>
                        <a:t>Hosting and operations</a:t>
                      </a:r>
                    </a:p>
                  </a:txBody>
                  <a:tcPr anchor="ctr"/>
                </a:tc>
                <a:tc>
                  <a:txBody>
                    <a:bodyPr/>
                    <a:lstStyle/>
                    <a:p>
                      <a:r>
                        <a:rPr lang="en-IN" sz="2000" dirty="0"/>
                        <a:t>Businesses</a:t>
                      </a:r>
                    </a:p>
                  </a:txBody>
                  <a:tcPr anchor="ctr"/>
                </a:tc>
                <a:extLst>
                  <a:ext uri="{0D108BD9-81ED-4DB2-BD59-A6C34878D82A}">
                    <a16:rowId xmlns:a16="http://schemas.microsoft.com/office/drawing/2014/main" val="2813348479"/>
                  </a:ext>
                </a:extLst>
              </a:tr>
              <a:tr h="738239">
                <a:tc>
                  <a:txBody>
                    <a:bodyPr/>
                    <a:lstStyle/>
                    <a:p>
                      <a:r>
                        <a:rPr lang="en-IN" sz="2000"/>
                        <a:t>Donations</a:t>
                      </a:r>
                    </a:p>
                  </a:txBody>
                  <a:tcPr anchor="ctr"/>
                </a:tc>
                <a:tc>
                  <a:txBody>
                    <a:bodyPr/>
                    <a:lstStyle/>
                    <a:p>
                      <a:r>
                        <a:rPr lang="en-IN" sz="2000"/>
                        <a:t>Yes</a:t>
                      </a:r>
                    </a:p>
                  </a:txBody>
                  <a:tcPr anchor="ctr"/>
                </a:tc>
                <a:tc>
                  <a:txBody>
                    <a:bodyPr/>
                    <a:lstStyle/>
                    <a:p>
                      <a:r>
                        <a:rPr lang="en-IN" sz="2000"/>
                        <a:t>Community funding</a:t>
                      </a:r>
                    </a:p>
                  </a:txBody>
                  <a:tcPr anchor="ctr"/>
                </a:tc>
                <a:tc>
                  <a:txBody>
                    <a:bodyPr/>
                    <a:lstStyle/>
                    <a:p>
                      <a:r>
                        <a:rPr lang="en-IN" sz="2000"/>
                        <a:t>Individuals and organizations</a:t>
                      </a:r>
                    </a:p>
                  </a:txBody>
                  <a:tcPr anchor="ctr"/>
                </a:tc>
                <a:extLst>
                  <a:ext uri="{0D108BD9-81ED-4DB2-BD59-A6C34878D82A}">
                    <a16:rowId xmlns:a16="http://schemas.microsoft.com/office/drawing/2014/main" val="1132153933"/>
                  </a:ext>
                </a:extLst>
              </a:tr>
              <a:tr h="421851">
                <a:tc>
                  <a:txBody>
                    <a:bodyPr/>
                    <a:lstStyle/>
                    <a:p>
                      <a:r>
                        <a:rPr lang="en-IN" sz="2000"/>
                        <a:t>Partnerships</a:t>
                      </a:r>
                    </a:p>
                  </a:txBody>
                  <a:tcPr anchor="ctr"/>
                </a:tc>
                <a:tc>
                  <a:txBody>
                    <a:bodyPr/>
                    <a:lstStyle/>
                    <a:p>
                      <a:r>
                        <a:rPr lang="en-IN" sz="2000"/>
                        <a:t>Yes</a:t>
                      </a:r>
                    </a:p>
                  </a:txBody>
                  <a:tcPr anchor="ctr"/>
                </a:tc>
                <a:tc>
                  <a:txBody>
                    <a:bodyPr/>
                    <a:lstStyle/>
                    <a:p>
                      <a:r>
                        <a:rPr lang="en-IN" sz="2000"/>
                        <a:t>Sponsorships</a:t>
                      </a:r>
                    </a:p>
                  </a:txBody>
                  <a:tcPr anchor="ctr"/>
                </a:tc>
                <a:tc>
                  <a:txBody>
                    <a:bodyPr/>
                    <a:lstStyle/>
                    <a:p>
                      <a:r>
                        <a:rPr lang="en-IN" sz="2000" dirty="0"/>
                        <a:t>Technology companies</a:t>
                      </a:r>
                    </a:p>
                  </a:txBody>
                  <a:tcPr anchor="ctr"/>
                </a:tc>
                <a:extLst>
                  <a:ext uri="{0D108BD9-81ED-4DB2-BD59-A6C34878D82A}">
                    <a16:rowId xmlns:a16="http://schemas.microsoft.com/office/drawing/2014/main" val="1341344900"/>
                  </a:ext>
                </a:extLst>
              </a:tr>
            </a:tbl>
          </a:graphicData>
        </a:graphic>
      </p:graphicFrame>
    </p:spTree>
    <p:extLst>
      <p:ext uri="{BB962C8B-B14F-4D97-AF65-F5344CB8AC3E}">
        <p14:creationId xmlns:p14="http://schemas.microsoft.com/office/powerpoint/2010/main" val="41638937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Red Hat </a:t>
            </a:r>
            <a:br>
              <a:rPr lang="en-US" b="1" dirty="0"/>
            </a:br>
            <a:r>
              <a:rPr lang="en-US" b="1" dirty="0"/>
              <a:t>Building a Billion-Dollar Business Around Open Source</a:t>
            </a:r>
            <a:endParaRPr lang="en-IN" b="1" dirty="0"/>
          </a:p>
        </p:txBody>
      </p:sp>
    </p:spTree>
    <p:extLst>
      <p:ext uri="{BB962C8B-B14F-4D97-AF65-F5344CB8AC3E}">
        <p14:creationId xmlns:p14="http://schemas.microsoft.com/office/powerpoint/2010/main" val="24092575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200" dirty="0"/>
              <a:t>Red Hat is one of the world's most successful companies built entirely around Open Source Software (OSS).</a:t>
            </a:r>
          </a:p>
          <a:p>
            <a:pPr algn="just"/>
            <a:r>
              <a:rPr lang="en-US" sz="3200" dirty="0"/>
              <a:t>Unlike traditional software companies that earn money by selling software licenses, Red Hat demonstrated that a company can generate substantial revenue while keeping its software open source.</a:t>
            </a:r>
            <a:endParaRPr lang="en-IN" sz="3200" dirty="0"/>
          </a:p>
        </p:txBody>
      </p:sp>
    </p:spTree>
    <p:extLst>
      <p:ext uri="{BB962C8B-B14F-4D97-AF65-F5344CB8AC3E}">
        <p14:creationId xmlns:p14="http://schemas.microsoft.com/office/powerpoint/2010/main" val="7155113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5"/>
            <a:ext cx="10515600" cy="5126018"/>
          </a:xfrm>
        </p:spPr>
        <p:txBody>
          <a:bodyPr>
            <a:normAutofit/>
          </a:bodyPr>
          <a:lstStyle/>
          <a:p>
            <a:pPr marL="0" indent="0">
              <a:buNone/>
            </a:pPr>
            <a:r>
              <a:rPr lang="en-IN" sz="2400" dirty="0"/>
              <a:t>The company provides:</a:t>
            </a:r>
          </a:p>
          <a:p>
            <a:pPr>
              <a:buFont typeface="Arial" panose="020B0604020202020204" pitchFamily="34" charset="0"/>
              <a:buChar char="•"/>
            </a:pPr>
            <a:r>
              <a:rPr lang="en-IN" sz="2400" dirty="0"/>
              <a:t>Enterprise Linux </a:t>
            </a:r>
          </a:p>
          <a:p>
            <a:pPr>
              <a:buFont typeface="Arial" panose="020B0604020202020204" pitchFamily="34" charset="0"/>
              <a:buChar char="•"/>
            </a:pPr>
            <a:r>
              <a:rPr lang="en-IN" sz="2400" dirty="0"/>
              <a:t>Cloud platforms </a:t>
            </a:r>
          </a:p>
          <a:p>
            <a:pPr>
              <a:buFont typeface="Arial" panose="020B0604020202020204" pitchFamily="34" charset="0"/>
              <a:buChar char="•"/>
            </a:pPr>
            <a:r>
              <a:rPr lang="en-IN" sz="2400" dirty="0"/>
              <a:t>Container technologies </a:t>
            </a:r>
          </a:p>
          <a:p>
            <a:pPr>
              <a:buFont typeface="Arial" panose="020B0604020202020204" pitchFamily="34" charset="0"/>
              <a:buChar char="•"/>
            </a:pPr>
            <a:r>
              <a:rPr lang="en-IN" sz="2400" dirty="0"/>
              <a:t>Kubernetes solutions </a:t>
            </a:r>
          </a:p>
          <a:p>
            <a:pPr>
              <a:buFont typeface="Arial" panose="020B0604020202020204" pitchFamily="34" charset="0"/>
              <a:buChar char="•"/>
            </a:pPr>
            <a:r>
              <a:rPr lang="en-IN" sz="2400" dirty="0"/>
              <a:t>Automation tools </a:t>
            </a:r>
          </a:p>
          <a:p>
            <a:pPr>
              <a:buFont typeface="Arial" panose="020B0604020202020204" pitchFamily="34" charset="0"/>
              <a:buChar char="•"/>
            </a:pPr>
            <a:r>
              <a:rPr lang="en-IN" sz="2400" dirty="0"/>
              <a:t>Middleware </a:t>
            </a:r>
          </a:p>
          <a:p>
            <a:pPr>
              <a:buFont typeface="Arial" panose="020B0604020202020204" pitchFamily="34" charset="0"/>
              <a:buChar char="•"/>
            </a:pPr>
            <a:r>
              <a:rPr lang="en-IN" sz="2400" dirty="0"/>
              <a:t>Technical support </a:t>
            </a:r>
          </a:p>
          <a:p>
            <a:pPr>
              <a:buFont typeface="Arial" panose="020B0604020202020204" pitchFamily="34" charset="0"/>
              <a:buChar char="•"/>
            </a:pPr>
            <a:r>
              <a:rPr lang="en-IN" sz="2400" dirty="0"/>
              <a:t>Professional consulting </a:t>
            </a:r>
          </a:p>
          <a:p>
            <a:pPr>
              <a:buFont typeface="Arial" panose="020B0604020202020204" pitchFamily="34" charset="0"/>
              <a:buChar char="•"/>
            </a:pPr>
            <a:r>
              <a:rPr lang="en-IN" sz="2400" dirty="0"/>
              <a:t>Certification and training</a:t>
            </a:r>
          </a:p>
        </p:txBody>
      </p:sp>
    </p:spTree>
    <p:extLst>
      <p:ext uri="{BB962C8B-B14F-4D97-AF65-F5344CB8AC3E}">
        <p14:creationId xmlns:p14="http://schemas.microsoft.com/office/powerpoint/2010/main" val="7794143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Company Background</a:t>
            </a:r>
          </a:p>
        </p:txBody>
      </p:sp>
      <p:graphicFrame>
        <p:nvGraphicFramePr>
          <p:cNvPr id="4" name="Content Placeholder 3">
            <a:extLst>
              <a:ext uri="{FF2B5EF4-FFF2-40B4-BE49-F238E27FC236}">
                <a16:creationId xmlns:a16="http://schemas.microsoft.com/office/drawing/2014/main" id="{B3DD2297-6A8C-4AEF-9530-BEA963828D40}"/>
              </a:ext>
            </a:extLst>
          </p:cNvPr>
          <p:cNvGraphicFramePr>
            <a:graphicFrameLocks noGrp="1"/>
          </p:cNvGraphicFramePr>
          <p:nvPr>
            <p:ph idx="1"/>
            <p:extLst>
              <p:ext uri="{D42A27DB-BD31-4B8C-83A1-F6EECF244321}">
                <p14:modId xmlns:p14="http://schemas.microsoft.com/office/powerpoint/2010/main" val="1808797027"/>
              </p:ext>
            </p:extLst>
          </p:nvPr>
        </p:nvGraphicFramePr>
        <p:xfrm>
          <a:off x="838200" y="1690688"/>
          <a:ext cx="10515600" cy="4632960"/>
        </p:xfrm>
        <a:graphic>
          <a:graphicData uri="http://schemas.openxmlformats.org/drawingml/2006/table">
            <a:tbl>
              <a:tblPr>
                <a:tableStyleId>{284E427A-3D55-4303-BF80-6455036E1DE7}</a:tableStyleId>
              </a:tblPr>
              <a:tblGrid>
                <a:gridCol w="3039737">
                  <a:extLst>
                    <a:ext uri="{9D8B030D-6E8A-4147-A177-3AD203B41FA5}">
                      <a16:colId xmlns:a16="http://schemas.microsoft.com/office/drawing/2014/main" val="1329232682"/>
                    </a:ext>
                  </a:extLst>
                </a:gridCol>
                <a:gridCol w="7475863">
                  <a:extLst>
                    <a:ext uri="{9D8B030D-6E8A-4147-A177-3AD203B41FA5}">
                      <a16:colId xmlns:a16="http://schemas.microsoft.com/office/drawing/2014/main" val="2403988157"/>
                    </a:ext>
                  </a:extLst>
                </a:gridCol>
              </a:tblGrid>
              <a:tr h="0">
                <a:tc>
                  <a:txBody>
                    <a:bodyPr/>
                    <a:lstStyle/>
                    <a:p>
                      <a:r>
                        <a:rPr lang="en-IN" sz="3200" b="1" dirty="0"/>
                        <a:t>Attribute</a:t>
                      </a:r>
                    </a:p>
                  </a:txBody>
                  <a:tcPr anchor="ctr"/>
                </a:tc>
                <a:tc>
                  <a:txBody>
                    <a:bodyPr/>
                    <a:lstStyle/>
                    <a:p>
                      <a:r>
                        <a:rPr lang="en-IN" sz="3200" b="1" dirty="0"/>
                        <a:t>Details</a:t>
                      </a:r>
                    </a:p>
                  </a:txBody>
                  <a:tcPr anchor="ctr"/>
                </a:tc>
                <a:extLst>
                  <a:ext uri="{0D108BD9-81ED-4DB2-BD59-A6C34878D82A}">
                    <a16:rowId xmlns:a16="http://schemas.microsoft.com/office/drawing/2014/main" val="2245998438"/>
                  </a:ext>
                </a:extLst>
              </a:tr>
              <a:tr h="0">
                <a:tc>
                  <a:txBody>
                    <a:bodyPr/>
                    <a:lstStyle/>
                    <a:p>
                      <a:r>
                        <a:rPr lang="en-IN" sz="3200" dirty="0"/>
                        <a:t>Company Name</a:t>
                      </a:r>
                    </a:p>
                  </a:txBody>
                  <a:tcPr anchor="ctr"/>
                </a:tc>
                <a:tc>
                  <a:txBody>
                    <a:bodyPr/>
                    <a:lstStyle/>
                    <a:p>
                      <a:r>
                        <a:rPr lang="en-IN" sz="3200" dirty="0"/>
                        <a:t>Red Hat, Inc.</a:t>
                      </a:r>
                    </a:p>
                  </a:txBody>
                  <a:tcPr anchor="ctr"/>
                </a:tc>
                <a:extLst>
                  <a:ext uri="{0D108BD9-81ED-4DB2-BD59-A6C34878D82A}">
                    <a16:rowId xmlns:a16="http://schemas.microsoft.com/office/drawing/2014/main" val="1616483915"/>
                  </a:ext>
                </a:extLst>
              </a:tr>
              <a:tr h="0">
                <a:tc>
                  <a:txBody>
                    <a:bodyPr/>
                    <a:lstStyle/>
                    <a:p>
                      <a:r>
                        <a:rPr lang="en-IN" sz="3200" dirty="0"/>
                        <a:t>Founded</a:t>
                      </a:r>
                    </a:p>
                  </a:txBody>
                  <a:tcPr anchor="ctr"/>
                </a:tc>
                <a:tc>
                  <a:txBody>
                    <a:bodyPr/>
                    <a:lstStyle/>
                    <a:p>
                      <a:r>
                        <a:rPr lang="en-IN" sz="3200"/>
                        <a:t>1993</a:t>
                      </a:r>
                    </a:p>
                  </a:txBody>
                  <a:tcPr anchor="ctr"/>
                </a:tc>
                <a:extLst>
                  <a:ext uri="{0D108BD9-81ED-4DB2-BD59-A6C34878D82A}">
                    <a16:rowId xmlns:a16="http://schemas.microsoft.com/office/drawing/2014/main" val="3425280694"/>
                  </a:ext>
                </a:extLst>
              </a:tr>
              <a:tr h="0">
                <a:tc>
                  <a:txBody>
                    <a:bodyPr/>
                    <a:lstStyle/>
                    <a:p>
                      <a:r>
                        <a:rPr lang="en-IN" sz="3200" dirty="0"/>
                        <a:t>Founders</a:t>
                      </a:r>
                    </a:p>
                  </a:txBody>
                  <a:tcPr anchor="ctr"/>
                </a:tc>
                <a:tc>
                  <a:txBody>
                    <a:bodyPr/>
                    <a:lstStyle/>
                    <a:p>
                      <a:r>
                        <a:rPr lang="en-US" sz="3200"/>
                        <a:t>Bob Young and Marc Ewing</a:t>
                      </a:r>
                    </a:p>
                  </a:txBody>
                  <a:tcPr anchor="ctr"/>
                </a:tc>
                <a:extLst>
                  <a:ext uri="{0D108BD9-81ED-4DB2-BD59-A6C34878D82A}">
                    <a16:rowId xmlns:a16="http://schemas.microsoft.com/office/drawing/2014/main" val="2002821107"/>
                  </a:ext>
                </a:extLst>
              </a:tr>
              <a:tr h="0">
                <a:tc>
                  <a:txBody>
                    <a:bodyPr/>
                    <a:lstStyle/>
                    <a:p>
                      <a:r>
                        <a:rPr lang="en-IN" sz="3200"/>
                        <a:t>Headquarters</a:t>
                      </a:r>
                    </a:p>
                  </a:txBody>
                  <a:tcPr anchor="ctr"/>
                </a:tc>
                <a:tc>
                  <a:txBody>
                    <a:bodyPr/>
                    <a:lstStyle/>
                    <a:p>
                      <a:r>
                        <a:rPr lang="en-IN" sz="3200"/>
                        <a:t>Raleigh, North Carolina, USA</a:t>
                      </a:r>
                    </a:p>
                  </a:txBody>
                  <a:tcPr anchor="ctr"/>
                </a:tc>
                <a:extLst>
                  <a:ext uri="{0D108BD9-81ED-4DB2-BD59-A6C34878D82A}">
                    <a16:rowId xmlns:a16="http://schemas.microsoft.com/office/drawing/2014/main" val="1915606695"/>
                  </a:ext>
                </a:extLst>
              </a:tr>
              <a:tr h="0">
                <a:tc>
                  <a:txBody>
                    <a:bodyPr/>
                    <a:lstStyle/>
                    <a:p>
                      <a:r>
                        <a:rPr lang="en-IN" sz="3200"/>
                        <a:t>Parent Company</a:t>
                      </a:r>
                    </a:p>
                  </a:txBody>
                  <a:tcPr anchor="ctr"/>
                </a:tc>
                <a:tc>
                  <a:txBody>
                    <a:bodyPr/>
                    <a:lstStyle/>
                    <a:p>
                      <a:r>
                        <a:rPr lang="en-IN" sz="3200"/>
                        <a:t>IBM (acquired in 2019)</a:t>
                      </a:r>
                    </a:p>
                  </a:txBody>
                  <a:tcPr anchor="ctr"/>
                </a:tc>
                <a:extLst>
                  <a:ext uri="{0D108BD9-81ED-4DB2-BD59-A6C34878D82A}">
                    <a16:rowId xmlns:a16="http://schemas.microsoft.com/office/drawing/2014/main" val="1209797931"/>
                  </a:ext>
                </a:extLst>
              </a:tr>
              <a:tr h="0">
                <a:tc>
                  <a:txBody>
                    <a:bodyPr/>
                    <a:lstStyle/>
                    <a:p>
                      <a:r>
                        <a:rPr lang="en-IN" sz="3200"/>
                        <a:t>Main Product</a:t>
                      </a:r>
                    </a:p>
                  </a:txBody>
                  <a:tcPr anchor="ctr"/>
                </a:tc>
                <a:tc>
                  <a:txBody>
                    <a:bodyPr/>
                    <a:lstStyle/>
                    <a:p>
                      <a:r>
                        <a:rPr lang="de-DE" sz="3200"/>
                        <a:t>Red Hat Enterprise Linux (RHEL)</a:t>
                      </a:r>
                    </a:p>
                  </a:txBody>
                  <a:tcPr anchor="ctr"/>
                </a:tc>
                <a:extLst>
                  <a:ext uri="{0D108BD9-81ED-4DB2-BD59-A6C34878D82A}">
                    <a16:rowId xmlns:a16="http://schemas.microsoft.com/office/drawing/2014/main" val="3434508087"/>
                  </a:ext>
                </a:extLst>
              </a:tr>
              <a:tr h="0">
                <a:tc>
                  <a:txBody>
                    <a:bodyPr/>
                    <a:lstStyle/>
                    <a:p>
                      <a:r>
                        <a:rPr lang="en-IN" sz="3200"/>
                        <a:t>Business Type</a:t>
                      </a:r>
                    </a:p>
                  </a:txBody>
                  <a:tcPr anchor="ctr"/>
                </a:tc>
                <a:tc>
                  <a:txBody>
                    <a:bodyPr/>
                    <a:lstStyle/>
                    <a:p>
                      <a:r>
                        <a:rPr lang="en-IN" sz="3200" dirty="0"/>
                        <a:t>Enterprise Open Source Software</a:t>
                      </a:r>
                    </a:p>
                  </a:txBody>
                  <a:tcPr anchor="ctr"/>
                </a:tc>
                <a:extLst>
                  <a:ext uri="{0D108BD9-81ED-4DB2-BD59-A6C34878D82A}">
                    <a16:rowId xmlns:a16="http://schemas.microsoft.com/office/drawing/2014/main" val="4222079098"/>
                  </a:ext>
                </a:extLst>
              </a:tr>
            </a:tbl>
          </a:graphicData>
        </a:graphic>
      </p:graphicFrame>
    </p:spTree>
    <p:extLst>
      <p:ext uri="{BB962C8B-B14F-4D97-AF65-F5344CB8AC3E}">
        <p14:creationId xmlns:p14="http://schemas.microsoft.com/office/powerpoint/2010/main" val="2960513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History of Red Hat</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200" dirty="0"/>
              <a:t>1993 – Company Formation</a:t>
            </a:r>
          </a:p>
          <a:p>
            <a:pPr lvl="1" algn="just"/>
            <a:r>
              <a:rPr lang="en-US" sz="2800" dirty="0"/>
              <a:t>Marc Ewing developed a Linux distribution, while Bob Young recognized its commercial potential. Together, they founded Red Hat to provide a professional Linux distribution with enterprise support.</a:t>
            </a:r>
          </a:p>
          <a:p>
            <a:pPr algn="just"/>
            <a:endParaRPr lang="en-IN" sz="3200" dirty="0"/>
          </a:p>
        </p:txBody>
      </p:sp>
    </p:spTree>
    <p:extLst>
      <p:ext uri="{BB962C8B-B14F-4D97-AF65-F5344CB8AC3E}">
        <p14:creationId xmlns:p14="http://schemas.microsoft.com/office/powerpoint/2010/main" val="22451582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History of Red Hat</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marL="0" indent="0" algn="just">
              <a:buNone/>
            </a:pPr>
            <a:r>
              <a:rPr lang="en-US" b="1" dirty="0"/>
              <a:t>1995 – Red Hat Linux Released</a:t>
            </a:r>
          </a:p>
          <a:p>
            <a:pPr algn="just"/>
            <a:r>
              <a:rPr lang="en-US" dirty="0"/>
              <a:t>Red Hat introduced one of the earliest commercially supported Linux distributions.</a:t>
            </a:r>
          </a:p>
          <a:p>
            <a:pPr algn="just"/>
            <a:r>
              <a:rPr lang="en-US" dirty="0"/>
              <a:t>Key features included:</a:t>
            </a:r>
          </a:p>
          <a:p>
            <a:pPr lvl="1" algn="just"/>
            <a:r>
              <a:rPr lang="en-US" sz="2800" dirty="0"/>
              <a:t>Easy installation </a:t>
            </a:r>
          </a:p>
          <a:p>
            <a:pPr lvl="1" algn="just"/>
            <a:r>
              <a:rPr lang="en-US" sz="2800" dirty="0"/>
              <a:t>Package management </a:t>
            </a:r>
          </a:p>
          <a:p>
            <a:pPr lvl="1" algn="just"/>
            <a:r>
              <a:rPr lang="en-US" sz="2800" dirty="0"/>
              <a:t>Technical support </a:t>
            </a:r>
          </a:p>
          <a:p>
            <a:pPr lvl="1" algn="just"/>
            <a:r>
              <a:rPr lang="en-US" sz="2800" dirty="0"/>
              <a:t>Documentation</a:t>
            </a:r>
          </a:p>
          <a:p>
            <a:pPr algn="just"/>
            <a:endParaRPr lang="en-IN" sz="3200" dirty="0"/>
          </a:p>
        </p:txBody>
      </p:sp>
    </p:spTree>
    <p:extLst>
      <p:ext uri="{BB962C8B-B14F-4D97-AF65-F5344CB8AC3E}">
        <p14:creationId xmlns:p14="http://schemas.microsoft.com/office/powerpoint/2010/main" val="19249894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History of Red Hat</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marL="0" indent="0" algn="just">
              <a:buNone/>
            </a:pPr>
            <a:r>
              <a:rPr lang="en-US" b="1" dirty="0"/>
              <a:t>1999 – Initial Public Offering (IPO)</a:t>
            </a:r>
          </a:p>
          <a:p>
            <a:pPr algn="just"/>
            <a:r>
              <a:rPr lang="en-US" dirty="0"/>
              <a:t>Red Hat became one of the fastest-growing technology companies after its stock market listing, reflecting growing confidence in enterprise open source.</a:t>
            </a:r>
          </a:p>
          <a:p>
            <a:pPr marL="0" indent="0" algn="just">
              <a:buNone/>
            </a:pPr>
            <a:endParaRPr lang="en-US" b="1" dirty="0"/>
          </a:p>
          <a:p>
            <a:pPr marL="0" indent="0" algn="just">
              <a:buNone/>
            </a:pPr>
            <a:r>
              <a:rPr lang="en-US" b="1" dirty="0"/>
              <a:t>2002 – Red Hat Enterprise Linux (RHEL)</a:t>
            </a:r>
          </a:p>
          <a:p>
            <a:pPr algn="just"/>
            <a:r>
              <a:rPr lang="en-US" dirty="0"/>
              <a:t>The company shifted from a consumer Linux distribution to an enterprise-focused subscription model.</a:t>
            </a:r>
          </a:p>
          <a:p>
            <a:pPr algn="just"/>
            <a:r>
              <a:rPr lang="en-US" dirty="0"/>
              <a:t>This became the foundation of Red Hat's business.</a:t>
            </a:r>
          </a:p>
          <a:p>
            <a:pPr algn="just"/>
            <a:endParaRPr lang="en-IN" sz="5400" dirty="0"/>
          </a:p>
          <a:p>
            <a:pPr algn="just"/>
            <a:endParaRPr lang="en-IN" sz="4000" dirty="0"/>
          </a:p>
        </p:txBody>
      </p:sp>
    </p:spTree>
    <p:extLst>
      <p:ext uri="{BB962C8B-B14F-4D97-AF65-F5344CB8AC3E}">
        <p14:creationId xmlns:p14="http://schemas.microsoft.com/office/powerpoint/2010/main" val="26115544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History of Red Hat</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lnSpcReduction="10000"/>
          </a:bodyPr>
          <a:lstStyle/>
          <a:p>
            <a:pPr marL="0" indent="0" algn="just">
              <a:buNone/>
            </a:pPr>
            <a:r>
              <a:rPr lang="en-US" b="1" dirty="0"/>
              <a:t>2014 – Billion-Dollar Revenue</a:t>
            </a:r>
          </a:p>
          <a:p>
            <a:pPr algn="just"/>
            <a:r>
              <a:rPr lang="en-US" dirty="0"/>
              <a:t>Red Hat became the </a:t>
            </a:r>
            <a:r>
              <a:rPr lang="en-US" b="1" dirty="0"/>
              <a:t>first open-source company</a:t>
            </a:r>
            <a:r>
              <a:rPr lang="en-US" dirty="0"/>
              <a:t> to surpass </a:t>
            </a:r>
            <a:r>
              <a:rPr lang="en-US" b="1" dirty="0"/>
              <a:t>US$1 billion in annual revenue</a:t>
            </a:r>
            <a:r>
              <a:rPr lang="en-US" dirty="0"/>
              <a:t>, demonstrating that an open-source business could be highly profitable.</a:t>
            </a:r>
          </a:p>
          <a:p>
            <a:pPr algn="just"/>
            <a:endParaRPr lang="en-IN" dirty="0"/>
          </a:p>
          <a:p>
            <a:pPr marL="0" indent="0" algn="just">
              <a:buNone/>
            </a:pPr>
            <a:r>
              <a:rPr lang="en-US" b="1" dirty="0"/>
              <a:t>2019 – IBM Acquisition</a:t>
            </a:r>
          </a:p>
          <a:p>
            <a:pPr algn="just"/>
            <a:r>
              <a:rPr lang="en-US" dirty="0"/>
              <a:t>IBM acquired Red Hat for approximately </a:t>
            </a:r>
            <a:r>
              <a:rPr lang="en-US" b="1" dirty="0"/>
              <a:t>US$34 billion</a:t>
            </a:r>
            <a:r>
              <a:rPr lang="en-US" dirty="0"/>
              <a:t>, one of the largest software acquisitions at the time.</a:t>
            </a:r>
          </a:p>
          <a:p>
            <a:pPr algn="just"/>
            <a:r>
              <a:rPr lang="en-US" dirty="0"/>
              <a:t>The acquisition aimed to strengthen IBM's hybrid cloud strategy while allowing Red Hat to continue operating with its open-source development model.</a:t>
            </a:r>
          </a:p>
          <a:p>
            <a:pPr algn="just"/>
            <a:endParaRPr lang="en-IN" dirty="0"/>
          </a:p>
        </p:txBody>
      </p:sp>
    </p:spTree>
    <p:extLst>
      <p:ext uri="{BB962C8B-B14F-4D97-AF65-F5344CB8AC3E}">
        <p14:creationId xmlns:p14="http://schemas.microsoft.com/office/powerpoint/2010/main" val="39608075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Why Was Red Hat Needed?</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20000"/>
          </a:bodyPr>
          <a:lstStyle/>
          <a:p>
            <a:pPr algn="just"/>
            <a:r>
              <a:rPr lang="en-US" sz="3200" dirty="0"/>
              <a:t>Linux was freely available, but enterprises faced several challenges:</a:t>
            </a:r>
          </a:p>
          <a:p>
            <a:pPr lvl="1" algn="just"/>
            <a:r>
              <a:rPr lang="en-US" sz="2800" dirty="0"/>
              <a:t>Lack of guaranteed technical support </a:t>
            </a:r>
          </a:p>
          <a:p>
            <a:pPr lvl="1" algn="just"/>
            <a:r>
              <a:rPr lang="en-US" sz="2800" dirty="0"/>
              <a:t>Frequent updates without long-term maintenance </a:t>
            </a:r>
          </a:p>
          <a:p>
            <a:pPr lvl="1" algn="just"/>
            <a:r>
              <a:rPr lang="en-US" sz="2800" dirty="0"/>
              <a:t>Hardware compatibility concerns </a:t>
            </a:r>
          </a:p>
          <a:p>
            <a:pPr lvl="1" algn="just"/>
            <a:r>
              <a:rPr lang="en-US" sz="2800" dirty="0"/>
              <a:t>Security management </a:t>
            </a:r>
          </a:p>
          <a:p>
            <a:pPr lvl="1" algn="just"/>
            <a:r>
              <a:rPr lang="en-US" sz="2800" dirty="0"/>
              <a:t>Compliance requirements </a:t>
            </a:r>
          </a:p>
          <a:p>
            <a:pPr lvl="1" algn="just"/>
            <a:r>
              <a:rPr lang="en-US" sz="2800" dirty="0"/>
              <a:t>Need for certified software and documentation </a:t>
            </a:r>
          </a:p>
          <a:p>
            <a:pPr algn="just"/>
            <a:r>
              <a:rPr lang="en-US" sz="3200" dirty="0"/>
              <a:t>Businesses required a trusted partner to provide enterprise-grade reliability.</a:t>
            </a:r>
          </a:p>
          <a:p>
            <a:pPr algn="just"/>
            <a:r>
              <a:rPr lang="en-US" sz="3200" dirty="0"/>
              <a:t>Red Hat addressed these needs by combining open-source software with professional services.</a:t>
            </a:r>
          </a:p>
          <a:p>
            <a:pPr algn="just"/>
            <a:endParaRPr lang="en-IN" sz="4400" dirty="0"/>
          </a:p>
        </p:txBody>
      </p:sp>
    </p:spTree>
    <p:extLst>
      <p:ext uri="{BB962C8B-B14F-4D97-AF65-F5344CB8AC3E}">
        <p14:creationId xmlns:p14="http://schemas.microsoft.com/office/powerpoint/2010/main" val="7544869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Red Hat Business Model</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6091410" cy="4768355"/>
          </a:xfrm>
        </p:spPr>
        <p:txBody>
          <a:bodyPr>
            <a:normAutofit lnSpcReduction="10000"/>
          </a:bodyPr>
          <a:lstStyle/>
          <a:p>
            <a:pPr algn="just"/>
            <a:r>
              <a:rPr lang="en-US" dirty="0"/>
              <a:t>Unlike Microsoft or Oracle, Red Hat </a:t>
            </a:r>
            <a:r>
              <a:rPr lang="en-US" b="1" dirty="0"/>
              <a:t>does not primarily sell software licenses</a:t>
            </a:r>
            <a:r>
              <a:rPr lang="en-US" dirty="0"/>
              <a:t>.</a:t>
            </a:r>
          </a:p>
          <a:p>
            <a:pPr algn="just"/>
            <a:r>
              <a:rPr lang="en-US" dirty="0"/>
              <a:t>Instead, it follows a </a:t>
            </a:r>
            <a:r>
              <a:rPr lang="en-US" b="1" dirty="0"/>
              <a:t>subscription-based business model</a:t>
            </a:r>
            <a:r>
              <a:rPr lang="en-US" dirty="0"/>
              <a:t>.</a:t>
            </a:r>
          </a:p>
          <a:p>
            <a:r>
              <a:rPr lang="en-US" dirty="0"/>
              <a:t>Customers pay for:</a:t>
            </a:r>
          </a:p>
          <a:p>
            <a:pPr lvl="1"/>
            <a:r>
              <a:rPr lang="en-US" dirty="0"/>
              <a:t>Reliability </a:t>
            </a:r>
          </a:p>
          <a:p>
            <a:pPr lvl="1"/>
            <a:r>
              <a:rPr lang="en-US" dirty="0"/>
              <a:t>Security updates </a:t>
            </a:r>
          </a:p>
          <a:p>
            <a:pPr lvl="1"/>
            <a:r>
              <a:rPr lang="en-US" dirty="0"/>
              <a:t>Technical support </a:t>
            </a:r>
          </a:p>
          <a:p>
            <a:pPr lvl="1"/>
            <a:r>
              <a:rPr lang="en-US" dirty="0"/>
              <a:t>Long-term maintenance </a:t>
            </a:r>
          </a:p>
          <a:p>
            <a:pPr lvl="1"/>
            <a:r>
              <a:rPr lang="en-US" dirty="0"/>
              <a:t>Certified software </a:t>
            </a:r>
          </a:p>
          <a:p>
            <a:pPr lvl="1"/>
            <a:r>
              <a:rPr lang="en-US" dirty="0"/>
              <a:t>Professional services </a:t>
            </a:r>
          </a:p>
          <a:p>
            <a:pPr algn="just"/>
            <a:endParaRPr lang="en-IN" sz="4000" dirty="0"/>
          </a:p>
        </p:txBody>
      </p:sp>
      <p:sp>
        <p:nvSpPr>
          <p:cNvPr id="5" name="TextBox 4">
            <a:extLst>
              <a:ext uri="{FF2B5EF4-FFF2-40B4-BE49-F238E27FC236}">
                <a16:creationId xmlns:a16="http://schemas.microsoft.com/office/drawing/2014/main" id="{EA44D0E3-065A-414F-83F0-D8F040E158E4}"/>
              </a:ext>
            </a:extLst>
          </p:cNvPr>
          <p:cNvSpPr txBox="1"/>
          <p:nvPr/>
        </p:nvSpPr>
        <p:spPr>
          <a:xfrm>
            <a:off x="8370065" y="1577221"/>
            <a:ext cx="3968827" cy="5016758"/>
          </a:xfrm>
          <a:prstGeom prst="rect">
            <a:avLst/>
          </a:prstGeom>
          <a:noFill/>
        </p:spPr>
        <p:txBody>
          <a:bodyPr wrap="square">
            <a:spAutoFit/>
          </a:bodyPr>
          <a:lstStyle/>
          <a:p>
            <a:r>
              <a:rPr lang="en-IN" sz="2000" b="1" dirty="0"/>
              <a:t>Open Source Software</a:t>
            </a:r>
          </a:p>
          <a:p>
            <a:r>
              <a:rPr lang="en-IN" sz="2000" b="1" dirty="0"/>
              <a:t>         │</a:t>
            </a:r>
          </a:p>
          <a:p>
            <a:r>
              <a:rPr lang="en-IN" sz="2000" b="1" dirty="0"/>
              <a:t>         ▼</a:t>
            </a:r>
          </a:p>
          <a:p>
            <a:r>
              <a:rPr lang="en-IN" sz="2000" b="1" dirty="0"/>
              <a:t>Professional Testing</a:t>
            </a:r>
          </a:p>
          <a:p>
            <a:r>
              <a:rPr lang="en-IN" sz="2000" b="1" dirty="0"/>
              <a:t>         │</a:t>
            </a:r>
          </a:p>
          <a:p>
            <a:r>
              <a:rPr lang="en-IN" sz="2000" b="1" dirty="0"/>
              <a:t>         ▼</a:t>
            </a:r>
          </a:p>
          <a:p>
            <a:r>
              <a:rPr lang="en-IN" sz="2000" b="1" dirty="0"/>
              <a:t>Enterprise Packaging</a:t>
            </a:r>
          </a:p>
          <a:p>
            <a:r>
              <a:rPr lang="en-IN" sz="2000" b="1" dirty="0"/>
              <a:t>         │</a:t>
            </a:r>
          </a:p>
          <a:p>
            <a:r>
              <a:rPr lang="en-IN" sz="2000" b="1" dirty="0"/>
              <a:t>         ▼</a:t>
            </a:r>
          </a:p>
          <a:p>
            <a:r>
              <a:rPr lang="en-IN" sz="2000" b="1" dirty="0"/>
              <a:t>Certification</a:t>
            </a:r>
          </a:p>
          <a:p>
            <a:r>
              <a:rPr lang="en-IN" sz="2000" b="1" dirty="0"/>
              <a:t>         │</a:t>
            </a:r>
          </a:p>
          <a:p>
            <a:r>
              <a:rPr lang="en-IN" sz="2000" b="1" dirty="0"/>
              <a:t>         ▼</a:t>
            </a:r>
          </a:p>
          <a:p>
            <a:r>
              <a:rPr lang="en-IN" sz="2000" b="1" dirty="0"/>
              <a:t>Technical Support</a:t>
            </a:r>
          </a:p>
          <a:p>
            <a:r>
              <a:rPr lang="en-IN" sz="2000" b="1" dirty="0"/>
              <a:t>         │</a:t>
            </a:r>
          </a:p>
          <a:p>
            <a:r>
              <a:rPr lang="en-IN" sz="2000" b="1" dirty="0"/>
              <a:t>         ▼</a:t>
            </a:r>
          </a:p>
          <a:p>
            <a:r>
              <a:rPr lang="en-IN" sz="2000" b="1" dirty="0"/>
              <a:t>Annual Subscription Revenue</a:t>
            </a:r>
          </a:p>
        </p:txBody>
      </p:sp>
    </p:spTree>
    <p:extLst>
      <p:ext uri="{BB962C8B-B14F-4D97-AF65-F5344CB8AC3E}">
        <p14:creationId xmlns:p14="http://schemas.microsoft.com/office/powerpoint/2010/main" val="5460774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Red Hat Product Ecosystem</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endParaRPr lang="en-IN" sz="3200" dirty="0"/>
          </a:p>
        </p:txBody>
      </p:sp>
      <p:pic>
        <p:nvPicPr>
          <p:cNvPr id="7" name="Picture 6">
            <a:extLst>
              <a:ext uri="{FF2B5EF4-FFF2-40B4-BE49-F238E27FC236}">
                <a16:creationId xmlns:a16="http://schemas.microsoft.com/office/drawing/2014/main" id="{2FE6B0B4-322E-4394-8DDB-96206B5CF62D}"/>
              </a:ext>
            </a:extLst>
          </p:cNvPr>
          <p:cNvPicPr>
            <a:picLocks noChangeAspect="1"/>
          </p:cNvPicPr>
          <p:nvPr/>
        </p:nvPicPr>
        <p:blipFill>
          <a:blip r:embed="rId2"/>
          <a:stretch>
            <a:fillRect/>
          </a:stretch>
        </p:blipFill>
        <p:spPr>
          <a:xfrm>
            <a:off x="1361009" y="1690688"/>
            <a:ext cx="5568601" cy="4719808"/>
          </a:xfrm>
          <a:prstGeom prst="rect">
            <a:avLst/>
          </a:prstGeom>
        </p:spPr>
      </p:pic>
    </p:spTree>
    <p:extLst>
      <p:ext uri="{BB962C8B-B14F-4D97-AF65-F5344CB8AC3E}">
        <p14:creationId xmlns:p14="http://schemas.microsoft.com/office/powerpoint/2010/main" val="12460209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Open Source Development Model</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IN" sz="3200" dirty="0"/>
              <a:t>Red Hat engineers actively contribute to projects such as:</a:t>
            </a:r>
          </a:p>
          <a:p>
            <a:pPr lvl="1" algn="just"/>
            <a:r>
              <a:rPr lang="en-IN" sz="2800" dirty="0"/>
              <a:t>Linux Kernel </a:t>
            </a:r>
          </a:p>
          <a:p>
            <a:pPr lvl="1" algn="just"/>
            <a:r>
              <a:rPr lang="en-IN" sz="2800" dirty="0"/>
              <a:t>GNOME </a:t>
            </a:r>
          </a:p>
          <a:p>
            <a:pPr lvl="1" algn="just"/>
            <a:r>
              <a:rPr lang="en-IN" sz="2800" dirty="0"/>
              <a:t>Kubernetes </a:t>
            </a:r>
          </a:p>
          <a:p>
            <a:pPr lvl="1" algn="just"/>
            <a:r>
              <a:rPr lang="en-IN" sz="2800" dirty="0" err="1"/>
              <a:t>Podman</a:t>
            </a:r>
            <a:r>
              <a:rPr lang="en-IN" sz="2800" dirty="0"/>
              <a:t> </a:t>
            </a:r>
          </a:p>
          <a:p>
            <a:pPr lvl="1" algn="just"/>
            <a:r>
              <a:rPr lang="en-IN" sz="2800" dirty="0"/>
              <a:t>Ansible </a:t>
            </a:r>
          </a:p>
          <a:p>
            <a:pPr lvl="1" algn="just"/>
            <a:r>
              <a:rPr lang="en-IN" sz="2800" dirty="0"/>
              <a:t>Fedora </a:t>
            </a:r>
          </a:p>
          <a:p>
            <a:pPr lvl="1" algn="just"/>
            <a:r>
              <a:rPr lang="en-IN" sz="2800" dirty="0"/>
              <a:t>OpenShift </a:t>
            </a:r>
          </a:p>
          <a:p>
            <a:pPr lvl="1" algn="just"/>
            <a:r>
              <a:rPr lang="en-IN" sz="2800" dirty="0" err="1"/>
              <a:t>Systemd</a:t>
            </a:r>
            <a:endParaRPr lang="en-IN" sz="2800" dirty="0"/>
          </a:p>
          <a:p>
            <a:pPr algn="just"/>
            <a:endParaRPr lang="en-IN" sz="4400" dirty="0"/>
          </a:p>
        </p:txBody>
      </p:sp>
    </p:spTree>
    <p:extLst>
      <p:ext uri="{BB962C8B-B14F-4D97-AF65-F5344CB8AC3E}">
        <p14:creationId xmlns:p14="http://schemas.microsoft.com/office/powerpoint/2010/main" val="24896300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Why Do Enterprises Choose Red Hat?</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33804"/>
            <a:ext cx="10515600" cy="5397501"/>
          </a:xfrm>
        </p:spPr>
        <p:txBody>
          <a:bodyPr>
            <a:normAutofit lnSpcReduction="10000"/>
          </a:bodyPr>
          <a:lstStyle/>
          <a:p>
            <a:pPr marL="0" indent="0">
              <a:buNone/>
            </a:pPr>
            <a:r>
              <a:rPr lang="en-US" dirty="0"/>
              <a:t>Organizations choose Red Hat because they need:</a:t>
            </a:r>
          </a:p>
          <a:p>
            <a:r>
              <a:rPr lang="en-US" b="1" dirty="0"/>
              <a:t>Reliability</a:t>
            </a:r>
          </a:p>
          <a:p>
            <a:pPr lvl="1"/>
            <a:r>
              <a:rPr lang="en-US" sz="2000" dirty="0"/>
              <a:t>Systems must operate continuously with minimal downtime.</a:t>
            </a:r>
          </a:p>
          <a:p>
            <a:r>
              <a:rPr lang="en-US" b="1" dirty="0"/>
              <a:t>Security</a:t>
            </a:r>
          </a:p>
          <a:p>
            <a:pPr lvl="1"/>
            <a:r>
              <a:rPr lang="en-US" sz="2000" dirty="0"/>
              <a:t>Regular security patches and vulnerability management.</a:t>
            </a:r>
          </a:p>
          <a:p>
            <a:r>
              <a:rPr lang="en-US" b="1" dirty="0"/>
              <a:t>Long-Term Support</a:t>
            </a:r>
          </a:p>
          <a:p>
            <a:pPr lvl="1"/>
            <a:r>
              <a:rPr lang="en-US" sz="2000" dirty="0"/>
              <a:t>Many organizations require stable software versions for several years.</a:t>
            </a:r>
          </a:p>
          <a:p>
            <a:r>
              <a:rPr lang="en-US" b="1" dirty="0"/>
              <a:t>Hardware Certification</a:t>
            </a:r>
          </a:p>
          <a:p>
            <a:pPr lvl="1"/>
            <a:r>
              <a:rPr lang="en-US" sz="2000" dirty="0"/>
              <a:t>Compatibility with servers from major hardware vendors.</a:t>
            </a:r>
          </a:p>
          <a:p>
            <a:r>
              <a:rPr lang="en-US" b="1" dirty="0"/>
              <a:t>Compliance</a:t>
            </a:r>
          </a:p>
          <a:p>
            <a:pPr lvl="1"/>
            <a:r>
              <a:rPr lang="en-US" sz="2000" dirty="0"/>
              <a:t>Support for regulatory and organizational requirements.</a:t>
            </a:r>
          </a:p>
          <a:p>
            <a:r>
              <a:rPr lang="en-US" b="1" dirty="0"/>
              <a:t>Professional Support</a:t>
            </a:r>
          </a:p>
          <a:p>
            <a:pPr lvl="1"/>
            <a:r>
              <a:rPr lang="en-US" sz="2000" dirty="0"/>
              <a:t>Access to experienced engineers and documented solutions.</a:t>
            </a:r>
            <a:endParaRPr lang="en-IN" sz="3600" dirty="0"/>
          </a:p>
        </p:txBody>
      </p:sp>
    </p:spTree>
    <p:extLst>
      <p:ext uri="{BB962C8B-B14F-4D97-AF65-F5344CB8AC3E}">
        <p14:creationId xmlns:p14="http://schemas.microsoft.com/office/powerpoint/2010/main" val="32535559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pPr algn="just"/>
            <a:r>
              <a:rPr lang="en-US" b="1" dirty="0"/>
              <a:t>Comparison: Community Linux vs Red Hat Enterprise Linux</a:t>
            </a:r>
            <a:endParaRPr lang="en-IN" b="1" dirty="0"/>
          </a:p>
        </p:txBody>
      </p:sp>
      <p:graphicFrame>
        <p:nvGraphicFramePr>
          <p:cNvPr id="4" name="Content Placeholder 3">
            <a:extLst>
              <a:ext uri="{FF2B5EF4-FFF2-40B4-BE49-F238E27FC236}">
                <a16:creationId xmlns:a16="http://schemas.microsoft.com/office/drawing/2014/main" id="{A4B86CA3-FA74-4E6F-A273-123AF18D5D98}"/>
              </a:ext>
            </a:extLst>
          </p:cNvPr>
          <p:cNvGraphicFramePr>
            <a:graphicFrameLocks noGrp="1"/>
          </p:cNvGraphicFramePr>
          <p:nvPr>
            <p:ph idx="1"/>
            <p:extLst>
              <p:ext uri="{D42A27DB-BD31-4B8C-83A1-F6EECF244321}">
                <p14:modId xmlns:p14="http://schemas.microsoft.com/office/powerpoint/2010/main" val="1489577687"/>
              </p:ext>
            </p:extLst>
          </p:nvPr>
        </p:nvGraphicFramePr>
        <p:xfrm>
          <a:off x="838199" y="1774444"/>
          <a:ext cx="10729512" cy="4951538"/>
        </p:xfrm>
        <a:graphic>
          <a:graphicData uri="http://schemas.openxmlformats.org/drawingml/2006/table">
            <a:tbl>
              <a:tblPr>
                <a:tableStyleId>{284E427A-3D55-4303-BF80-6455036E1DE7}</a:tableStyleId>
              </a:tblPr>
              <a:tblGrid>
                <a:gridCol w="2951603">
                  <a:extLst>
                    <a:ext uri="{9D8B030D-6E8A-4147-A177-3AD203B41FA5}">
                      <a16:colId xmlns:a16="http://schemas.microsoft.com/office/drawing/2014/main" val="1627838860"/>
                    </a:ext>
                  </a:extLst>
                </a:gridCol>
                <a:gridCol w="4201405">
                  <a:extLst>
                    <a:ext uri="{9D8B030D-6E8A-4147-A177-3AD203B41FA5}">
                      <a16:colId xmlns:a16="http://schemas.microsoft.com/office/drawing/2014/main" val="201947506"/>
                    </a:ext>
                  </a:extLst>
                </a:gridCol>
                <a:gridCol w="3576504">
                  <a:extLst>
                    <a:ext uri="{9D8B030D-6E8A-4147-A177-3AD203B41FA5}">
                      <a16:colId xmlns:a16="http://schemas.microsoft.com/office/drawing/2014/main" val="994696778"/>
                    </a:ext>
                  </a:extLst>
                </a:gridCol>
              </a:tblGrid>
              <a:tr h="607214">
                <a:tc>
                  <a:txBody>
                    <a:bodyPr/>
                    <a:lstStyle/>
                    <a:p>
                      <a:r>
                        <a:rPr lang="en-IN" sz="2000" b="1" dirty="0"/>
                        <a:t>Feature</a:t>
                      </a:r>
                    </a:p>
                  </a:txBody>
                  <a:tcPr anchor="ctr"/>
                </a:tc>
                <a:tc>
                  <a:txBody>
                    <a:bodyPr/>
                    <a:lstStyle/>
                    <a:p>
                      <a:r>
                        <a:rPr lang="en-US" sz="2000" b="1" dirty="0"/>
                        <a:t>Community Linux (e.g., Fedora)</a:t>
                      </a:r>
                    </a:p>
                  </a:txBody>
                  <a:tcPr anchor="ctr"/>
                </a:tc>
                <a:tc>
                  <a:txBody>
                    <a:bodyPr/>
                    <a:lstStyle/>
                    <a:p>
                      <a:r>
                        <a:rPr lang="de-DE" sz="2000" b="1" dirty="0"/>
                        <a:t>Red Hat Enterprise Linux (RHEL)</a:t>
                      </a:r>
                    </a:p>
                  </a:txBody>
                  <a:tcPr anchor="ctr"/>
                </a:tc>
                <a:extLst>
                  <a:ext uri="{0D108BD9-81ED-4DB2-BD59-A6C34878D82A}">
                    <a16:rowId xmlns:a16="http://schemas.microsoft.com/office/drawing/2014/main" val="3192673268"/>
                  </a:ext>
                </a:extLst>
              </a:tr>
              <a:tr h="607214">
                <a:tc>
                  <a:txBody>
                    <a:bodyPr/>
                    <a:lstStyle/>
                    <a:p>
                      <a:r>
                        <a:rPr lang="en-IN" sz="2000"/>
                        <a:t>Cost</a:t>
                      </a:r>
                    </a:p>
                  </a:txBody>
                  <a:tcPr anchor="ctr"/>
                </a:tc>
                <a:tc>
                  <a:txBody>
                    <a:bodyPr/>
                    <a:lstStyle/>
                    <a:p>
                      <a:r>
                        <a:rPr lang="en-IN" sz="2000"/>
                        <a:t>Free</a:t>
                      </a:r>
                    </a:p>
                  </a:txBody>
                  <a:tcPr anchor="ctr"/>
                </a:tc>
                <a:tc>
                  <a:txBody>
                    <a:bodyPr/>
                    <a:lstStyle/>
                    <a:p>
                      <a:r>
                        <a:rPr lang="en-IN" sz="2000"/>
                        <a:t>Subscription-based</a:t>
                      </a:r>
                    </a:p>
                  </a:txBody>
                  <a:tcPr anchor="ctr"/>
                </a:tc>
                <a:extLst>
                  <a:ext uri="{0D108BD9-81ED-4DB2-BD59-A6C34878D82A}">
                    <a16:rowId xmlns:a16="http://schemas.microsoft.com/office/drawing/2014/main" val="3299738899"/>
                  </a:ext>
                </a:extLst>
              </a:tr>
              <a:tr h="607214">
                <a:tc>
                  <a:txBody>
                    <a:bodyPr/>
                    <a:lstStyle/>
                    <a:p>
                      <a:r>
                        <a:rPr lang="en-IN" sz="2000"/>
                        <a:t>Source Code</a:t>
                      </a:r>
                    </a:p>
                  </a:txBody>
                  <a:tcPr anchor="ctr"/>
                </a:tc>
                <a:tc>
                  <a:txBody>
                    <a:bodyPr/>
                    <a:lstStyle/>
                    <a:p>
                      <a:r>
                        <a:rPr lang="en-IN" sz="2000"/>
                        <a:t>Open</a:t>
                      </a:r>
                    </a:p>
                  </a:txBody>
                  <a:tcPr anchor="ctr"/>
                </a:tc>
                <a:tc>
                  <a:txBody>
                    <a:bodyPr/>
                    <a:lstStyle/>
                    <a:p>
                      <a:r>
                        <a:rPr lang="en-IN" sz="2000"/>
                        <a:t>Open</a:t>
                      </a:r>
                    </a:p>
                  </a:txBody>
                  <a:tcPr anchor="ctr"/>
                </a:tc>
                <a:extLst>
                  <a:ext uri="{0D108BD9-81ED-4DB2-BD59-A6C34878D82A}">
                    <a16:rowId xmlns:a16="http://schemas.microsoft.com/office/drawing/2014/main" val="1041372837"/>
                  </a:ext>
                </a:extLst>
              </a:tr>
              <a:tr h="607214">
                <a:tc>
                  <a:txBody>
                    <a:bodyPr/>
                    <a:lstStyle/>
                    <a:p>
                      <a:r>
                        <a:rPr lang="en-IN" sz="2000"/>
                        <a:t>Technical Support</a:t>
                      </a:r>
                    </a:p>
                  </a:txBody>
                  <a:tcPr anchor="ctr"/>
                </a:tc>
                <a:tc>
                  <a:txBody>
                    <a:bodyPr/>
                    <a:lstStyle/>
                    <a:p>
                      <a:r>
                        <a:rPr lang="en-IN" sz="2000" dirty="0"/>
                        <a:t>Community</a:t>
                      </a:r>
                    </a:p>
                  </a:txBody>
                  <a:tcPr anchor="ctr"/>
                </a:tc>
                <a:tc>
                  <a:txBody>
                    <a:bodyPr/>
                    <a:lstStyle/>
                    <a:p>
                      <a:r>
                        <a:rPr lang="en-IN" sz="2000"/>
                        <a:t>Professional support</a:t>
                      </a:r>
                    </a:p>
                  </a:txBody>
                  <a:tcPr anchor="ctr"/>
                </a:tc>
                <a:extLst>
                  <a:ext uri="{0D108BD9-81ED-4DB2-BD59-A6C34878D82A}">
                    <a16:rowId xmlns:a16="http://schemas.microsoft.com/office/drawing/2014/main" val="1552252278"/>
                  </a:ext>
                </a:extLst>
              </a:tr>
              <a:tr h="607214">
                <a:tc>
                  <a:txBody>
                    <a:bodyPr/>
                    <a:lstStyle/>
                    <a:p>
                      <a:r>
                        <a:rPr lang="en-IN" sz="2000"/>
                        <a:t>Security Updates</a:t>
                      </a:r>
                    </a:p>
                  </a:txBody>
                  <a:tcPr anchor="ctr"/>
                </a:tc>
                <a:tc>
                  <a:txBody>
                    <a:bodyPr/>
                    <a:lstStyle/>
                    <a:p>
                      <a:r>
                        <a:rPr lang="en-IN" sz="2000"/>
                        <a:t>Community-driven</a:t>
                      </a:r>
                    </a:p>
                  </a:txBody>
                  <a:tcPr anchor="ctr"/>
                </a:tc>
                <a:tc>
                  <a:txBody>
                    <a:bodyPr/>
                    <a:lstStyle/>
                    <a:p>
                      <a:r>
                        <a:rPr lang="en-IN" sz="2000"/>
                        <a:t>Enterprise-tested</a:t>
                      </a:r>
                    </a:p>
                  </a:txBody>
                  <a:tcPr anchor="ctr"/>
                </a:tc>
                <a:extLst>
                  <a:ext uri="{0D108BD9-81ED-4DB2-BD59-A6C34878D82A}">
                    <a16:rowId xmlns:a16="http://schemas.microsoft.com/office/drawing/2014/main" val="764820253"/>
                  </a:ext>
                </a:extLst>
              </a:tr>
              <a:tr h="607214">
                <a:tc>
                  <a:txBody>
                    <a:bodyPr/>
                    <a:lstStyle/>
                    <a:p>
                      <a:r>
                        <a:rPr lang="en-IN" sz="2000"/>
                        <a:t>Long-Term Support</a:t>
                      </a:r>
                    </a:p>
                  </a:txBody>
                  <a:tcPr anchor="ctr"/>
                </a:tc>
                <a:tc>
                  <a:txBody>
                    <a:bodyPr/>
                    <a:lstStyle/>
                    <a:p>
                      <a:r>
                        <a:rPr lang="en-IN" sz="2000"/>
                        <a:t>Limited</a:t>
                      </a:r>
                    </a:p>
                  </a:txBody>
                  <a:tcPr anchor="ctr"/>
                </a:tc>
                <a:tc>
                  <a:txBody>
                    <a:bodyPr/>
                    <a:lstStyle/>
                    <a:p>
                      <a:r>
                        <a:rPr lang="en-IN" sz="2000"/>
                        <a:t>Long-term maintenance</a:t>
                      </a:r>
                    </a:p>
                  </a:txBody>
                  <a:tcPr anchor="ctr"/>
                </a:tc>
                <a:extLst>
                  <a:ext uri="{0D108BD9-81ED-4DB2-BD59-A6C34878D82A}">
                    <a16:rowId xmlns:a16="http://schemas.microsoft.com/office/drawing/2014/main" val="1282218183"/>
                  </a:ext>
                </a:extLst>
              </a:tr>
              <a:tr h="607214">
                <a:tc>
                  <a:txBody>
                    <a:bodyPr/>
                    <a:lstStyle/>
                    <a:p>
                      <a:r>
                        <a:rPr lang="en-IN" sz="2000"/>
                        <a:t>Certifications</a:t>
                      </a:r>
                    </a:p>
                  </a:txBody>
                  <a:tcPr anchor="ctr"/>
                </a:tc>
                <a:tc>
                  <a:txBody>
                    <a:bodyPr/>
                    <a:lstStyle/>
                    <a:p>
                      <a:r>
                        <a:rPr lang="en-IN" sz="2000"/>
                        <a:t>Limited</a:t>
                      </a:r>
                    </a:p>
                  </a:txBody>
                  <a:tcPr anchor="ctr"/>
                </a:tc>
                <a:tc>
                  <a:txBody>
                    <a:bodyPr/>
                    <a:lstStyle/>
                    <a:p>
                      <a:r>
                        <a:rPr lang="en-IN" sz="2000"/>
                        <a:t>Extensive enterprise certifications</a:t>
                      </a:r>
                    </a:p>
                  </a:txBody>
                  <a:tcPr anchor="ctr"/>
                </a:tc>
                <a:extLst>
                  <a:ext uri="{0D108BD9-81ED-4DB2-BD59-A6C34878D82A}">
                    <a16:rowId xmlns:a16="http://schemas.microsoft.com/office/drawing/2014/main" val="1419585944"/>
                  </a:ext>
                </a:extLst>
              </a:tr>
              <a:tr h="607214">
                <a:tc>
                  <a:txBody>
                    <a:bodyPr/>
                    <a:lstStyle/>
                    <a:p>
                      <a:r>
                        <a:rPr lang="en-IN" sz="2000"/>
                        <a:t>Suitable For</a:t>
                      </a:r>
                    </a:p>
                  </a:txBody>
                  <a:tcPr anchor="ctr"/>
                </a:tc>
                <a:tc>
                  <a:txBody>
                    <a:bodyPr/>
                    <a:lstStyle/>
                    <a:p>
                      <a:r>
                        <a:rPr lang="en-IN" sz="2000"/>
                        <a:t>Students, developers, hobbyists</a:t>
                      </a:r>
                    </a:p>
                  </a:txBody>
                  <a:tcPr anchor="ctr"/>
                </a:tc>
                <a:tc>
                  <a:txBody>
                    <a:bodyPr/>
                    <a:lstStyle/>
                    <a:p>
                      <a:r>
                        <a:rPr lang="en-IN" sz="2000" dirty="0"/>
                        <a:t>Businesses and enterprises</a:t>
                      </a:r>
                    </a:p>
                  </a:txBody>
                  <a:tcPr anchor="ctr"/>
                </a:tc>
                <a:extLst>
                  <a:ext uri="{0D108BD9-81ED-4DB2-BD59-A6C34878D82A}">
                    <a16:rowId xmlns:a16="http://schemas.microsoft.com/office/drawing/2014/main" val="1292621505"/>
                  </a:ext>
                </a:extLst>
              </a:tr>
            </a:tbl>
          </a:graphicData>
        </a:graphic>
      </p:graphicFrame>
    </p:spTree>
    <p:extLst>
      <p:ext uri="{BB962C8B-B14F-4D97-AF65-F5344CB8AC3E}">
        <p14:creationId xmlns:p14="http://schemas.microsoft.com/office/powerpoint/2010/main" val="19529629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Advantages of Red Hat's Business Model</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200" dirty="0"/>
              <a:t>Software remains open source.</a:t>
            </a:r>
          </a:p>
          <a:p>
            <a:pPr algn="just"/>
            <a:r>
              <a:rPr lang="en-US" sz="3200" dirty="0"/>
              <a:t>Stable recurring revenue through subscriptions.</a:t>
            </a:r>
          </a:p>
          <a:p>
            <a:pPr algn="just"/>
            <a:r>
              <a:rPr lang="en-US" sz="3200" dirty="0"/>
              <a:t>Strong trust among enterprise customers.</a:t>
            </a:r>
          </a:p>
          <a:p>
            <a:pPr algn="just"/>
            <a:r>
              <a:rPr lang="en-US" sz="3200" dirty="0"/>
              <a:t>Active contributions to the open-source community.</a:t>
            </a:r>
          </a:p>
          <a:p>
            <a:pPr algn="just"/>
            <a:r>
              <a:rPr lang="en-US" sz="3200" dirty="0"/>
              <a:t>Sustainable long-term development.</a:t>
            </a:r>
          </a:p>
          <a:p>
            <a:pPr algn="just"/>
            <a:r>
              <a:rPr lang="en-US" sz="3200" dirty="0"/>
              <a:t>Encourages innovation through community collaboration.</a:t>
            </a:r>
            <a:endParaRPr lang="en-IN" sz="3200" dirty="0"/>
          </a:p>
        </p:txBody>
      </p:sp>
    </p:spTree>
    <p:extLst>
      <p:ext uri="{BB962C8B-B14F-4D97-AF65-F5344CB8AC3E}">
        <p14:creationId xmlns:p14="http://schemas.microsoft.com/office/powerpoint/2010/main" val="36156335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Challenges</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IN" sz="3200" dirty="0"/>
              <a:t>Competition from free Linux distributions.</a:t>
            </a:r>
          </a:p>
          <a:p>
            <a:pPr algn="just"/>
            <a:r>
              <a:rPr lang="en-IN" sz="3200" dirty="0"/>
              <a:t>Competition from cloud providers offering managed Linux services.</a:t>
            </a:r>
          </a:p>
          <a:p>
            <a:pPr algn="just"/>
            <a:r>
              <a:rPr lang="en-IN" sz="3200" dirty="0"/>
              <a:t>Balancing community interests with commercial priorities.</a:t>
            </a:r>
          </a:p>
          <a:p>
            <a:pPr algn="just"/>
            <a:r>
              <a:rPr lang="en-IN" sz="3200" dirty="0"/>
              <a:t>Rapid technological changes in cloud and container ecosystems.</a:t>
            </a:r>
          </a:p>
          <a:p>
            <a:pPr algn="just"/>
            <a:r>
              <a:rPr lang="en-IN" sz="3200" dirty="0"/>
              <a:t>Maintaining compatibility across diverse enterprise environments.</a:t>
            </a:r>
          </a:p>
        </p:txBody>
      </p:sp>
    </p:spTree>
    <p:extLst>
      <p:ext uri="{BB962C8B-B14F-4D97-AF65-F5344CB8AC3E}">
        <p14:creationId xmlns:p14="http://schemas.microsoft.com/office/powerpoint/2010/main" val="25179475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a:t>Impact on the Open Source Ecosystem</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fontScale="92500" lnSpcReduction="10000"/>
          </a:bodyPr>
          <a:lstStyle/>
          <a:p>
            <a:pPr marL="0" indent="0" algn="just">
              <a:buNone/>
            </a:pPr>
            <a:r>
              <a:rPr lang="en-US" sz="3200" dirty="0"/>
              <a:t>Red Hat has significantly influenced open-source software by:</a:t>
            </a:r>
          </a:p>
          <a:p>
            <a:pPr algn="just">
              <a:buFont typeface="Arial" panose="020B0604020202020204" pitchFamily="34" charset="0"/>
              <a:buChar char="•"/>
            </a:pPr>
            <a:r>
              <a:rPr lang="en-US" sz="3200" dirty="0"/>
              <a:t>Demonstrating that open-source businesses can be profitable. </a:t>
            </a:r>
          </a:p>
          <a:p>
            <a:pPr algn="just">
              <a:buFont typeface="Arial" panose="020B0604020202020204" pitchFamily="34" charset="0"/>
              <a:buChar char="•"/>
            </a:pPr>
            <a:r>
              <a:rPr lang="en-US" sz="3200" dirty="0"/>
              <a:t>Employing engineers who contribute to major open-source projects. </a:t>
            </a:r>
          </a:p>
          <a:p>
            <a:pPr algn="just">
              <a:buFont typeface="Arial" panose="020B0604020202020204" pitchFamily="34" charset="0"/>
              <a:buChar char="•"/>
            </a:pPr>
            <a:r>
              <a:rPr lang="en-US" sz="3200" dirty="0"/>
              <a:t>Supporting Linux kernel development. </a:t>
            </a:r>
          </a:p>
          <a:p>
            <a:pPr algn="just">
              <a:buFont typeface="Arial" panose="020B0604020202020204" pitchFamily="34" charset="0"/>
              <a:buChar char="•"/>
            </a:pPr>
            <a:r>
              <a:rPr lang="en-US" sz="3200" dirty="0"/>
              <a:t>Advancing container and Kubernetes technologies. </a:t>
            </a:r>
          </a:p>
          <a:p>
            <a:pPr algn="just">
              <a:buFont typeface="Arial" panose="020B0604020202020204" pitchFamily="34" charset="0"/>
              <a:buChar char="•"/>
            </a:pPr>
            <a:r>
              <a:rPr lang="en-US" sz="3200" dirty="0"/>
              <a:t>Promoting enterprise adoption of Linux. </a:t>
            </a:r>
          </a:p>
          <a:p>
            <a:pPr algn="just">
              <a:buFont typeface="Arial" panose="020B0604020202020204" pitchFamily="34" charset="0"/>
              <a:buChar char="•"/>
            </a:pPr>
            <a:r>
              <a:rPr lang="en-US" sz="3200" dirty="0"/>
              <a:t>Providing professional training and certifications. </a:t>
            </a:r>
          </a:p>
          <a:p>
            <a:pPr marL="0" indent="0" algn="just">
              <a:buNone/>
            </a:pPr>
            <a:r>
              <a:rPr lang="en-US" sz="3200" dirty="0"/>
              <a:t>Its success has inspired many other companies to adopt open-source business models.</a:t>
            </a:r>
          </a:p>
        </p:txBody>
      </p:sp>
    </p:spTree>
    <p:extLst>
      <p:ext uri="{BB962C8B-B14F-4D97-AF65-F5344CB8AC3E}">
        <p14:creationId xmlns:p14="http://schemas.microsoft.com/office/powerpoint/2010/main" val="7716863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Canonical (Ubuntu)</a:t>
            </a:r>
            <a:endParaRPr lang="en-IN" b="1" dirty="0"/>
          </a:p>
        </p:txBody>
      </p:sp>
    </p:spTree>
    <p:extLst>
      <p:ext uri="{BB962C8B-B14F-4D97-AF65-F5344CB8AC3E}">
        <p14:creationId xmlns:p14="http://schemas.microsoft.com/office/powerpoint/2010/main" val="9891305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Canonical (Ubuntu)</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dirty="0"/>
              <a:t>Canonical Ltd. is the company behind the </a:t>
            </a:r>
            <a:r>
              <a:rPr lang="en-US" b="1" dirty="0"/>
              <a:t>Ubuntu Linux</a:t>
            </a:r>
            <a:r>
              <a:rPr lang="en-US" dirty="0"/>
              <a:t> operating system. Founded by </a:t>
            </a:r>
            <a:r>
              <a:rPr lang="en-US" b="1" dirty="0"/>
              <a:t>Mark Shuttleworth</a:t>
            </a:r>
            <a:r>
              <a:rPr lang="en-US" dirty="0"/>
              <a:t> in 2004, its mission is to make Linux easy to use for desktops, servers, cloud computing, and IoT devices.</a:t>
            </a:r>
          </a:p>
          <a:p>
            <a:pPr algn="just"/>
            <a:r>
              <a:rPr lang="en-US" dirty="0"/>
              <a:t>Ubuntu is freely available, but Canonical earns revenue by providing enterprise services.</a:t>
            </a:r>
          </a:p>
          <a:p>
            <a:pPr algn="just"/>
            <a:endParaRPr lang="en-IN" sz="3200" dirty="0"/>
          </a:p>
        </p:txBody>
      </p:sp>
    </p:spTree>
    <p:extLst>
      <p:ext uri="{BB962C8B-B14F-4D97-AF65-F5344CB8AC3E}">
        <p14:creationId xmlns:p14="http://schemas.microsoft.com/office/powerpoint/2010/main" val="34642553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Canonical (Ubuntu)</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marL="0" indent="0">
              <a:buNone/>
            </a:pPr>
            <a:r>
              <a:rPr lang="en-US" sz="3200" b="1" dirty="0"/>
              <a:t>Sources of Revenue</a:t>
            </a:r>
          </a:p>
          <a:p>
            <a:pPr lvl="1"/>
            <a:r>
              <a:rPr lang="en-US" sz="2800" dirty="0"/>
              <a:t>Ubuntu Pro subscriptions </a:t>
            </a:r>
          </a:p>
          <a:p>
            <a:pPr lvl="1"/>
            <a:r>
              <a:rPr lang="en-US" sz="2800" dirty="0"/>
              <a:t>Technical support (24×7) </a:t>
            </a:r>
          </a:p>
          <a:p>
            <a:pPr lvl="1"/>
            <a:r>
              <a:rPr lang="en-US" sz="2800" dirty="0"/>
              <a:t>Security updates and Extended Security Maintenance (ESM) </a:t>
            </a:r>
          </a:p>
          <a:p>
            <a:pPr lvl="1"/>
            <a:r>
              <a:rPr lang="en-US" sz="2800" dirty="0"/>
              <a:t>Cloud and Kubernetes consulting </a:t>
            </a:r>
          </a:p>
          <a:p>
            <a:pPr lvl="1"/>
            <a:r>
              <a:rPr lang="en-US" sz="2800" dirty="0"/>
              <a:t>Managed OpenStack services </a:t>
            </a:r>
          </a:p>
          <a:p>
            <a:pPr lvl="1"/>
            <a:r>
              <a:rPr lang="en-US" sz="2800" dirty="0"/>
              <a:t>IoT and embedded Linux solutions </a:t>
            </a:r>
          </a:p>
          <a:p>
            <a:pPr lvl="1"/>
            <a:r>
              <a:rPr lang="en-US" sz="2800" dirty="0"/>
              <a:t>Professional training</a:t>
            </a:r>
          </a:p>
          <a:p>
            <a:pPr algn="just"/>
            <a:endParaRPr lang="en-IN" sz="4400" dirty="0"/>
          </a:p>
        </p:txBody>
      </p:sp>
    </p:spTree>
    <p:extLst>
      <p:ext uri="{BB962C8B-B14F-4D97-AF65-F5344CB8AC3E}">
        <p14:creationId xmlns:p14="http://schemas.microsoft.com/office/powerpoint/2010/main" val="12104651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Canonical (Ubuntu)</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r>
              <a:rPr lang="en-US" sz="3600" b="1" dirty="0"/>
              <a:t>Why Customers Pay</a:t>
            </a:r>
          </a:p>
          <a:p>
            <a:pPr lvl="1"/>
            <a:r>
              <a:rPr lang="en-US" sz="2800" dirty="0"/>
              <a:t>Long-term security updates </a:t>
            </a:r>
          </a:p>
          <a:p>
            <a:pPr lvl="1"/>
            <a:r>
              <a:rPr lang="en-US" sz="2800" dirty="0"/>
              <a:t>Enterprise support </a:t>
            </a:r>
          </a:p>
          <a:p>
            <a:pPr lvl="1"/>
            <a:r>
              <a:rPr lang="en-US" sz="2800" dirty="0"/>
              <a:t>Cloud deployment assistance </a:t>
            </a:r>
          </a:p>
          <a:p>
            <a:pPr lvl="1"/>
            <a:r>
              <a:rPr lang="en-US" sz="2800" dirty="0"/>
              <a:t>Certified hardware compatibility </a:t>
            </a:r>
          </a:p>
          <a:p>
            <a:pPr lvl="1"/>
            <a:r>
              <a:rPr lang="en-US" sz="2800" dirty="0"/>
              <a:t>Reliable maintenance </a:t>
            </a:r>
          </a:p>
          <a:p>
            <a:r>
              <a:rPr lang="en-US" sz="3600" b="1" dirty="0"/>
              <a:t>Key Lesson</a:t>
            </a:r>
          </a:p>
          <a:p>
            <a:pPr lvl="1"/>
            <a:r>
              <a:rPr lang="en-US" sz="2800" b="1" dirty="0"/>
              <a:t>Software is free; enterprise services generate revenue.</a:t>
            </a:r>
            <a:endParaRPr lang="en-US" sz="2800" dirty="0"/>
          </a:p>
          <a:p>
            <a:pPr algn="just"/>
            <a:endParaRPr lang="en-IN" sz="4800" dirty="0"/>
          </a:p>
        </p:txBody>
      </p:sp>
    </p:spTree>
    <p:extLst>
      <p:ext uri="{BB962C8B-B14F-4D97-AF65-F5344CB8AC3E}">
        <p14:creationId xmlns:p14="http://schemas.microsoft.com/office/powerpoint/2010/main" val="34640670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GitLab</a:t>
            </a:r>
            <a:endParaRPr lang="en-IN" b="1" dirty="0"/>
          </a:p>
        </p:txBody>
      </p:sp>
    </p:spTree>
    <p:extLst>
      <p:ext uri="{BB962C8B-B14F-4D97-AF65-F5344CB8AC3E}">
        <p14:creationId xmlns:p14="http://schemas.microsoft.com/office/powerpoint/2010/main" val="4084872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GitLab</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sz="3200" dirty="0"/>
              <a:t>GitLab is an open-source DevOps platform that provides:</a:t>
            </a:r>
          </a:p>
          <a:p>
            <a:pPr lvl="1" algn="just"/>
            <a:r>
              <a:rPr lang="en-US" dirty="0"/>
              <a:t>Git repositories </a:t>
            </a:r>
          </a:p>
          <a:p>
            <a:pPr lvl="1" algn="just"/>
            <a:r>
              <a:rPr lang="en-US" dirty="0"/>
              <a:t>CI/CD pipelines </a:t>
            </a:r>
          </a:p>
          <a:p>
            <a:pPr lvl="1" algn="just"/>
            <a:r>
              <a:rPr lang="en-US" dirty="0"/>
              <a:t>Project management </a:t>
            </a:r>
          </a:p>
          <a:p>
            <a:pPr lvl="1" algn="just"/>
            <a:r>
              <a:rPr lang="en-US" dirty="0"/>
              <a:t>Security scanning </a:t>
            </a:r>
          </a:p>
          <a:p>
            <a:pPr lvl="1" algn="just"/>
            <a:r>
              <a:rPr lang="en-US" dirty="0"/>
              <a:t>Issue tracking </a:t>
            </a:r>
          </a:p>
          <a:p>
            <a:pPr algn="just"/>
            <a:r>
              <a:rPr lang="en-US" sz="3200" dirty="0"/>
              <a:t>GitLab offers both a Community Edition and commercial products.</a:t>
            </a:r>
          </a:p>
          <a:p>
            <a:pPr algn="just"/>
            <a:endParaRPr lang="en-IN" sz="4400" dirty="0"/>
          </a:p>
        </p:txBody>
      </p:sp>
    </p:spTree>
    <p:extLst>
      <p:ext uri="{BB962C8B-B14F-4D97-AF65-F5344CB8AC3E}">
        <p14:creationId xmlns:p14="http://schemas.microsoft.com/office/powerpoint/2010/main" val="29794264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GitLab</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531345"/>
            <a:ext cx="10515600" cy="5326655"/>
          </a:xfrm>
        </p:spPr>
        <p:txBody>
          <a:bodyPr>
            <a:normAutofit fontScale="92500" lnSpcReduction="10000"/>
          </a:bodyPr>
          <a:lstStyle/>
          <a:p>
            <a:r>
              <a:rPr lang="en-IN" b="1" dirty="0"/>
              <a:t>Sources of Revenue</a:t>
            </a:r>
          </a:p>
          <a:p>
            <a:pPr lvl="1"/>
            <a:r>
              <a:rPr lang="en-IN" sz="2800" dirty="0"/>
              <a:t>GitLab Premium </a:t>
            </a:r>
          </a:p>
          <a:p>
            <a:pPr lvl="1"/>
            <a:r>
              <a:rPr lang="en-IN" sz="2800" dirty="0"/>
              <a:t>GitLab Ultimate </a:t>
            </a:r>
          </a:p>
          <a:p>
            <a:pPr lvl="1"/>
            <a:r>
              <a:rPr lang="en-IN" sz="2800" dirty="0"/>
              <a:t>SaaS subscriptions </a:t>
            </a:r>
          </a:p>
          <a:p>
            <a:pPr lvl="1"/>
            <a:r>
              <a:rPr lang="en-IN" sz="2800" dirty="0"/>
              <a:t>Enterprise security tools </a:t>
            </a:r>
          </a:p>
          <a:p>
            <a:pPr lvl="1"/>
            <a:r>
              <a:rPr lang="en-IN" sz="2800" dirty="0"/>
              <a:t>Cloud-hosted DevOps platform </a:t>
            </a:r>
          </a:p>
          <a:p>
            <a:pPr lvl="1"/>
            <a:r>
              <a:rPr lang="en-IN" sz="2800" dirty="0"/>
              <a:t>Technical support </a:t>
            </a:r>
          </a:p>
          <a:p>
            <a:r>
              <a:rPr lang="en-IN" b="1" dirty="0"/>
              <a:t>Why Customers Pay</a:t>
            </a:r>
          </a:p>
          <a:p>
            <a:pPr lvl="1"/>
            <a:r>
              <a:rPr lang="en-IN" sz="2800" dirty="0"/>
              <a:t>Advanced security scanning </a:t>
            </a:r>
          </a:p>
          <a:p>
            <a:pPr lvl="1"/>
            <a:r>
              <a:rPr lang="en-IN" sz="2800" dirty="0"/>
              <a:t>Compliance features </a:t>
            </a:r>
          </a:p>
          <a:p>
            <a:pPr lvl="1"/>
            <a:r>
              <a:rPr lang="en-IN" sz="2800" dirty="0"/>
              <a:t>Portfolio management </a:t>
            </a:r>
          </a:p>
          <a:p>
            <a:pPr lvl="1"/>
            <a:r>
              <a:rPr lang="en-IN" sz="2800" dirty="0"/>
              <a:t>Enterprise integrations </a:t>
            </a:r>
          </a:p>
          <a:p>
            <a:pPr lvl="1"/>
            <a:r>
              <a:rPr lang="en-IN" sz="2800" dirty="0"/>
              <a:t>Priority technical support</a:t>
            </a:r>
          </a:p>
          <a:p>
            <a:pPr algn="just"/>
            <a:endParaRPr lang="en-IN" sz="4000" dirty="0"/>
          </a:p>
        </p:txBody>
      </p:sp>
    </p:spTree>
    <p:extLst>
      <p:ext uri="{BB962C8B-B14F-4D97-AF65-F5344CB8AC3E}">
        <p14:creationId xmlns:p14="http://schemas.microsoft.com/office/powerpoint/2010/main" val="5030098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GitLab</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531345"/>
            <a:ext cx="10515600" cy="5326655"/>
          </a:xfrm>
        </p:spPr>
        <p:txBody>
          <a:bodyPr>
            <a:normAutofit/>
          </a:bodyPr>
          <a:lstStyle/>
          <a:p>
            <a:pPr algn="just"/>
            <a:r>
              <a:rPr lang="en-US" sz="3600" b="1" dirty="0"/>
              <a:t>Business Model Used</a:t>
            </a:r>
          </a:p>
          <a:p>
            <a:pPr lvl="1" algn="just"/>
            <a:r>
              <a:rPr lang="en-US" sz="3200" dirty="0"/>
              <a:t>Open Core </a:t>
            </a:r>
          </a:p>
          <a:p>
            <a:pPr lvl="1" algn="just"/>
            <a:r>
              <a:rPr lang="en-US" sz="3200" dirty="0"/>
              <a:t>SaaS (Software as a Service) </a:t>
            </a:r>
          </a:p>
          <a:p>
            <a:pPr lvl="1" algn="just"/>
            <a:r>
              <a:rPr lang="en-US" sz="3200" dirty="0"/>
              <a:t>Enterprise Subscription </a:t>
            </a:r>
          </a:p>
          <a:p>
            <a:pPr algn="just"/>
            <a:r>
              <a:rPr lang="en-US" sz="3600" b="1" dirty="0"/>
              <a:t>Key Lesson</a:t>
            </a:r>
          </a:p>
          <a:p>
            <a:pPr lvl="1" algn="just"/>
            <a:r>
              <a:rPr lang="en-US" sz="3200" b="1" dirty="0"/>
              <a:t>The core platform is open source, while advanced enterprise capabilities are paid.</a:t>
            </a:r>
            <a:endParaRPr lang="en-US" sz="3200" dirty="0"/>
          </a:p>
        </p:txBody>
      </p:sp>
    </p:spTree>
    <p:extLst>
      <p:ext uri="{BB962C8B-B14F-4D97-AF65-F5344CB8AC3E}">
        <p14:creationId xmlns:p14="http://schemas.microsoft.com/office/powerpoint/2010/main" val="16063674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Docker</a:t>
            </a:r>
            <a:endParaRPr lang="en-IN" b="1" dirty="0"/>
          </a:p>
        </p:txBody>
      </p:sp>
    </p:spTree>
    <p:extLst>
      <p:ext uri="{BB962C8B-B14F-4D97-AF65-F5344CB8AC3E}">
        <p14:creationId xmlns:p14="http://schemas.microsoft.com/office/powerpoint/2010/main" val="4046772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Docker</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Autofit/>
          </a:bodyPr>
          <a:lstStyle/>
          <a:p>
            <a:pPr algn="just"/>
            <a:r>
              <a:rPr lang="en-US" dirty="0"/>
              <a:t>Docker popularized container technology and simplified application deployment.</a:t>
            </a:r>
          </a:p>
          <a:p>
            <a:pPr algn="just"/>
            <a:r>
              <a:rPr lang="en-US" dirty="0"/>
              <a:t>The Docker Engine is open source, but Docker Inc. offers commercial services for enterprises.</a:t>
            </a:r>
          </a:p>
          <a:p>
            <a:r>
              <a:rPr lang="en-US" b="1" dirty="0"/>
              <a:t>Sources of Revenue</a:t>
            </a:r>
          </a:p>
          <a:p>
            <a:pPr lvl="1"/>
            <a:r>
              <a:rPr lang="en-US" sz="2800" dirty="0"/>
              <a:t>Docker Pro subscriptions </a:t>
            </a:r>
          </a:p>
          <a:p>
            <a:pPr lvl="1"/>
            <a:r>
              <a:rPr lang="en-US" sz="2800" dirty="0"/>
              <a:t>Docker Team plans </a:t>
            </a:r>
          </a:p>
          <a:p>
            <a:pPr lvl="1"/>
            <a:r>
              <a:rPr lang="en-US" sz="2800" dirty="0"/>
              <a:t>Docker Business plans </a:t>
            </a:r>
          </a:p>
          <a:p>
            <a:pPr lvl="1"/>
            <a:r>
              <a:rPr lang="en-US" sz="2800" dirty="0"/>
              <a:t>Docker Hub premium features </a:t>
            </a:r>
          </a:p>
          <a:p>
            <a:pPr lvl="1"/>
            <a:r>
              <a:rPr lang="en-US" sz="2800" dirty="0"/>
              <a:t>Enterprise container management </a:t>
            </a:r>
          </a:p>
          <a:p>
            <a:pPr lvl="1"/>
            <a:r>
              <a:rPr lang="en-US" sz="2800" dirty="0"/>
              <a:t>Technical support</a:t>
            </a:r>
          </a:p>
          <a:p>
            <a:pPr algn="just"/>
            <a:endParaRPr lang="en-IN" dirty="0"/>
          </a:p>
        </p:txBody>
      </p:sp>
    </p:spTree>
    <p:extLst>
      <p:ext uri="{BB962C8B-B14F-4D97-AF65-F5344CB8AC3E}">
        <p14:creationId xmlns:p14="http://schemas.microsoft.com/office/powerpoint/2010/main" val="373261133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Docker</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344058"/>
            <a:ext cx="10515600" cy="5365213"/>
          </a:xfrm>
        </p:spPr>
        <p:txBody>
          <a:bodyPr>
            <a:noAutofit/>
          </a:bodyPr>
          <a:lstStyle/>
          <a:p>
            <a:pPr algn="just"/>
            <a:r>
              <a:rPr lang="en-US" b="1" dirty="0"/>
              <a:t>Why Customers Pay</a:t>
            </a:r>
          </a:p>
          <a:p>
            <a:pPr lvl="1" algn="just"/>
            <a:r>
              <a:rPr lang="en-US" dirty="0"/>
              <a:t>Private repositories </a:t>
            </a:r>
          </a:p>
          <a:p>
            <a:pPr lvl="1" algn="just"/>
            <a:r>
              <a:rPr lang="en-US" dirty="0"/>
              <a:t>Team collaboration </a:t>
            </a:r>
          </a:p>
          <a:p>
            <a:pPr lvl="1" algn="just"/>
            <a:r>
              <a:rPr lang="en-US" dirty="0"/>
              <a:t>Security scanning </a:t>
            </a:r>
          </a:p>
          <a:p>
            <a:pPr lvl="1" algn="just"/>
            <a:r>
              <a:rPr lang="en-US" dirty="0"/>
              <a:t>Image management </a:t>
            </a:r>
          </a:p>
          <a:p>
            <a:pPr lvl="1" algn="just"/>
            <a:r>
              <a:rPr lang="en-US" dirty="0"/>
              <a:t>Enterprise administration </a:t>
            </a:r>
          </a:p>
          <a:p>
            <a:pPr algn="just"/>
            <a:r>
              <a:rPr lang="en-US" b="1" dirty="0"/>
              <a:t>Business Model Used</a:t>
            </a:r>
          </a:p>
          <a:p>
            <a:pPr lvl="1" algn="just"/>
            <a:r>
              <a:rPr lang="en-US" dirty="0"/>
              <a:t>Open Core </a:t>
            </a:r>
          </a:p>
          <a:p>
            <a:pPr lvl="1" algn="just"/>
            <a:r>
              <a:rPr lang="en-US" dirty="0"/>
              <a:t>SaaS </a:t>
            </a:r>
          </a:p>
          <a:p>
            <a:pPr lvl="1" algn="just"/>
            <a:r>
              <a:rPr lang="en-US" dirty="0"/>
              <a:t>Subscription </a:t>
            </a:r>
          </a:p>
          <a:p>
            <a:pPr algn="just"/>
            <a:r>
              <a:rPr lang="en-US" b="1" dirty="0"/>
              <a:t>Key Lesson</a:t>
            </a:r>
          </a:p>
          <a:p>
            <a:pPr lvl="1" algn="just"/>
            <a:r>
              <a:rPr lang="en-US" b="1" dirty="0"/>
              <a:t>Free development tools encourage adoption, while premium collaboration and management tools generate income.</a:t>
            </a:r>
            <a:endParaRPr lang="en-US" dirty="0"/>
          </a:p>
          <a:p>
            <a:pPr algn="just"/>
            <a:endParaRPr lang="en-IN" dirty="0"/>
          </a:p>
        </p:txBody>
      </p:sp>
    </p:spTree>
    <p:extLst>
      <p:ext uri="{BB962C8B-B14F-4D97-AF65-F5344CB8AC3E}">
        <p14:creationId xmlns:p14="http://schemas.microsoft.com/office/powerpoint/2010/main" val="268714319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MongoDB</a:t>
            </a:r>
            <a:endParaRPr lang="en-IN" b="1" dirty="0"/>
          </a:p>
        </p:txBody>
      </p:sp>
    </p:spTree>
    <p:extLst>
      <p:ext uri="{BB962C8B-B14F-4D97-AF65-F5344CB8AC3E}">
        <p14:creationId xmlns:p14="http://schemas.microsoft.com/office/powerpoint/2010/main" val="19892065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MongoDB</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792573"/>
            <a:ext cx="10515600" cy="4784495"/>
          </a:xfrm>
        </p:spPr>
        <p:txBody>
          <a:bodyPr>
            <a:normAutofit lnSpcReduction="10000"/>
          </a:bodyPr>
          <a:lstStyle/>
          <a:p>
            <a:pPr algn="just"/>
            <a:r>
              <a:rPr lang="en-US" sz="3200" dirty="0"/>
              <a:t>MongoDB is one of the world's most popular NoSQL databases.</a:t>
            </a:r>
          </a:p>
          <a:p>
            <a:pPr algn="just"/>
            <a:r>
              <a:rPr lang="en-US" sz="3200" dirty="0"/>
              <a:t>The Community Edition is free, while MongoDB Inc. provides enterprise products and cloud services.</a:t>
            </a:r>
          </a:p>
          <a:p>
            <a:pPr algn="just"/>
            <a:r>
              <a:rPr lang="en-US" sz="3200" b="1" dirty="0"/>
              <a:t>Sources of Revenue</a:t>
            </a:r>
          </a:p>
          <a:p>
            <a:pPr lvl="1" algn="just"/>
            <a:r>
              <a:rPr lang="en-US" sz="3200" dirty="0"/>
              <a:t>MongoDB Atlas (Managed Cloud Database) </a:t>
            </a:r>
          </a:p>
          <a:p>
            <a:pPr lvl="1" algn="just"/>
            <a:r>
              <a:rPr lang="en-US" sz="3200" dirty="0"/>
              <a:t>Enterprise Advanced </a:t>
            </a:r>
          </a:p>
          <a:p>
            <a:pPr lvl="1" algn="just"/>
            <a:r>
              <a:rPr lang="en-US" sz="3200" dirty="0"/>
              <a:t>Technical support </a:t>
            </a:r>
          </a:p>
          <a:p>
            <a:pPr lvl="1" algn="just"/>
            <a:r>
              <a:rPr lang="en-US" sz="3200" dirty="0"/>
              <a:t>Database consulting </a:t>
            </a:r>
          </a:p>
          <a:p>
            <a:pPr lvl="1" algn="just"/>
            <a:r>
              <a:rPr lang="en-US" sz="3200" dirty="0"/>
              <a:t>Professional training</a:t>
            </a:r>
          </a:p>
          <a:p>
            <a:pPr algn="just"/>
            <a:endParaRPr lang="en-IN" sz="3200" dirty="0"/>
          </a:p>
        </p:txBody>
      </p:sp>
    </p:spTree>
    <p:extLst>
      <p:ext uri="{BB962C8B-B14F-4D97-AF65-F5344CB8AC3E}">
        <p14:creationId xmlns:p14="http://schemas.microsoft.com/office/powerpoint/2010/main" val="399609338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MongoDB</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410160"/>
            <a:ext cx="10515600" cy="5199960"/>
          </a:xfrm>
        </p:spPr>
        <p:txBody>
          <a:bodyPr>
            <a:normAutofit fontScale="92500" lnSpcReduction="10000"/>
          </a:bodyPr>
          <a:lstStyle/>
          <a:p>
            <a:r>
              <a:rPr lang="en-US" sz="3200" b="1" dirty="0"/>
              <a:t>Why Customers Pay</a:t>
            </a:r>
          </a:p>
          <a:p>
            <a:pPr lvl="1"/>
            <a:r>
              <a:rPr lang="en-US" dirty="0"/>
              <a:t>Automatic backups </a:t>
            </a:r>
          </a:p>
          <a:p>
            <a:pPr lvl="1"/>
            <a:r>
              <a:rPr lang="en-US" dirty="0"/>
              <a:t>Monitoring </a:t>
            </a:r>
          </a:p>
          <a:p>
            <a:pPr lvl="1"/>
            <a:r>
              <a:rPr lang="en-US" dirty="0"/>
              <a:t>High availability </a:t>
            </a:r>
          </a:p>
          <a:p>
            <a:pPr lvl="1"/>
            <a:r>
              <a:rPr lang="en-US" dirty="0"/>
              <a:t>Cloud scalability </a:t>
            </a:r>
          </a:p>
          <a:p>
            <a:pPr lvl="1"/>
            <a:r>
              <a:rPr lang="en-US" dirty="0"/>
              <a:t>Security </a:t>
            </a:r>
          </a:p>
          <a:p>
            <a:pPr lvl="1"/>
            <a:r>
              <a:rPr lang="en-US" dirty="0"/>
              <a:t>Reduced administration effort </a:t>
            </a:r>
          </a:p>
          <a:p>
            <a:r>
              <a:rPr lang="en-US" sz="3200" b="1" dirty="0"/>
              <a:t>Business Model Used</a:t>
            </a:r>
          </a:p>
          <a:p>
            <a:pPr lvl="1"/>
            <a:r>
              <a:rPr lang="en-US" dirty="0"/>
              <a:t>Managed Cloud Service </a:t>
            </a:r>
          </a:p>
          <a:p>
            <a:pPr lvl="1"/>
            <a:r>
              <a:rPr lang="en-US" dirty="0"/>
              <a:t>Enterprise Subscription </a:t>
            </a:r>
          </a:p>
          <a:p>
            <a:pPr lvl="1"/>
            <a:r>
              <a:rPr lang="en-US" dirty="0"/>
              <a:t>SaaS </a:t>
            </a:r>
          </a:p>
          <a:p>
            <a:r>
              <a:rPr lang="en-US" sz="3200" b="1" dirty="0"/>
              <a:t>Key Lesson</a:t>
            </a:r>
          </a:p>
          <a:p>
            <a:pPr lvl="1"/>
            <a:r>
              <a:rPr lang="en-US" b="1" dirty="0"/>
              <a:t>Managing a database in the cloud is often more valuable to customers than installing it themselves.</a:t>
            </a:r>
            <a:endParaRPr lang="en-US" dirty="0"/>
          </a:p>
          <a:p>
            <a:pPr algn="just"/>
            <a:endParaRPr lang="en-IN" sz="4400" dirty="0"/>
          </a:p>
        </p:txBody>
      </p:sp>
    </p:spTree>
    <p:extLst>
      <p:ext uri="{BB962C8B-B14F-4D97-AF65-F5344CB8AC3E}">
        <p14:creationId xmlns:p14="http://schemas.microsoft.com/office/powerpoint/2010/main" val="18820731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err="1"/>
              <a:t>Automattic</a:t>
            </a:r>
            <a:r>
              <a:rPr lang="en-US" b="1" dirty="0"/>
              <a:t> (WordPress)</a:t>
            </a:r>
            <a:endParaRPr lang="en-IN" b="1" dirty="0"/>
          </a:p>
        </p:txBody>
      </p:sp>
    </p:spTree>
    <p:extLst>
      <p:ext uri="{BB962C8B-B14F-4D97-AF65-F5344CB8AC3E}">
        <p14:creationId xmlns:p14="http://schemas.microsoft.com/office/powerpoint/2010/main" val="303962529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err="1"/>
              <a:t>Automattic</a:t>
            </a:r>
            <a:r>
              <a:rPr lang="en-US" b="1" dirty="0"/>
              <a:t> (WordPress)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lnSpcReduction="10000"/>
          </a:bodyPr>
          <a:lstStyle/>
          <a:p>
            <a:pPr algn="just"/>
            <a:r>
              <a:rPr lang="en-US" dirty="0" err="1"/>
              <a:t>Automattic</a:t>
            </a:r>
            <a:r>
              <a:rPr lang="en-US" dirty="0"/>
              <a:t> is the company behind WordPress.com and contributes significantly to the WordPress open-source ecosystem.</a:t>
            </a:r>
          </a:p>
          <a:p>
            <a:pPr algn="just"/>
            <a:r>
              <a:rPr lang="en-US" dirty="0"/>
              <a:t>The WordPress software can be downloaded and self-hosted for free.</a:t>
            </a:r>
          </a:p>
          <a:p>
            <a:pPr algn="just"/>
            <a:r>
              <a:rPr lang="en-US" b="1" dirty="0"/>
              <a:t>Sources of Revenue</a:t>
            </a:r>
          </a:p>
          <a:p>
            <a:pPr lvl="1" algn="just"/>
            <a:r>
              <a:rPr lang="en-US" sz="2800" dirty="0"/>
              <a:t>WordPress.com hosting </a:t>
            </a:r>
          </a:p>
          <a:p>
            <a:pPr lvl="1" algn="just"/>
            <a:r>
              <a:rPr lang="en-US" sz="2800" dirty="0"/>
              <a:t>Premium themes </a:t>
            </a:r>
          </a:p>
          <a:p>
            <a:pPr lvl="1" algn="just"/>
            <a:r>
              <a:rPr lang="en-US" sz="2800" dirty="0"/>
              <a:t>Domain registration </a:t>
            </a:r>
          </a:p>
          <a:p>
            <a:pPr lvl="1" algn="just"/>
            <a:r>
              <a:rPr lang="en-US" sz="2800" dirty="0"/>
              <a:t>Website security </a:t>
            </a:r>
          </a:p>
          <a:p>
            <a:pPr lvl="1" algn="just"/>
            <a:r>
              <a:rPr lang="en-US" sz="2800" dirty="0"/>
              <a:t>Backup services </a:t>
            </a:r>
          </a:p>
          <a:p>
            <a:pPr lvl="1" algn="just"/>
            <a:r>
              <a:rPr lang="en-US" sz="2800" dirty="0"/>
              <a:t>E-commerce features </a:t>
            </a:r>
          </a:p>
          <a:p>
            <a:pPr lvl="1" algn="just"/>
            <a:r>
              <a:rPr lang="en-US" sz="2800" dirty="0"/>
              <a:t>Business plans</a:t>
            </a:r>
          </a:p>
          <a:p>
            <a:pPr algn="just"/>
            <a:endParaRPr lang="en-IN" dirty="0"/>
          </a:p>
        </p:txBody>
      </p:sp>
    </p:spTree>
    <p:extLst>
      <p:ext uri="{BB962C8B-B14F-4D97-AF65-F5344CB8AC3E}">
        <p14:creationId xmlns:p14="http://schemas.microsoft.com/office/powerpoint/2010/main" val="10839418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US" b="1" dirty="0" err="1"/>
              <a:t>Automattic</a:t>
            </a:r>
            <a:r>
              <a:rPr lang="en-US" b="1" dirty="0"/>
              <a:t> (WordPress)</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586430"/>
            <a:ext cx="10515600" cy="5023690"/>
          </a:xfrm>
        </p:spPr>
        <p:txBody>
          <a:bodyPr>
            <a:normAutofit lnSpcReduction="10000"/>
          </a:bodyPr>
          <a:lstStyle/>
          <a:p>
            <a:pPr algn="just"/>
            <a:r>
              <a:rPr lang="en-US" b="1" dirty="0"/>
              <a:t>Why Customers Pay</a:t>
            </a:r>
          </a:p>
          <a:p>
            <a:pPr lvl="1" algn="just"/>
            <a:r>
              <a:rPr lang="en-US" dirty="0"/>
              <a:t>Easy website management </a:t>
            </a:r>
          </a:p>
          <a:p>
            <a:pPr lvl="1" algn="just"/>
            <a:r>
              <a:rPr lang="en-US" dirty="0"/>
              <a:t>No server maintenance </a:t>
            </a:r>
          </a:p>
          <a:p>
            <a:pPr lvl="1" algn="just"/>
            <a:r>
              <a:rPr lang="en-US" dirty="0"/>
              <a:t>Professional themes </a:t>
            </a:r>
          </a:p>
          <a:p>
            <a:pPr lvl="1" algn="just"/>
            <a:r>
              <a:rPr lang="en-US" dirty="0"/>
              <a:t>Automatic updates </a:t>
            </a:r>
          </a:p>
          <a:p>
            <a:pPr lvl="1" algn="just"/>
            <a:r>
              <a:rPr lang="en-US" dirty="0"/>
              <a:t>Technical support </a:t>
            </a:r>
          </a:p>
          <a:p>
            <a:pPr algn="just"/>
            <a:r>
              <a:rPr lang="en-US" b="1" dirty="0"/>
              <a:t>Business Model Used</a:t>
            </a:r>
          </a:p>
          <a:p>
            <a:pPr lvl="1" algn="just"/>
            <a:r>
              <a:rPr lang="en-US" dirty="0"/>
              <a:t>Managed Hosting </a:t>
            </a:r>
          </a:p>
          <a:p>
            <a:pPr lvl="1" algn="just"/>
            <a:r>
              <a:rPr lang="en-US" dirty="0"/>
              <a:t>SaaS </a:t>
            </a:r>
          </a:p>
          <a:p>
            <a:pPr lvl="1" algn="just"/>
            <a:r>
              <a:rPr lang="en-US" dirty="0"/>
              <a:t>Subscription </a:t>
            </a:r>
          </a:p>
          <a:p>
            <a:pPr algn="just"/>
            <a:r>
              <a:rPr lang="en-US" b="1" dirty="0"/>
              <a:t>Key Lesson</a:t>
            </a:r>
          </a:p>
          <a:p>
            <a:pPr lvl="1" algn="just"/>
            <a:r>
              <a:rPr lang="en-US" b="1" dirty="0"/>
              <a:t>Many users prefer paying for convenience rather than managing servers themselves.</a:t>
            </a:r>
            <a:endParaRPr lang="en-US" dirty="0"/>
          </a:p>
          <a:p>
            <a:pPr algn="just"/>
            <a:endParaRPr lang="en-IN" dirty="0"/>
          </a:p>
        </p:txBody>
      </p:sp>
    </p:spTree>
    <p:extLst>
      <p:ext uri="{BB962C8B-B14F-4D97-AF65-F5344CB8AC3E}">
        <p14:creationId xmlns:p14="http://schemas.microsoft.com/office/powerpoint/2010/main" val="31930943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a:t>Elastic</a:t>
            </a:r>
            <a:endParaRPr lang="en-IN" b="1" dirty="0"/>
          </a:p>
        </p:txBody>
      </p:sp>
    </p:spTree>
    <p:extLst>
      <p:ext uri="{BB962C8B-B14F-4D97-AF65-F5344CB8AC3E}">
        <p14:creationId xmlns:p14="http://schemas.microsoft.com/office/powerpoint/2010/main" val="19500527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Elastic</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dirty="0"/>
              <a:t>Elastic develops Elasticsearch, a distributed search and analytics engine widely used for log analysis, search, and observability.</a:t>
            </a:r>
          </a:p>
          <a:p>
            <a:pPr algn="just"/>
            <a:r>
              <a:rPr lang="en-US" b="1" dirty="0"/>
              <a:t>Sources of Revenue</a:t>
            </a:r>
          </a:p>
          <a:p>
            <a:pPr lvl="1" algn="just"/>
            <a:r>
              <a:rPr lang="en-US" sz="2800" dirty="0"/>
              <a:t>Elastic Cloud subscriptions </a:t>
            </a:r>
          </a:p>
          <a:p>
            <a:pPr lvl="1" algn="just"/>
            <a:r>
              <a:rPr lang="en-US" sz="2800" dirty="0"/>
              <a:t>Enterprise search </a:t>
            </a:r>
          </a:p>
          <a:p>
            <a:pPr lvl="1" algn="just"/>
            <a:r>
              <a:rPr lang="en-US" sz="2800" dirty="0"/>
              <a:t>Security features </a:t>
            </a:r>
          </a:p>
          <a:p>
            <a:pPr lvl="1" algn="just"/>
            <a:r>
              <a:rPr lang="en-US" sz="2800" dirty="0"/>
              <a:t>Observability platform </a:t>
            </a:r>
          </a:p>
          <a:p>
            <a:pPr lvl="1" algn="just"/>
            <a:r>
              <a:rPr lang="en-US" sz="2800" dirty="0"/>
              <a:t>Technical support </a:t>
            </a:r>
          </a:p>
          <a:p>
            <a:pPr lvl="1" algn="just"/>
            <a:r>
              <a:rPr lang="en-US" sz="2800" dirty="0"/>
              <a:t>Consulting services</a:t>
            </a:r>
          </a:p>
          <a:p>
            <a:pPr algn="just"/>
            <a:endParaRPr lang="en-IN" dirty="0"/>
          </a:p>
        </p:txBody>
      </p:sp>
    </p:spTree>
    <p:extLst>
      <p:ext uri="{BB962C8B-B14F-4D97-AF65-F5344CB8AC3E}">
        <p14:creationId xmlns:p14="http://schemas.microsoft.com/office/powerpoint/2010/main" val="306356038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a:t>Elastic</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5032376"/>
          </a:xfrm>
        </p:spPr>
        <p:txBody>
          <a:bodyPr>
            <a:normAutofit fontScale="92500" lnSpcReduction="10000"/>
          </a:bodyPr>
          <a:lstStyle/>
          <a:p>
            <a:r>
              <a:rPr lang="en-US" sz="3200" b="1" dirty="0"/>
              <a:t>Why Customers Pay</a:t>
            </a:r>
          </a:p>
          <a:p>
            <a:pPr lvl="1"/>
            <a:r>
              <a:rPr lang="en-US" sz="2800" dirty="0"/>
              <a:t>Managed cloud deployment </a:t>
            </a:r>
          </a:p>
          <a:p>
            <a:pPr lvl="1"/>
            <a:r>
              <a:rPr lang="en-US" sz="2800" dirty="0"/>
              <a:t>Advanced analytics </a:t>
            </a:r>
          </a:p>
          <a:p>
            <a:pPr lvl="1"/>
            <a:r>
              <a:rPr lang="en-US" sz="2800" dirty="0"/>
              <a:t>Security and compliance </a:t>
            </a:r>
          </a:p>
          <a:p>
            <a:pPr lvl="1"/>
            <a:r>
              <a:rPr lang="en-US" sz="2800" dirty="0"/>
              <a:t>Enterprise support </a:t>
            </a:r>
          </a:p>
          <a:p>
            <a:r>
              <a:rPr lang="en-US" sz="3200" b="1" dirty="0"/>
              <a:t>Business Model Used</a:t>
            </a:r>
          </a:p>
          <a:p>
            <a:pPr lvl="1"/>
            <a:r>
              <a:rPr lang="en-US" sz="2800" dirty="0"/>
              <a:t>Open Core </a:t>
            </a:r>
          </a:p>
          <a:p>
            <a:pPr lvl="1"/>
            <a:r>
              <a:rPr lang="en-US" sz="2800" dirty="0"/>
              <a:t>Cloud Services </a:t>
            </a:r>
          </a:p>
          <a:p>
            <a:pPr lvl="1"/>
            <a:r>
              <a:rPr lang="en-US" sz="2800" dirty="0"/>
              <a:t>Subscription </a:t>
            </a:r>
          </a:p>
          <a:p>
            <a:r>
              <a:rPr lang="en-US" sz="3200" b="1" dirty="0"/>
              <a:t>Key Lesson</a:t>
            </a:r>
          </a:p>
          <a:p>
            <a:pPr lvl="1"/>
            <a:r>
              <a:rPr lang="en-US" sz="2800" b="1" dirty="0"/>
              <a:t>Cloud-hosted services and advanced enterprise features are major revenue drivers.</a:t>
            </a:r>
            <a:endParaRPr lang="en-IN" sz="3200" dirty="0"/>
          </a:p>
        </p:txBody>
      </p:sp>
    </p:spTree>
    <p:extLst>
      <p:ext uri="{BB962C8B-B14F-4D97-AF65-F5344CB8AC3E}">
        <p14:creationId xmlns:p14="http://schemas.microsoft.com/office/powerpoint/2010/main" val="24477325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552594"/>
            <a:ext cx="10515600" cy="3526182"/>
          </a:xfrm>
        </p:spPr>
        <p:txBody>
          <a:bodyPr>
            <a:normAutofit/>
          </a:bodyPr>
          <a:lstStyle/>
          <a:p>
            <a:pPr algn="ctr"/>
            <a:r>
              <a:rPr lang="en-US" b="1" dirty="0"/>
              <a:t>Case Study</a:t>
            </a:r>
            <a:br>
              <a:rPr lang="en-US" b="1" dirty="0"/>
            </a:br>
            <a:br>
              <a:rPr lang="en-US" b="1" dirty="0"/>
            </a:br>
            <a:r>
              <a:rPr lang="en-US" b="1" dirty="0" err="1"/>
              <a:t>HashiCorp</a:t>
            </a:r>
            <a:endParaRPr lang="en-IN" b="1" dirty="0"/>
          </a:p>
        </p:txBody>
      </p:sp>
    </p:spTree>
    <p:extLst>
      <p:ext uri="{BB962C8B-B14F-4D97-AF65-F5344CB8AC3E}">
        <p14:creationId xmlns:p14="http://schemas.microsoft.com/office/powerpoint/2010/main" val="36823703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err="1"/>
              <a:t>HashiCorp</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4784495"/>
          </a:xfrm>
        </p:spPr>
        <p:txBody>
          <a:bodyPr>
            <a:normAutofit/>
          </a:bodyPr>
          <a:lstStyle/>
          <a:p>
            <a:pPr algn="just"/>
            <a:r>
              <a:rPr lang="en-US" dirty="0" err="1"/>
              <a:t>HashiCorp</a:t>
            </a:r>
            <a:r>
              <a:rPr lang="en-US" dirty="0"/>
              <a:t> develops infrastructure automation tools such as Terraform, Vault, Consul, and Nomad, widely used in cloud computing and DevOps.</a:t>
            </a:r>
          </a:p>
          <a:p>
            <a:pPr algn="just"/>
            <a:r>
              <a:rPr lang="en-US" b="1" dirty="0"/>
              <a:t>Sources of Revenue</a:t>
            </a:r>
          </a:p>
          <a:p>
            <a:pPr lvl="1" algn="just"/>
            <a:r>
              <a:rPr lang="en-US" sz="2800" dirty="0"/>
              <a:t>Enterprise editions </a:t>
            </a:r>
          </a:p>
          <a:p>
            <a:pPr lvl="1" algn="just"/>
            <a:r>
              <a:rPr lang="en-US" sz="2800" dirty="0" err="1"/>
              <a:t>HashiCorp</a:t>
            </a:r>
            <a:r>
              <a:rPr lang="en-US" sz="2800" dirty="0"/>
              <a:t> Cloud Platform (HCP) </a:t>
            </a:r>
          </a:p>
          <a:p>
            <a:pPr lvl="1" algn="just"/>
            <a:r>
              <a:rPr lang="en-US" sz="2800" dirty="0"/>
              <a:t>Security features </a:t>
            </a:r>
          </a:p>
          <a:p>
            <a:pPr lvl="1" algn="just"/>
            <a:r>
              <a:rPr lang="en-US" sz="2800" dirty="0"/>
              <a:t>Enterprise support </a:t>
            </a:r>
          </a:p>
          <a:p>
            <a:pPr lvl="1" algn="just"/>
            <a:r>
              <a:rPr lang="en-US" sz="2800" dirty="0"/>
              <a:t>Consulting and training</a:t>
            </a:r>
          </a:p>
        </p:txBody>
      </p:sp>
    </p:spTree>
    <p:extLst>
      <p:ext uri="{BB962C8B-B14F-4D97-AF65-F5344CB8AC3E}">
        <p14:creationId xmlns:p14="http://schemas.microsoft.com/office/powerpoint/2010/main" val="52394370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dirty="0" err="1"/>
              <a:t>HashiCorp</a:t>
            </a:r>
            <a:endParaRPr lang="en-IN" b="1"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a:xfrm>
            <a:off x="838200" y="1825624"/>
            <a:ext cx="10515600" cy="5032376"/>
          </a:xfrm>
        </p:spPr>
        <p:txBody>
          <a:bodyPr>
            <a:normAutofit lnSpcReduction="10000"/>
          </a:bodyPr>
          <a:lstStyle/>
          <a:p>
            <a:pPr algn="just"/>
            <a:r>
              <a:rPr lang="en-US" b="1" dirty="0"/>
              <a:t>Why Customers Pay</a:t>
            </a:r>
          </a:p>
          <a:p>
            <a:pPr lvl="1" algn="just"/>
            <a:r>
              <a:rPr lang="en-US" dirty="0"/>
              <a:t>Multi-cloud management </a:t>
            </a:r>
          </a:p>
          <a:p>
            <a:pPr lvl="1" algn="just"/>
            <a:r>
              <a:rPr lang="en-US" dirty="0"/>
              <a:t>Identity and security </a:t>
            </a:r>
          </a:p>
          <a:p>
            <a:pPr lvl="1" algn="just"/>
            <a:r>
              <a:rPr lang="en-US" dirty="0"/>
              <a:t>Team collaboration </a:t>
            </a:r>
          </a:p>
          <a:p>
            <a:pPr lvl="1" algn="just"/>
            <a:r>
              <a:rPr lang="en-US" dirty="0"/>
              <a:t>Governance </a:t>
            </a:r>
          </a:p>
          <a:p>
            <a:pPr lvl="1" algn="just"/>
            <a:r>
              <a:rPr lang="en-US" dirty="0"/>
              <a:t>Compliance </a:t>
            </a:r>
          </a:p>
          <a:p>
            <a:pPr algn="just"/>
            <a:r>
              <a:rPr lang="en-US" b="1" dirty="0"/>
              <a:t>Business Model Used</a:t>
            </a:r>
          </a:p>
          <a:p>
            <a:pPr lvl="1" algn="just"/>
            <a:r>
              <a:rPr lang="en-US" dirty="0"/>
              <a:t>Enterprise Subscription </a:t>
            </a:r>
          </a:p>
          <a:p>
            <a:pPr lvl="1" algn="just"/>
            <a:r>
              <a:rPr lang="en-US" dirty="0"/>
              <a:t>SaaS </a:t>
            </a:r>
          </a:p>
          <a:p>
            <a:pPr lvl="1" algn="just"/>
            <a:r>
              <a:rPr lang="en-US" dirty="0"/>
              <a:t>Managed Cloud Services </a:t>
            </a:r>
          </a:p>
          <a:p>
            <a:pPr algn="just"/>
            <a:r>
              <a:rPr lang="en-US" b="1" dirty="0"/>
              <a:t>Key Lesson</a:t>
            </a:r>
          </a:p>
          <a:p>
            <a:pPr lvl="1" algn="just"/>
            <a:r>
              <a:rPr lang="en-US" b="1" dirty="0"/>
              <a:t>Infrastructure automation tools become commercially valuable when combined with enterprise management and cloud services.</a:t>
            </a:r>
            <a:endParaRPr lang="en-US" sz="2800" dirty="0"/>
          </a:p>
        </p:txBody>
      </p:sp>
    </p:spTree>
    <p:extLst>
      <p:ext uri="{BB962C8B-B14F-4D97-AF65-F5344CB8AC3E}">
        <p14:creationId xmlns:p14="http://schemas.microsoft.com/office/powerpoint/2010/main" val="35779942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2678667"/>
            <a:ext cx="10515600" cy="1325563"/>
          </a:xfrm>
        </p:spPr>
        <p:txBody>
          <a:bodyPr/>
          <a:lstStyle/>
          <a:p>
            <a:pPr algn="just"/>
            <a:r>
              <a:rPr lang="en-US" b="1" dirty="0"/>
              <a:t>Comparative Summary of Open Source Business Models</a:t>
            </a:r>
            <a:endParaRPr lang="en-IN" b="1" dirty="0"/>
          </a:p>
        </p:txBody>
      </p:sp>
    </p:spTree>
    <p:extLst>
      <p:ext uri="{BB962C8B-B14F-4D97-AF65-F5344CB8AC3E}">
        <p14:creationId xmlns:p14="http://schemas.microsoft.com/office/powerpoint/2010/main" val="288817908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endParaRPr lang="en-IN" b="1" dirty="0"/>
          </a:p>
        </p:txBody>
      </p:sp>
      <p:graphicFrame>
        <p:nvGraphicFramePr>
          <p:cNvPr id="4" name="Content Placeholder 3">
            <a:extLst>
              <a:ext uri="{FF2B5EF4-FFF2-40B4-BE49-F238E27FC236}">
                <a16:creationId xmlns:a16="http://schemas.microsoft.com/office/drawing/2014/main" id="{8AC0291C-3129-44EA-8F07-C27ED66C630A}"/>
              </a:ext>
            </a:extLst>
          </p:cNvPr>
          <p:cNvGraphicFramePr>
            <a:graphicFrameLocks noGrp="1"/>
          </p:cNvGraphicFramePr>
          <p:nvPr>
            <p:ph idx="1"/>
            <p:extLst>
              <p:ext uri="{D42A27DB-BD31-4B8C-83A1-F6EECF244321}">
                <p14:modId xmlns:p14="http://schemas.microsoft.com/office/powerpoint/2010/main" val="1808035224"/>
              </p:ext>
            </p:extLst>
          </p:nvPr>
        </p:nvGraphicFramePr>
        <p:xfrm>
          <a:off x="414295" y="84958"/>
          <a:ext cx="11638160" cy="6773040"/>
        </p:xfrm>
        <a:graphic>
          <a:graphicData uri="http://schemas.openxmlformats.org/drawingml/2006/table">
            <a:tbl>
              <a:tblPr>
                <a:tableStyleId>{284E427A-3D55-4303-BF80-6455036E1DE7}</a:tableStyleId>
              </a:tblPr>
              <a:tblGrid>
                <a:gridCol w="1756028">
                  <a:extLst>
                    <a:ext uri="{9D8B030D-6E8A-4147-A177-3AD203B41FA5}">
                      <a16:colId xmlns:a16="http://schemas.microsoft.com/office/drawing/2014/main" val="4110505901"/>
                    </a:ext>
                  </a:extLst>
                </a:gridCol>
                <a:gridCol w="2467778">
                  <a:extLst>
                    <a:ext uri="{9D8B030D-6E8A-4147-A177-3AD203B41FA5}">
                      <a16:colId xmlns:a16="http://schemas.microsoft.com/office/drawing/2014/main" val="3301990695"/>
                    </a:ext>
                  </a:extLst>
                </a:gridCol>
                <a:gridCol w="2985571">
                  <a:extLst>
                    <a:ext uri="{9D8B030D-6E8A-4147-A177-3AD203B41FA5}">
                      <a16:colId xmlns:a16="http://schemas.microsoft.com/office/drawing/2014/main" val="1654179091"/>
                    </a:ext>
                  </a:extLst>
                </a:gridCol>
                <a:gridCol w="4428783">
                  <a:extLst>
                    <a:ext uri="{9D8B030D-6E8A-4147-A177-3AD203B41FA5}">
                      <a16:colId xmlns:a16="http://schemas.microsoft.com/office/drawing/2014/main" val="1978042522"/>
                    </a:ext>
                  </a:extLst>
                </a:gridCol>
              </a:tblGrid>
              <a:tr h="451536">
                <a:tc>
                  <a:txBody>
                    <a:bodyPr/>
                    <a:lstStyle/>
                    <a:p>
                      <a:r>
                        <a:rPr lang="en-IN" sz="2000" b="1" dirty="0"/>
                        <a:t>Company</a:t>
                      </a:r>
                    </a:p>
                  </a:txBody>
                  <a:tcPr marL="71414" marR="71414" marT="35707" marB="35707" anchor="ctr"/>
                </a:tc>
                <a:tc>
                  <a:txBody>
                    <a:bodyPr/>
                    <a:lstStyle/>
                    <a:p>
                      <a:r>
                        <a:rPr lang="en-IN" sz="2000" b="1" dirty="0"/>
                        <a:t>Open-Source Product</a:t>
                      </a:r>
                    </a:p>
                  </a:txBody>
                  <a:tcPr marL="71414" marR="71414" marT="35707" marB="35707" anchor="ctr"/>
                </a:tc>
                <a:tc>
                  <a:txBody>
                    <a:bodyPr/>
                    <a:lstStyle/>
                    <a:p>
                      <a:r>
                        <a:rPr lang="en-IN" sz="2000" b="1" dirty="0"/>
                        <a:t>Primary Business Model</a:t>
                      </a:r>
                    </a:p>
                  </a:txBody>
                  <a:tcPr marL="71414" marR="71414" marT="35707" marB="35707" anchor="ctr"/>
                </a:tc>
                <a:tc>
                  <a:txBody>
                    <a:bodyPr/>
                    <a:lstStyle/>
                    <a:p>
                      <a:r>
                        <a:rPr lang="en-IN" sz="2000" b="1" dirty="0"/>
                        <a:t>Main Revenue Sources</a:t>
                      </a:r>
                    </a:p>
                  </a:txBody>
                  <a:tcPr marL="71414" marR="71414" marT="35707" marB="35707" anchor="ctr"/>
                </a:tc>
                <a:extLst>
                  <a:ext uri="{0D108BD9-81ED-4DB2-BD59-A6C34878D82A}">
                    <a16:rowId xmlns:a16="http://schemas.microsoft.com/office/drawing/2014/main" val="332696869"/>
                  </a:ext>
                </a:extLst>
              </a:tr>
              <a:tr h="790188">
                <a:tc>
                  <a:txBody>
                    <a:bodyPr/>
                    <a:lstStyle/>
                    <a:p>
                      <a:r>
                        <a:rPr lang="en-IN" sz="2000" b="1" dirty="0"/>
                        <a:t>Red Hat</a:t>
                      </a:r>
                      <a:endParaRPr lang="en-IN" sz="2000" dirty="0"/>
                    </a:p>
                  </a:txBody>
                  <a:tcPr marL="71414" marR="71414" marT="35707" marB="35707" anchor="ctr"/>
                </a:tc>
                <a:tc>
                  <a:txBody>
                    <a:bodyPr/>
                    <a:lstStyle/>
                    <a:p>
                      <a:r>
                        <a:rPr lang="en-IN" sz="2000" dirty="0"/>
                        <a:t>RHEL</a:t>
                      </a:r>
                    </a:p>
                  </a:txBody>
                  <a:tcPr marL="71414" marR="71414" marT="35707" marB="35707" anchor="ctr"/>
                </a:tc>
                <a:tc>
                  <a:txBody>
                    <a:bodyPr/>
                    <a:lstStyle/>
                    <a:p>
                      <a:r>
                        <a:rPr lang="en-IN" sz="2000" dirty="0"/>
                        <a:t>Subscription &amp; Support</a:t>
                      </a:r>
                    </a:p>
                  </a:txBody>
                  <a:tcPr marL="71414" marR="71414" marT="35707" marB="35707" anchor="ctr"/>
                </a:tc>
                <a:tc>
                  <a:txBody>
                    <a:bodyPr/>
                    <a:lstStyle/>
                    <a:p>
                      <a:r>
                        <a:rPr lang="en-IN" sz="2000"/>
                        <a:t>Enterprise subscriptions, consulting, training</a:t>
                      </a:r>
                    </a:p>
                  </a:txBody>
                  <a:tcPr marL="71414" marR="71414" marT="35707" marB="35707" anchor="ctr"/>
                </a:tc>
                <a:extLst>
                  <a:ext uri="{0D108BD9-81ED-4DB2-BD59-A6C34878D82A}">
                    <a16:rowId xmlns:a16="http://schemas.microsoft.com/office/drawing/2014/main" val="2557932498"/>
                  </a:ext>
                </a:extLst>
              </a:tr>
              <a:tr h="790188">
                <a:tc>
                  <a:txBody>
                    <a:bodyPr/>
                    <a:lstStyle/>
                    <a:p>
                      <a:r>
                        <a:rPr lang="en-IN" sz="2000" b="1" dirty="0"/>
                        <a:t>Canonical</a:t>
                      </a:r>
                      <a:endParaRPr lang="en-IN" sz="2000" dirty="0"/>
                    </a:p>
                  </a:txBody>
                  <a:tcPr marL="71414" marR="71414" marT="35707" marB="35707" anchor="ctr"/>
                </a:tc>
                <a:tc>
                  <a:txBody>
                    <a:bodyPr/>
                    <a:lstStyle/>
                    <a:p>
                      <a:r>
                        <a:rPr lang="en-IN" sz="2000" dirty="0"/>
                        <a:t>Ubuntu</a:t>
                      </a:r>
                    </a:p>
                  </a:txBody>
                  <a:tcPr marL="71414" marR="71414" marT="35707" marB="35707" anchor="ctr"/>
                </a:tc>
                <a:tc>
                  <a:txBody>
                    <a:bodyPr/>
                    <a:lstStyle/>
                    <a:p>
                      <a:r>
                        <a:rPr lang="en-IN" sz="2000"/>
                        <a:t>Support &amp; Services</a:t>
                      </a:r>
                    </a:p>
                  </a:txBody>
                  <a:tcPr marL="71414" marR="71414" marT="35707" marB="35707" anchor="ctr"/>
                </a:tc>
                <a:tc>
                  <a:txBody>
                    <a:bodyPr/>
                    <a:lstStyle/>
                    <a:p>
                      <a:r>
                        <a:rPr lang="en-US" sz="2000"/>
                        <a:t>Ubuntu Pro, consulting, cloud services</a:t>
                      </a:r>
                    </a:p>
                  </a:txBody>
                  <a:tcPr marL="71414" marR="71414" marT="35707" marB="35707" anchor="ctr"/>
                </a:tc>
                <a:extLst>
                  <a:ext uri="{0D108BD9-81ED-4DB2-BD59-A6C34878D82A}">
                    <a16:rowId xmlns:a16="http://schemas.microsoft.com/office/drawing/2014/main" val="1170371816"/>
                  </a:ext>
                </a:extLst>
              </a:tr>
              <a:tr h="790188">
                <a:tc>
                  <a:txBody>
                    <a:bodyPr/>
                    <a:lstStyle/>
                    <a:p>
                      <a:r>
                        <a:rPr lang="en-IN" sz="2000" b="1"/>
                        <a:t>GitLab</a:t>
                      </a:r>
                      <a:endParaRPr lang="en-IN" sz="2000"/>
                    </a:p>
                  </a:txBody>
                  <a:tcPr marL="71414" marR="71414" marT="35707" marB="35707" anchor="ctr"/>
                </a:tc>
                <a:tc>
                  <a:txBody>
                    <a:bodyPr/>
                    <a:lstStyle/>
                    <a:p>
                      <a:r>
                        <a:rPr lang="en-IN" sz="2000"/>
                        <a:t>GitLab CE</a:t>
                      </a:r>
                    </a:p>
                  </a:txBody>
                  <a:tcPr marL="71414" marR="71414" marT="35707" marB="35707" anchor="ctr"/>
                </a:tc>
                <a:tc>
                  <a:txBody>
                    <a:bodyPr/>
                    <a:lstStyle/>
                    <a:p>
                      <a:r>
                        <a:rPr lang="en-IN" sz="2000" dirty="0"/>
                        <a:t>Open Core + SaaS</a:t>
                      </a:r>
                    </a:p>
                  </a:txBody>
                  <a:tcPr marL="71414" marR="71414" marT="35707" marB="35707" anchor="ctr"/>
                </a:tc>
                <a:tc>
                  <a:txBody>
                    <a:bodyPr/>
                    <a:lstStyle/>
                    <a:p>
                      <a:r>
                        <a:rPr lang="en-IN" sz="2000"/>
                        <a:t>Premium plans, enterprise subscriptions</a:t>
                      </a:r>
                    </a:p>
                  </a:txBody>
                  <a:tcPr marL="71414" marR="71414" marT="35707" marB="35707" anchor="ctr"/>
                </a:tc>
                <a:extLst>
                  <a:ext uri="{0D108BD9-81ED-4DB2-BD59-A6C34878D82A}">
                    <a16:rowId xmlns:a16="http://schemas.microsoft.com/office/drawing/2014/main" val="3293490868"/>
                  </a:ext>
                </a:extLst>
              </a:tr>
              <a:tr h="790188">
                <a:tc>
                  <a:txBody>
                    <a:bodyPr/>
                    <a:lstStyle/>
                    <a:p>
                      <a:r>
                        <a:rPr lang="en-IN" sz="2000" b="1"/>
                        <a:t>Docker</a:t>
                      </a:r>
                      <a:endParaRPr lang="en-IN" sz="2000"/>
                    </a:p>
                  </a:txBody>
                  <a:tcPr marL="71414" marR="71414" marT="35707" marB="35707" anchor="ctr"/>
                </a:tc>
                <a:tc>
                  <a:txBody>
                    <a:bodyPr/>
                    <a:lstStyle/>
                    <a:p>
                      <a:r>
                        <a:rPr lang="en-IN" sz="2000"/>
                        <a:t>Docker Engine</a:t>
                      </a:r>
                    </a:p>
                  </a:txBody>
                  <a:tcPr marL="71414" marR="71414" marT="35707" marB="35707" anchor="ctr"/>
                </a:tc>
                <a:tc>
                  <a:txBody>
                    <a:bodyPr/>
                    <a:lstStyle/>
                    <a:p>
                      <a:r>
                        <a:rPr lang="en-IN" sz="2000" dirty="0"/>
                        <a:t>Open Core + SaaS</a:t>
                      </a:r>
                    </a:p>
                  </a:txBody>
                  <a:tcPr marL="71414" marR="71414" marT="35707" marB="35707" anchor="ctr"/>
                </a:tc>
                <a:tc>
                  <a:txBody>
                    <a:bodyPr/>
                    <a:lstStyle/>
                    <a:p>
                      <a:r>
                        <a:rPr lang="en-US" sz="2000"/>
                        <a:t>Team/Business subscriptions, Docker Hub</a:t>
                      </a:r>
                    </a:p>
                  </a:txBody>
                  <a:tcPr marL="71414" marR="71414" marT="35707" marB="35707" anchor="ctr"/>
                </a:tc>
                <a:extLst>
                  <a:ext uri="{0D108BD9-81ED-4DB2-BD59-A6C34878D82A}">
                    <a16:rowId xmlns:a16="http://schemas.microsoft.com/office/drawing/2014/main" val="2606709106"/>
                  </a:ext>
                </a:extLst>
              </a:tr>
              <a:tr h="790188">
                <a:tc>
                  <a:txBody>
                    <a:bodyPr/>
                    <a:lstStyle/>
                    <a:p>
                      <a:r>
                        <a:rPr lang="en-IN" sz="2000" b="1"/>
                        <a:t>MongoDB</a:t>
                      </a:r>
                      <a:endParaRPr lang="en-IN" sz="2000"/>
                    </a:p>
                  </a:txBody>
                  <a:tcPr marL="71414" marR="71414" marT="35707" marB="35707" anchor="ctr"/>
                </a:tc>
                <a:tc>
                  <a:txBody>
                    <a:bodyPr/>
                    <a:lstStyle/>
                    <a:p>
                      <a:r>
                        <a:rPr lang="en-IN" sz="2000" dirty="0"/>
                        <a:t>MongoDB Community</a:t>
                      </a:r>
                    </a:p>
                  </a:txBody>
                  <a:tcPr marL="71414" marR="71414" marT="35707" marB="35707" anchor="ctr"/>
                </a:tc>
                <a:tc>
                  <a:txBody>
                    <a:bodyPr/>
                    <a:lstStyle/>
                    <a:p>
                      <a:r>
                        <a:rPr lang="en-IN" sz="2000" dirty="0"/>
                        <a:t>Managed Cloud</a:t>
                      </a:r>
                    </a:p>
                  </a:txBody>
                  <a:tcPr marL="71414" marR="71414" marT="35707" marB="35707" anchor="ctr"/>
                </a:tc>
                <a:tc>
                  <a:txBody>
                    <a:bodyPr/>
                    <a:lstStyle/>
                    <a:p>
                      <a:r>
                        <a:rPr lang="en-IN" sz="2000"/>
                        <a:t>MongoDB Atlas, enterprise support</a:t>
                      </a:r>
                    </a:p>
                  </a:txBody>
                  <a:tcPr marL="71414" marR="71414" marT="35707" marB="35707" anchor="ctr"/>
                </a:tc>
                <a:extLst>
                  <a:ext uri="{0D108BD9-81ED-4DB2-BD59-A6C34878D82A}">
                    <a16:rowId xmlns:a16="http://schemas.microsoft.com/office/drawing/2014/main" val="4174430218"/>
                  </a:ext>
                </a:extLst>
              </a:tr>
              <a:tr h="790188">
                <a:tc>
                  <a:txBody>
                    <a:bodyPr/>
                    <a:lstStyle/>
                    <a:p>
                      <a:r>
                        <a:rPr lang="en-IN" sz="2000" b="1"/>
                        <a:t>Elastic</a:t>
                      </a:r>
                      <a:endParaRPr lang="en-IN" sz="2000"/>
                    </a:p>
                  </a:txBody>
                  <a:tcPr marL="71414" marR="71414" marT="35707" marB="35707" anchor="ctr"/>
                </a:tc>
                <a:tc>
                  <a:txBody>
                    <a:bodyPr/>
                    <a:lstStyle/>
                    <a:p>
                      <a:r>
                        <a:rPr lang="en-IN" sz="2000"/>
                        <a:t>Elasticsearch</a:t>
                      </a:r>
                    </a:p>
                  </a:txBody>
                  <a:tcPr marL="71414" marR="71414" marT="35707" marB="35707" anchor="ctr"/>
                </a:tc>
                <a:tc>
                  <a:txBody>
                    <a:bodyPr/>
                    <a:lstStyle/>
                    <a:p>
                      <a:r>
                        <a:rPr lang="en-IN" sz="2000" dirty="0"/>
                        <a:t>Open Core + Cloud</a:t>
                      </a:r>
                    </a:p>
                  </a:txBody>
                  <a:tcPr marL="71414" marR="71414" marT="35707" marB="35707" anchor="ctr"/>
                </a:tc>
                <a:tc>
                  <a:txBody>
                    <a:bodyPr/>
                    <a:lstStyle/>
                    <a:p>
                      <a:r>
                        <a:rPr lang="en-IN" sz="2000" dirty="0"/>
                        <a:t>Elastic Cloud, enterprise features</a:t>
                      </a:r>
                    </a:p>
                  </a:txBody>
                  <a:tcPr marL="71414" marR="71414" marT="35707" marB="35707" anchor="ctr"/>
                </a:tc>
                <a:extLst>
                  <a:ext uri="{0D108BD9-81ED-4DB2-BD59-A6C34878D82A}">
                    <a16:rowId xmlns:a16="http://schemas.microsoft.com/office/drawing/2014/main" val="603524331"/>
                  </a:ext>
                </a:extLst>
              </a:tr>
              <a:tr h="790188">
                <a:tc>
                  <a:txBody>
                    <a:bodyPr/>
                    <a:lstStyle/>
                    <a:p>
                      <a:r>
                        <a:rPr lang="en-IN" sz="2000" b="1"/>
                        <a:t>HashiCorp</a:t>
                      </a:r>
                      <a:endParaRPr lang="en-IN" sz="2000"/>
                    </a:p>
                  </a:txBody>
                  <a:tcPr marL="71414" marR="71414" marT="35707" marB="35707" anchor="ctr"/>
                </a:tc>
                <a:tc>
                  <a:txBody>
                    <a:bodyPr/>
                    <a:lstStyle/>
                    <a:p>
                      <a:r>
                        <a:rPr lang="en-IN" sz="2000"/>
                        <a:t>Terraform, Vault</a:t>
                      </a:r>
                    </a:p>
                  </a:txBody>
                  <a:tcPr marL="71414" marR="71414" marT="35707" marB="35707" anchor="ctr"/>
                </a:tc>
                <a:tc>
                  <a:txBody>
                    <a:bodyPr/>
                    <a:lstStyle/>
                    <a:p>
                      <a:r>
                        <a:rPr lang="en-IN" sz="2000"/>
                        <a:t>Enterprise + Cloud</a:t>
                      </a:r>
                    </a:p>
                  </a:txBody>
                  <a:tcPr marL="71414" marR="71414" marT="35707" marB="35707" anchor="ctr"/>
                </a:tc>
                <a:tc>
                  <a:txBody>
                    <a:bodyPr/>
                    <a:lstStyle/>
                    <a:p>
                      <a:r>
                        <a:rPr lang="en-IN" sz="2000" dirty="0"/>
                        <a:t>HCP, enterprise editions, support</a:t>
                      </a:r>
                    </a:p>
                  </a:txBody>
                  <a:tcPr marL="71414" marR="71414" marT="35707" marB="35707" anchor="ctr"/>
                </a:tc>
                <a:extLst>
                  <a:ext uri="{0D108BD9-81ED-4DB2-BD59-A6C34878D82A}">
                    <a16:rowId xmlns:a16="http://schemas.microsoft.com/office/drawing/2014/main" val="1640875754"/>
                  </a:ext>
                </a:extLst>
              </a:tr>
              <a:tr h="790188">
                <a:tc>
                  <a:txBody>
                    <a:bodyPr/>
                    <a:lstStyle/>
                    <a:p>
                      <a:r>
                        <a:rPr lang="en-IN" sz="2000" b="1" dirty="0" err="1"/>
                        <a:t>Automattic</a:t>
                      </a:r>
                      <a:endParaRPr lang="en-IN" sz="2000" dirty="0"/>
                    </a:p>
                  </a:txBody>
                  <a:tcPr marL="71414" marR="71414" marT="35707" marB="35707" anchor="ctr"/>
                </a:tc>
                <a:tc>
                  <a:txBody>
                    <a:bodyPr/>
                    <a:lstStyle/>
                    <a:p>
                      <a:r>
                        <a:rPr lang="en-IN" sz="2000" dirty="0"/>
                        <a:t>WordPress</a:t>
                      </a:r>
                    </a:p>
                  </a:txBody>
                  <a:tcPr marL="71414" marR="71414" marT="35707" marB="35707" anchor="ctr"/>
                </a:tc>
                <a:tc>
                  <a:txBody>
                    <a:bodyPr/>
                    <a:lstStyle/>
                    <a:p>
                      <a:r>
                        <a:rPr lang="en-IN" sz="2000" dirty="0"/>
                        <a:t>Managed Hosting</a:t>
                      </a:r>
                    </a:p>
                  </a:txBody>
                  <a:tcPr marL="71414" marR="71414" marT="35707" marB="35707" anchor="ctr"/>
                </a:tc>
                <a:tc>
                  <a:txBody>
                    <a:bodyPr/>
                    <a:lstStyle/>
                    <a:p>
                      <a:r>
                        <a:rPr lang="en-IN" sz="2000" dirty="0"/>
                        <a:t>Hosting, premium plans, domains</a:t>
                      </a:r>
                    </a:p>
                  </a:txBody>
                  <a:tcPr marL="71414" marR="71414" marT="35707" marB="35707" anchor="ctr"/>
                </a:tc>
                <a:extLst>
                  <a:ext uri="{0D108BD9-81ED-4DB2-BD59-A6C34878D82A}">
                    <a16:rowId xmlns:a16="http://schemas.microsoft.com/office/drawing/2014/main" val="871597081"/>
                  </a:ext>
                </a:extLst>
              </a:tr>
            </a:tbl>
          </a:graphicData>
        </a:graphic>
      </p:graphicFrame>
    </p:spTree>
    <p:extLst>
      <p:ext uri="{BB962C8B-B14F-4D97-AF65-F5344CB8AC3E}">
        <p14:creationId xmlns:p14="http://schemas.microsoft.com/office/powerpoint/2010/main" val="2202832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108597"/>
            <a:ext cx="10515600" cy="1325563"/>
          </a:xfrm>
        </p:spPr>
        <p:txBody>
          <a:bodyPr/>
          <a:lstStyle/>
          <a:p>
            <a:r>
              <a:rPr lang="en-IN" b="1" dirty="0"/>
              <a:t>Good Projects for Beginners</a:t>
            </a:r>
          </a:p>
        </p:txBody>
      </p:sp>
      <p:graphicFrame>
        <p:nvGraphicFramePr>
          <p:cNvPr id="4" name="Content Placeholder 3">
            <a:extLst>
              <a:ext uri="{FF2B5EF4-FFF2-40B4-BE49-F238E27FC236}">
                <a16:creationId xmlns:a16="http://schemas.microsoft.com/office/drawing/2014/main" id="{B5736374-3BA5-47F6-87B9-9DBF69CC5DA0}"/>
              </a:ext>
            </a:extLst>
          </p:cNvPr>
          <p:cNvGraphicFramePr>
            <a:graphicFrameLocks noGrp="1"/>
          </p:cNvGraphicFramePr>
          <p:nvPr>
            <p:ph idx="1"/>
            <p:extLst>
              <p:ext uri="{D42A27DB-BD31-4B8C-83A1-F6EECF244321}">
                <p14:modId xmlns:p14="http://schemas.microsoft.com/office/powerpoint/2010/main" val="3310804220"/>
              </p:ext>
            </p:extLst>
          </p:nvPr>
        </p:nvGraphicFramePr>
        <p:xfrm>
          <a:off x="551761" y="955230"/>
          <a:ext cx="11148153" cy="5658080"/>
        </p:xfrm>
        <a:graphic>
          <a:graphicData uri="http://schemas.openxmlformats.org/drawingml/2006/table">
            <a:tbl>
              <a:tblPr>
                <a:tableStyleId>{284E427A-3D55-4303-BF80-6455036E1DE7}</a:tableStyleId>
              </a:tblPr>
              <a:tblGrid>
                <a:gridCol w="3716051">
                  <a:extLst>
                    <a:ext uri="{9D8B030D-6E8A-4147-A177-3AD203B41FA5}">
                      <a16:colId xmlns:a16="http://schemas.microsoft.com/office/drawing/2014/main" val="2254628566"/>
                    </a:ext>
                  </a:extLst>
                </a:gridCol>
                <a:gridCol w="3716051">
                  <a:extLst>
                    <a:ext uri="{9D8B030D-6E8A-4147-A177-3AD203B41FA5}">
                      <a16:colId xmlns:a16="http://schemas.microsoft.com/office/drawing/2014/main" val="1076269225"/>
                    </a:ext>
                  </a:extLst>
                </a:gridCol>
                <a:gridCol w="3716051">
                  <a:extLst>
                    <a:ext uri="{9D8B030D-6E8A-4147-A177-3AD203B41FA5}">
                      <a16:colId xmlns:a16="http://schemas.microsoft.com/office/drawing/2014/main" val="4007992251"/>
                    </a:ext>
                  </a:extLst>
                </a:gridCol>
              </a:tblGrid>
              <a:tr h="589150">
                <a:tc>
                  <a:txBody>
                    <a:bodyPr/>
                    <a:lstStyle/>
                    <a:p>
                      <a:r>
                        <a:rPr lang="en-IN" sz="2800" b="1" dirty="0"/>
                        <a:t>Project</a:t>
                      </a:r>
                    </a:p>
                  </a:txBody>
                  <a:tcPr anchor="ctr"/>
                </a:tc>
                <a:tc>
                  <a:txBody>
                    <a:bodyPr/>
                    <a:lstStyle/>
                    <a:p>
                      <a:r>
                        <a:rPr lang="en-IN" sz="2800" b="1" dirty="0"/>
                        <a:t>Technology</a:t>
                      </a:r>
                    </a:p>
                  </a:txBody>
                  <a:tcPr anchor="ctr"/>
                </a:tc>
                <a:tc>
                  <a:txBody>
                    <a:bodyPr/>
                    <a:lstStyle/>
                    <a:p>
                      <a:r>
                        <a:rPr lang="en-IN" sz="2800" b="1" dirty="0"/>
                        <a:t>Beginner Friendly</a:t>
                      </a:r>
                    </a:p>
                  </a:txBody>
                  <a:tcPr anchor="ctr"/>
                </a:tc>
                <a:extLst>
                  <a:ext uri="{0D108BD9-81ED-4DB2-BD59-A6C34878D82A}">
                    <a16:rowId xmlns:a16="http://schemas.microsoft.com/office/drawing/2014/main" val="1182351907"/>
                  </a:ext>
                </a:extLst>
              </a:tr>
              <a:tr h="589150">
                <a:tc>
                  <a:txBody>
                    <a:bodyPr/>
                    <a:lstStyle/>
                    <a:p>
                      <a:r>
                        <a:rPr lang="en-IN" sz="2800" dirty="0"/>
                        <a:t>First Contributions</a:t>
                      </a:r>
                    </a:p>
                  </a:txBody>
                  <a:tcPr anchor="ctr"/>
                </a:tc>
                <a:tc>
                  <a:txBody>
                    <a:bodyPr/>
                    <a:lstStyle/>
                    <a:p>
                      <a:r>
                        <a:rPr lang="en-IN" sz="2800"/>
                        <a:t>Git, GitHub</a:t>
                      </a:r>
                    </a:p>
                  </a:txBody>
                  <a:tcPr anchor="ctr"/>
                </a:tc>
                <a:tc>
                  <a:txBody>
                    <a:bodyPr/>
                    <a:lstStyle/>
                    <a:p>
                      <a:r>
                        <a:rPr lang="en-IN" sz="2800"/>
                        <a:t>⭐⭐⭐⭐⭐</a:t>
                      </a:r>
                    </a:p>
                  </a:txBody>
                  <a:tcPr anchor="ctr"/>
                </a:tc>
                <a:extLst>
                  <a:ext uri="{0D108BD9-81ED-4DB2-BD59-A6C34878D82A}">
                    <a16:rowId xmlns:a16="http://schemas.microsoft.com/office/drawing/2014/main" val="2145561630"/>
                  </a:ext>
                </a:extLst>
              </a:tr>
              <a:tr h="589150">
                <a:tc>
                  <a:txBody>
                    <a:bodyPr/>
                    <a:lstStyle/>
                    <a:p>
                      <a:r>
                        <a:rPr lang="en-IN" sz="2800" dirty="0" err="1"/>
                        <a:t>Excalidraw</a:t>
                      </a:r>
                      <a:endParaRPr lang="en-IN" sz="2800" dirty="0"/>
                    </a:p>
                  </a:txBody>
                  <a:tcPr anchor="ctr"/>
                </a:tc>
                <a:tc>
                  <a:txBody>
                    <a:bodyPr/>
                    <a:lstStyle/>
                    <a:p>
                      <a:r>
                        <a:rPr lang="en-IN" sz="2800"/>
                        <a:t>TypeScript, React</a:t>
                      </a:r>
                    </a:p>
                  </a:txBody>
                  <a:tcPr anchor="ctr"/>
                </a:tc>
                <a:tc>
                  <a:txBody>
                    <a:bodyPr/>
                    <a:lstStyle/>
                    <a:p>
                      <a:r>
                        <a:rPr lang="en-IN" sz="2800"/>
                        <a:t>⭐⭐⭐⭐</a:t>
                      </a:r>
                    </a:p>
                  </a:txBody>
                  <a:tcPr anchor="ctr"/>
                </a:tc>
                <a:extLst>
                  <a:ext uri="{0D108BD9-81ED-4DB2-BD59-A6C34878D82A}">
                    <a16:rowId xmlns:a16="http://schemas.microsoft.com/office/drawing/2014/main" val="2578706404"/>
                  </a:ext>
                </a:extLst>
              </a:tr>
              <a:tr h="589150">
                <a:tc>
                  <a:txBody>
                    <a:bodyPr/>
                    <a:lstStyle/>
                    <a:p>
                      <a:r>
                        <a:rPr lang="en-IN" sz="2800" dirty="0" err="1"/>
                        <a:t>JupyterLab</a:t>
                      </a:r>
                      <a:endParaRPr lang="en-IN" sz="2800" dirty="0"/>
                    </a:p>
                  </a:txBody>
                  <a:tcPr anchor="ctr"/>
                </a:tc>
                <a:tc>
                  <a:txBody>
                    <a:bodyPr/>
                    <a:lstStyle/>
                    <a:p>
                      <a:r>
                        <a:rPr lang="en-IN" sz="2800"/>
                        <a:t>Python, TypeScript</a:t>
                      </a:r>
                    </a:p>
                  </a:txBody>
                  <a:tcPr anchor="ctr"/>
                </a:tc>
                <a:tc>
                  <a:txBody>
                    <a:bodyPr/>
                    <a:lstStyle/>
                    <a:p>
                      <a:r>
                        <a:rPr lang="en-IN" sz="2800"/>
                        <a:t>⭐⭐⭐</a:t>
                      </a:r>
                    </a:p>
                  </a:txBody>
                  <a:tcPr anchor="ctr"/>
                </a:tc>
                <a:extLst>
                  <a:ext uri="{0D108BD9-81ED-4DB2-BD59-A6C34878D82A}">
                    <a16:rowId xmlns:a16="http://schemas.microsoft.com/office/drawing/2014/main" val="100501713"/>
                  </a:ext>
                </a:extLst>
              </a:tr>
              <a:tr h="589150">
                <a:tc>
                  <a:txBody>
                    <a:bodyPr/>
                    <a:lstStyle/>
                    <a:p>
                      <a:r>
                        <a:rPr lang="en-IN" sz="2800"/>
                        <a:t>VS Code (Code-OSS)</a:t>
                      </a:r>
                    </a:p>
                  </a:txBody>
                  <a:tcPr anchor="ctr"/>
                </a:tc>
                <a:tc>
                  <a:txBody>
                    <a:bodyPr/>
                    <a:lstStyle/>
                    <a:p>
                      <a:r>
                        <a:rPr lang="en-IN" sz="2800"/>
                        <a:t>TypeScript</a:t>
                      </a:r>
                    </a:p>
                  </a:txBody>
                  <a:tcPr anchor="ctr"/>
                </a:tc>
                <a:tc>
                  <a:txBody>
                    <a:bodyPr/>
                    <a:lstStyle/>
                    <a:p>
                      <a:r>
                        <a:rPr lang="en-IN" sz="2800"/>
                        <a:t>⭐⭐⭐</a:t>
                      </a:r>
                    </a:p>
                  </a:txBody>
                  <a:tcPr anchor="ctr"/>
                </a:tc>
                <a:extLst>
                  <a:ext uri="{0D108BD9-81ED-4DB2-BD59-A6C34878D82A}">
                    <a16:rowId xmlns:a16="http://schemas.microsoft.com/office/drawing/2014/main" val="2282530646"/>
                  </a:ext>
                </a:extLst>
              </a:tr>
              <a:tr h="589150">
                <a:tc>
                  <a:txBody>
                    <a:bodyPr/>
                    <a:lstStyle/>
                    <a:p>
                      <a:r>
                        <a:rPr lang="en-IN" sz="2800"/>
                        <a:t>TensorFlow Docs</a:t>
                      </a:r>
                    </a:p>
                  </a:txBody>
                  <a:tcPr anchor="ctr"/>
                </a:tc>
                <a:tc>
                  <a:txBody>
                    <a:bodyPr/>
                    <a:lstStyle/>
                    <a:p>
                      <a:r>
                        <a:rPr lang="en-IN" sz="2800"/>
                        <a:t>Python, Documentation</a:t>
                      </a:r>
                    </a:p>
                  </a:txBody>
                  <a:tcPr anchor="ctr"/>
                </a:tc>
                <a:tc>
                  <a:txBody>
                    <a:bodyPr/>
                    <a:lstStyle/>
                    <a:p>
                      <a:r>
                        <a:rPr lang="en-IN" sz="2800"/>
                        <a:t>⭐⭐⭐</a:t>
                      </a:r>
                    </a:p>
                  </a:txBody>
                  <a:tcPr anchor="ctr"/>
                </a:tc>
                <a:extLst>
                  <a:ext uri="{0D108BD9-81ED-4DB2-BD59-A6C34878D82A}">
                    <a16:rowId xmlns:a16="http://schemas.microsoft.com/office/drawing/2014/main" val="868772425"/>
                  </a:ext>
                </a:extLst>
              </a:tr>
              <a:tr h="589150">
                <a:tc>
                  <a:txBody>
                    <a:bodyPr/>
                    <a:lstStyle/>
                    <a:p>
                      <a:r>
                        <a:rPr lang="en-IN" sz="2800"/>
                        <a:t>LibreOffice</a:t>
                      </a:r>
                    </a:p>
                  </a:txBody>
                  <a:tcPr anchor="ctr"/>
                </a:tc>
                <a:tc>
                  <a:txBody>
                    <a:bodyPr/>
                    <a:lstStyle/>
                    <a:p>
                      <a:r>
                        <a:rPr lang="en-IN" sz="2800"/>
                        <a:t>C++, Documentation</a:t>
                      </a:r>
                    </a:p>
                  </a:txBody>
                  <a:tcPr anchor="ctr"/>
                </a:tc>
                <a:tc>
                  <a:txBody>
                    <a:bodyPr/>
                    <a:lstStyle/>
                    <a:p>
                      <a:r>
                        <a:rPr lang="en-IN" sz="2800"/>
                        <a:t>⭐⭐</a:t>
                      </a:r>
                    </a:p>
                  </a:txBody>
                  <a:tcPr anchor="ctr"/>
                </a:tc>
                <a:extLst>
                  <a:ext uri="{0D108BD9-81ED-4DB2-BD59-A6C34878D82A}">
                    <a16:rowId xmlns:a16="http://schemas.microsoft.com/office/drawing/2014/main" val="2084168516"/>
                  </a:ext>
                </a:extLst>
              </a:tr>
              <a:tr h="589150">
                <a:tc>
                  <a:txBody>
                    <a:bodyPr/>
                    <a:lstStyle/>
                    <a:p>
                      <a:r>
                        <a:rPr lang="en-IN" sz="2800"/>
                        <a:t>Mozilla MDN Docs</a:t>
                      </a:r>
                    </a:p>
                  </a:txBody>
                  <a:tcPr anchor="ctr"/>
                </a:tc>
                <a:tc>
                  <a:txBody>
                    <a:bodyPr/>
                    <a:lstStyle/>
                    <a:p>
                      <a:r>
                        <a:rPr lang="en-IN" sz="2800"/>
                        <a:t>HTML, CSS, JavaScript</a:t>
                      </a:r>
                    </a:p>
                  </a:txBody>
                  <a:tcPr anchor="ctr"/>
                </a:tc>
                <a:tc>
                  <a:txBody>
                    <a:bodyPr/>
                    <a:lstStyle/>
                    <a:p>
                      <a:r>
                        <a:rPr lang="en-IN" sz="2800"/>
                        <a:t>⭐⭐⭐⭐⭐</a:t>
                      </a:r>
                    </a:p>
                  </a:txBody>
                  <a:tcPr anchor="ctr"/>
                </a:tc>
                <a:extLst>
                  <a:ext uri="{0D108BD9-81ED-4DB2-BD59-A6C34878D82A}">
                    <a16:rowId xmlns:a16="http://schemas.microsoft.com/office/drawing/2014/main" val="101584570"/>
                  </a:ext>
                </a:extLst>
              </a:tr>
              <a:tr h="589150">
                <a:tc>
                  <a:txBody>
                    <a:bodyPr/>
                    <a:lstStyle/>
                    <a:p>
                      <a:r>
                        <a:rPr lang="en-IN" sz="2800" dirty="0"/>
                        <a:t>Kubernetes Documentation</a:t>
                      </a:r>
                    </a:p>
                  </a:txBody>
                  <a:tcPr anchor="ctr"/>
                </a:tc>
                <a:tc>
                  <a:txBody>
                    <a:bodyPr/>
                    <a:lstStyle/>
                    <a:p>
                      <a:r>
                        <a:rPr lang="en-IN" sz="2800"/>
                        <a:t>Markdown</a:t>
                      </a:r>
                    </a:p>
                  </a:txBody>
                  <a:tcPr anchor="ctr"/>
                </a:tc>
                <a:tc>
                  <a:txBody>
                    <a:bodyPr/>
                    <a:lstStyle/>
                    <a:p>
                      <a:r>
                        <a:rPr lang="en-IN" sz="2800" dirty="0"/>
                        <a:t>⭐⭐⭐⭐⭐</a:t>
                      </a:r>
                    </a:p>
                  </a:txBody>
                  <a:tcPr anchor="ctr"/>
                </a:tc>
                <a:extLst>
                  <a:ext uri="{0D108BD9-81ED-4DB2-BD59-A6C34878D82A}">
                    <a16:rowId xmlns:a16="http://schemas.microsoft.com/office/drawing/2014/main" val="868123786"/>
                  </a:ext>
                </a:extLst>
              </a:tr>
            </a:tbl>
          </a:graphicData>
        </a:graphic>
      </p:graphicFrame>
    </p:spTree>
    <p:extLst>
      <p:ext uri="{BB962C8B-B14F-4D97-AF65-F5344CB8AC3E}">
        <p14:creationId xmlns:p14="http://schemas.microsoft.com/office/powerpoint/2010/main" val="25882280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a:xfrm>
            <a:off x="838200" y="2675731"/>
            <a:ext cx="10515600" cy="1325563"/>
          </a:xfrm>
        </p:spPr>
        <p:txBody>
          <a:bodyPr/>
          <a:lstStyle/>
          <a:p>
            <a:pPr algn="ctr"/>
            <a:r>
              <a:rPr lang="en-IN" b="1" dirty="0"/>
              <a:t>Thank you</a:t>
            </a:r>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just"/>
            <a:endParaRPr lang="en-IN" dirty="0"/>
          </a:p>
        </p:txBody>
      </p:sp>
    </p:spTree>
    <p:extLst>
      <p:ext uri="{BB962C8B-B14F-4D97-AF65-F5344CB8AC3E}">
        <p14:creationId xmlns:p14="http://schemas.microsoft.com/office/powerpoint/2010/main" val="375425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6794</Words>
  <Application>Microsoft Office PowerPoint</Application>
  <PresentationFormat>Widescreen</PresentationFormat>
  <Paragraphs>1415</Paragraphs>
  <Slides>135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135</vt:i4>
      </vt:variant>
    </vt:vector>
  </HeadingPairs>
  <TitlesOfParts>
    <vt:vector size="143" baseType="lpstr">
      <vt:lpstr>Arial</vt:lpstr>
      <vt:lpstr>Calibri</vt:lpstr>
      <vt:lpstr>Calibri Light</vt:lpstr>
      <vt:lpstr>Nunito</vt:lpstr>
      <vt:lpstr>PT Serif</vt:lpstr>
      <vt:lpstr>Roboto</vt:lpstr>
      <vt:lpstr>Times New Roman</vt:lpstr>
      <vt:lpstr>Office Theme</vt:lpstr>
      <vt:lpstr>Open Source Technologies</vt:lpstr>
      <vt:lpstr>What does Open-source mean?</vt:lpstr>
      <vt:lpstr>What does Open-source mean?</vt:lpstr>
      <vt:lpstr>What does Open-source mean?</vt:lpstr>
      <vt:lpstr>What is Source Code?</vt:lpstr>
      <vt:lpstr>Definition of Open Source Software (OSS)</vt:lpstr>
      <vt:lpstr>Characteristics of Open Source Software</vt:lpstr>
      <vt:lpstr>Characteristics of Open Source Software</vt:lpstr>
      <vt:lpstr>Some famous examples of Open-source products/softwares are :</vt:lpstr>
      <vt:lpstr>Need for Open Source Software</vt:lpstr>
      <vt:lpstr>History of Open Source Software</vt:lpstr>
      <vt:lpstr>History of Open Source Software</vt:lpstr>
      <vt:lpstr>History of Open Source Software</vt:lpstr>
      <vt:lpstr>History of Open Source Software</vt:lpstr>
      <vt:lpstr>History of Open Source Software</vt:lpstr>
      <vt:lpstr>History of Open Source Software</vt:lpstr>
      <vt:lpstr>History of Open Source Software</vt:lpstr>
      <vt:lpstr>History of Open Source Software</vt:lpstr>
      <vt:lpstr>History of Open Source Software</vt:lpstr>
      <vt:lpstr>Timeline of Open Source History</vt:lpstr>
      <vt:lpstr>Evolution of Open Source (Flow Diagram)</vt:lpstr>
      <vt:lpstr>Real-World Applications</vt:lpstr>
      <vt:lpstr>PowerPoint Presentation</vt:lpstr>
      <vt:lpstr>Importance of Open-source Technologies :</vt:lpstr>
      <vt:lpstr>Importance of Open-source Technologies :</vt:lpstr>
      <vt:lpstr>Advantages of Open-source Technologies :</vt:lpstr>
      <vt:lpstr>Advantages of Open-source Technologies :</vt:lpstr>
      <vt:lpstr>Limitations of Open Source Software</vt:lpstr>
      <vt:lpstr>Key Terms</vt:lpstr>
      <vt:lpstr>Open-source community and Contributions :</vt:lpstr>
      <vt:lpstr>Open-source community and Contributions :</vt:lpstr>
      <vt:lpstr>Characteristics of an Open-Source Community</vt:lpstr>
      <vt:lpstr>Characteristics of an Open-Source Community</vt:lpstr>
      <vt:lpstr>Why Are Open-Source Communities Important?</vt:lpstr>
      <vt:lpstr>Members of an Open-Source Community</vt:lpstr>
      <vt:lpstr>What is an Open-Source Contribution?</vt:lpstr>
      <vt:lpstr>Types of Open-Source Contributions</vt:lpstr>
      <vt:lpstr>Types of Open-Source Contributions</vt:lpstr>
      <vt:lpstr>Types of Open-Source Contributions</vt:lpstr>
      <vt:lpstr>Types of Open-Source Contributions</vt:lpstr>
      <vt:lpstr>Types of Open-Source Contributions</vt:lpstr>
      <vt:lpstr>Types of Open-Source Contributions</vt:lpstr>
      <vt:lpstr>Types of Open-Source Contributions</vt:lpstr>
      <vt:lpstr>Types of Open-Source Contributions</vt:lpstr>
      <vt:lpstr>Steps to Contribute to an Open-Source Project</vt:lpstr>
      <vt:lpstr>Steps to Contribute to an Open-Source Project</vt:lpstr>
      <vt:lpstr>Steps to Contribute to an Open-Source Project</vt:lpstr>
      <vt:lpstr>Steps to Contribute to an Open-Source Project</vt:lpstr>
      <vt:lpstr>Steps to Contribute to an Open-Source Project</vt:lpstr>
      <vt:lpstr>Steps to Contribute to an Open-Source Project</vt:lpstr>
      <vt:lpstr>Steps to Contribute to an Open-Source Project</vt:lpstr>
      <vt:lpstr>Tools Commonly Used in Open-Source Development</vt:lpstr>
      <vt:lpstr>Best Practices for Contributors</vt:lpstr>
      <vt:lpstr>Benefits of Contributing to Open Source</vt:lpstr>
      <vt:lpstr>Benefits of Contributing to Open Source</vt:lpstr>
      <vt:lpstr>Benefits of Open-source contributions :</vt:lpstr>
      <vt:lpstr>Benefits of Open-source contributions :</vt:lpstr>
      <vt:lpstr>Challenges in Open-Source Contributions</vt:lpstr>
      <vt:lpstr>Real-World Examples of Open-Source Communities</vt:lpstr>
      <vt:lpstr>Difference Between User and Contributor</vt:lpstr>
      <vt:lpstr>Code of Conduct</vt:lpstr>
      <vt:lpstr>Key Open Source Licenses</vt:lpstr>
      <vt:lpstr>Introduction</vt:lpstr>
      <vt:lpstr>What is a Software License?</vt:lpstr>
      <vt:lpstr>Why Are Open Source Licenses Important?</vt:lpstr>
      <vt:lpstr>Copyright and Licensing</vt:lpstr>
      <vt:lpstr>Categories of Open Source Licenses</vt:lpstr>
      <vt:lpstr>Categories of Open Source Licenses</vt:lpstr>
      <vt:lpstr>Overview of Major Open Source Licenses</vt:lpstr>
      <vt:lpstr>MIT License</vt:lpstr>
      <vt:lpstr>MIT License</vt:lpstr>
      <vt:lpstr>MIT License</vt:lpstr>
      <vt:lpstr>BSD License</vt:lpstr>
      <vt:lpstr>BSD License</vt:lpstr>
      <vt:lpstr>Apache License 2.0</vt:lpstr>
      <vt:lpstr>Apache License 2.0</vt:lpstr>
      <vt:lpstr>GNU General Public License (GPL)</vt:lpstr>
      <vt:lpstr>GNU General Public License (GPL)</vt:lpstr>
      <vt:lpstr>GNU General Public License (GPL)</vt:lpstr>
      <vt:lpstr>GNU Lesser General Public License (LGPL)</vt:lpstr>
      <vt:lpstr>GNU Affero General Public License (AGPL)</vt:lpstr>
      <vt:lpstr>Comparison of Major Licenses</vt:lpstr>
      <vt:lpstr>Choosing the Right License</vt:lpstr>
      <vt:lpstr>License Selection Flow</vt:lpstr>
      <vt:lpstr>Real-World Examples</vt:lpstr>
      <vt:lpstr>Best Practices When Using Open Source Licenses</vt:lpstr>
      <vt:lpstr>Summary</vt:lpstr>
      <vt:lpstr>Open Source vs Free Software vs Freeware vs Public Domain</vt:lpstr>
      <vt:lpstr>Open Source vs Free Software vs Freeware vs Public Domain</vt:lpstr>
      <vt:lpstr>Open Source Business Models</vt:lpstr>
      <vt:lpstr>Comparison of Open Source Business Models</vt:lpstr>
      <vt:lpstr>Case Study  Red Hat  Building a Billion-Dollar Business Around Open Source</vt:lpstr>
      <vt:lpstr>Introduction</vt:lpstr>
      <vt:lpstr>Introduction</vt:lpstr>
      <vt:lpstr>Company Background</vt:lpstr>
      <vt:lpstr>History of Red Hat</vt:lpstr>
      <vt:lpstr>History of Red Hat</vt:lpstr>
      <vt:lpstr>History of Red Hat</vt:lpstr>
      <vt:lpstr>History of Red Hat</vt:lpstr>
      <vt:lpstr>Why Was Red Hat Needed?</vt:lpstr>
      <vt:lpstr>Red Hat Business Model</vt:lpstr>
      <vt:lpstr>Red Hat Product Ecosystem</vt:lpstr>
      <vt:lpstr>Open Source Development Model</vt:lpstr>
      <vt:lpstr>Why Do Enterprises Choose Red Hat?</vt:lpstr>
      <vt:lpstr>Comparison: Community Linux vs Red Hat Enterprise Linux</vt:lpstr>
      <vt:lpstr>Advantages of Red Hat's Business Model</vt:lpstr>
      <vt:lpstr>Challenges</vt:lpstr>
      <vt:lpstr>Impact on the Open Source Ecosystem</vt:lpstr>
      <vt:lpstr>Case Study  Canonical (Ubuntu)</vt:lpstr>
      <vt:lpstr>Canonical (Ubuntu)</vt:lpstr>
      <vt:lpstr>Canonical (Ubuntu)</vt:lpstr>
      <vt:lpstr>Canonical (Ubuntu)</vt:lpstr>
      <vt:lpstr>Case Study  GitLab</vt:lpstr>
      <vt:lpstr>GitLab</vt:lpstr>
      <vt:lpstr>GitLab</vt:lpstr>
      <vt:lpstr>GitLab</vt:lpstr>
      <vt:lpstr>Case Study  Docker</vt:lpstr>
      <vt:lpstr>Docker</vt:lpstr>
      <vt:lpstr>Docker</vt:lpstr>
      <vt:lpstr>Case Study  MongoDB</vt:lpstr>
      <vt:lpstr>MongoDB</vt:lpstr>
      <vt:lpstr>MongoDB</vt:lpstr>
      <vt:lpstr>Case Study  Automattic (WordPress)</vt:lpstr>
      <vt:lpstr>Automattic (WordPress)</vt:lpstr>
      <vt:lpstr>Automattic (WordPress)</vt:lpstr>
      <vt:lpstr>Case Study  Elastic</vt:lpstr>
      <vt:lpstr>Elastic</vt:lpstr>
      <vt:lpstr>Elastic</vt:lpstr>
      <vt:lpstr>Case Study  HashiCorp</vt:lpstr>
      <vt:lpstr>HashiCorp</vt:lpstr>
      <vt:lpstr>HashiCorp</vt:lpstr>
      <vt:lpstr>Comparative Summary of Open Source Business Models</vt:lpstr>
      <vt:lpstr>PowerPoint Presentation</vt:lpstr>
      <vt:lpstr>Good Projects for Beginners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OST</dc:title>
  <dc:creator>CSE-3</dc:creator>
  <cp:lastModifiedBy>CSE-48</cp:lastModifiedBy>
  <cp:revision>349</cp:revision>
  <dcterms:created xsi:type="dcterms:W3CDTF">2024-07-24T04:46:48Z</dcterms:created>
  <dcterms:modified xsi:type="dcterms:W3CDTF">2026-07-17T07:56:56Z</dcterms:modified>
</cp:coreProperties>
</file>